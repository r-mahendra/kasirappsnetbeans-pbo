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warahmatullahi wabarakatuh.
Selamat pagi, Bapak/Ibu dosen dan rekan-rekan semua. Perkenalkan, kami dari Kelompok 5 akan mempresentasikan proyek akhir kami yang berjudul Kasir Web Apps.
Kasir Web Apps adalah aplikasi kasir restoran berbasis web yang sepenuhnya berjalan di sisi klien — tidak membutuhkan server backend sama sekali. Semua proses, mulai dari login, manajemen menu, transaksi, hingga cetak struk PDF, semuanya terjadi langsung di browser pengguna.
Aplikasi ini dibangun dengan tiga teknologi utama: HTML5 untuk struktur halaman, Vanilla JavaScript ES6 plus untuk seluruh logika program, dan Bootstrap 5 untuk tampilan yang modern dan responsif.
Ada empat pilar fitur utama: sistem autentikasi berbasis localStorage dan Cookie, manajemen menu produk dari file JSON, keranjang belanja dengan kalkulasi pajak otomatis, dan cetak struk PDF langsung dari browser. Silakan ikuti presentasi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Baik, sekarang kita masuk ke slide kedua yang menampilkan overview enam fitur utama aplikasi.
Fitur pertama adalah Login dan Register. Pengguna harus melakukan autentikasi sebelum bisa mengakses halaman manapun di aplikasi ini. Status login disimpan secara bersamaan di localStorage dan Cookie browser.
Fitur kedua adalah Dashboard Menu. Di sini semua produk ditampilkan dalam bentuk kartu yang dikelompokkan per kategori, seperti Makanan, Minuman, dan Makanan Ringan. Data produk diambil dari file menu.json.
Fitur ketiga adalah Keranjang Belanja. Pengguna bisa menambah produk, mengubah jumlah, dan menghapus item. Kalkulasi total dilakukan secara otomatis dengan diskon 10 persen ditambah PPN 10 persen.
Fitur keempat adalah Struk PDF. Setelah transaksi selesai, sistem dapat menghasilkan file PDF struk langsung di browser menggunakan library jsPDF, tanpa perlu kirim data ke server.
Fitur kelima adalah Tambah Produk. Admin dapat menambahkan produk baru melalui form khusus. Produk tersebut langsung tersedia di menu utama kasir.
Fitur keenam adalah Auth Guard. Mekanisme keamanan yang memastikan setiap halaman hanya bisa diakses oleh pengguna yang sudah login. Kalau belum login, otomatis diarahkan ke halaman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menjelaskan struktur file proyek. Kami membaginya menjadi tiga kelompok besar.
Kelompok pertama adalah HTML Pages. Ada tiga halaman utama: index.html sebagai halaman kasir utama tempat transaksi terjadi, login.html untuk proses autentikasi pengguna, dan addproduct.html khusus untuk admin menambah produk baru.
Kelompok kedua adalah JavaScript Files yang jumlahnya ada lima. cookieUtils.js harus selalu di-load pertama karena berisi fungsi dasar get, set, dan delete cookie yang dibutuhkan file lainnya. auth.js berisi fungsi isLoggedIn, setLoggedIn, dan clearLoggedIn yang mengelola state login. loginStyle.js mengatur semua animasi, validasi form, dan logika khusus halaman login. main.js adalah file terbesar yang mengatur seluruh alur kasir mulai dari load menu, cart, kalkulasi, hingga generate PDF. Dan addProduct.js yang baru kami tambahkan untuk mengatur form dan tabel produk custom.
Kelompok ketiga adalah Data dan Assets. menu.json menyimpan data produk default yang di-fetch saat aplikasi pertama dibuka. localStorage dipakai untuk menyimpan cart, status login, dan produk custom. Cookie menyimpan token autentikasi sesi selama satu hari. Dan css/style.css mengatur tampilan visual keseluruhan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lihat alur logika autentikasi secara detail.
Pertama, saat pengguna membuka login.html, hal pertama yang terjadi adalah pengecekan fungsi isLoggedIn. Fungsi ini mengecek dua kondisi sekaligus: apakah localStorage menyimpan nilai kasir_logged_in sama dengan true, DAN apakah Cookie kasir_auth juga bernilai true. Kedua syarat ini harus terpenuhi bersamaan.
Kalau pengguna sudah login sebelumnya, sistem langsung redirect ke index.html tanpa perlu login lagi.
Kalau belum login, pengguna mengisi form email dan password. Validasi dilakukan secara lokal — ini adalah simulasi autentikasi untuk keperluan demo, bukan autentikasi ke server nyata. Email valid adalah zhaenx at yeswehack.ninja dengan password zh43nx.
Jika kredensial benar, fungsi setLoggedIn dipanggil. Fungsi ini menyimpan tiga item ke localStorage yaitu status login, email pengguna, dan timestamp login. Sekaligus menyimpan dua Cookie: kasir_auth dan kasir_email, keduanya berlaku selama satu hari.
Jika salah satu sisi dihapus, misalnya localStorage dibersihkan tapi Cookie masih ada, fungsi isLoggedIn tetap mengembalikan false dan pengguna harus login ulang. Ini adalah lapisan keamanan tambahan agar tidak mudah dimanipulasi lewat DevTools.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bahas alur logika bagian kasir dan keranjang belanja.
Langkah pertama adalah loadMenu. Fungsi ini mengambil data dari file menu.json menggunakan fetch API, kemudian menggabungkannya dengan produk custom yang tersimpan di localStorage melalui fungsi mergeCustomProducts. Hasilnya disimpan di variabel global menuData.
Langkah kedua adalah renderMenu yang mengiterasi menuData dan menghasilkan kartu produk HTML untuk setiap item, dikelompokkan berdasarkan kategori dengan header dan ikon masing-masing.
Langkah ketiga, saat pengguna mengklik tombol Add to Cart, fungsi addToCart dipanggil. Item disimpan ke objek cart di memori sekaligus dipersiskan ke localStorage agar tidak hilang saat halaman di-refresh.
Langkah keempat, renderCart memperbarui tampilan keranjang di panel offcanvas dengan qty, subtotal per item, dan tombol aksi.
Langkah kelima adalah calculateTotals yang menjalankan rumus kalkulasi. Subtotal dihitung dari jumlah price dikali qty semua item. Kemudian dipotong diskon 10 persen menghasilkan DPP atau Dasar Pengenaan Pajak. DPP kemudian dikenai PPN 10 persen. Total akhir adalah DPP ditambah PPN. Dan kembalian adalah uang bayar dikurangi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menjelaskan alur logika fitur tambah produk yang ada di halaman addproduct.html.
Langkah pertama, begitu halaman dibuka, auth guard langsung dijalankan. Jika pengguna belum login, langsung diarahkan ke login.html. Ini mencegah akses tidak sah ke halaman admin.
Langkah kedua, admin mengisi form yang terdiri dari nama produk, harga, kategori, dan URL gambar yang bersifat opsional.
Langkah ketiga adalah validasi. Nama produk minimal dua karakter, harga harus lebih dari nol, dan kategori wajib dipilih. Jika ada yang tidak memenuhi syarat, muncul toast notifikasi peringatan.
Langkah keempat adalah pengecekan duplikat. Sistem memeriksa apakah produk dengan nama yang sama di kategori yang sama sudah ada di localStorage. Jika ya, proses dihentikan dengan notifikasi.
Langkah kelima, fungsi generateId membuat ID unik dengan format custom underscore timestamp underscore angka random. Format ini memastikan tidak ada bentrokan dengan ID produk default dari menu.json.
Langkah keenam dan ketujuh, produk disimpan ke localStorage dengan key kasir_custom_products, tabel produk diperbarui, dan toast notifikasi sukses ditampilkan di pojok kanan bawah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lihat hasil running aplikasi, dimulai dari halaman login.
Halaman login memiliki desain dua panel. Panel kiri berisi form login dengan field email dan password. Tampilannya menggunakan animasi CSS yang membuat elemen-elemen muncul secara berurutan saat halaman pertama dibuka, menciptakan kesan yang lebih hidup dan profesional.
Panel kanan menampilkan ucapan selamat datang dan sebuah kotak kutipan motivasi. Kutipan ini berganti secara otomatis setiap empat detik menggunakan setInterval. Ada delapan kutipan berbeda yang sudah disiapkan di dalam array.
Di bawah panel kanan terdapat tombol login dengan Google dan Facebook. Perlu dicatat bahwa kedua tombol ini belum diimplementasikan secara fungsional — hanya tampilan UI.
Untuk login, gunakan email zhaenx@yeswehack.ninja dan password zh43nx. Jika salah, akan muncul alert merah dengan pesan error yang otomatis menghilang setelah tiga detik.
Halaman ini juga dilengkapi deteksi ukuran layar. Jika dibuka di perangkat dengan lebar kurang dari 992 piksel, muncul notifikasi bahwa aplikasi ini dioptimalkan untuk tampilan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login berhasil, pengguna masuk ke halaman dashboard kasir ini.
Di bagian paling atas ada navbar dengan logo BSI dan KDK, nama kelompok, dan tombol logout berwarna merah di pojok kanan. Saat tombol logout diklik, muncul konfirmasi dulu sebelum benar-benar logout, dan semua data cart dihapus.
Di bawah navbar, produk-produk ditampilkan dalam kartu yang dikelompokkan per kategori. Setiap kartu menampilkan gambar produk, nama dengan format tilde di kiri dan kanan, harga dalam format Rupiah, dan tombol Add to Cart berwarna biru.
Di sisi kanan layar, terdapat panel keranjang belanja yang terus diperbarui secara real-time. Setiap kali produk ditambahkan, panel langsung menampilkan item baru beserta kalkulasi terkini.
Pada contoh ini, satu Nasi Goreng seharga 15.000 dimasukkan ke keranjang. Subtotal 15.000, dikurangi diskon 10 persen menjadi 1.500, sehingga DPP-nya 13.500. DPP dikenai PPN 10 persen sebesar 1.350. Total akhir 14.850 rupiah.
Tombol hijau Proses Pembayaran akan membuka modal form untuk mengisi nama customer, nomor meja, nomor antrian, dan jumlah uang bayar.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menampilkan dua fitur sekaligus: halaman tambah produk dan contoh struk PDF.
Di sebelah kiri, kita lihat form tambah produk yang sudah diisi. Admin memasukkan nama Es Teh Manis, harga 5000 rupiah, kategori Minuman, dan URL gambar. Setelah tombol Tambah Produk diklik, muncul toast notifikasi hijau di bagian bawah form yang bertuliskan produk Es Teh Manis berhasil ditambahkan. Produk ini langsung tersedia di halaman kasir utama karena di-merge saat loadMenu dipanggil.
Di sebelah kanan adalah contoh struk PDF yang dihasilkan oleh library jsPDF. Struk ini berformat thermal printer standar dengan lebar 90 milimeter. Bagian atas memuat nama restoran, alamat, dan tanggal waktu transaksi. Di tengah ada informasi customer Budi Santoso, nomor meja 5, dan nomor antrian A12. Kemudian daftar item: Nasi Goreng, Ayam Bakar, dan Es Teh Manis dua porsi. Di bawahnya kalkulasi lengkap: subtotal 47.000, diskon 4.700, PPN 4.230, dan total 46.530 rupiah. Struk ditutup dengan ucapan Terima Kasih dan ID unik struk berbasis timestamp. File PDF ini langsung terunduh ke komputer pengguna saat tombol download diklik.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merangkum semua teknologi dan library yang kami gunakan dalam proyek ini.
Pertama, HTML5 dan CSS3 sebagai fondasi struktur dan tampilan halaman. CSS custom dipakai untuk animasi login, kartu produk, dan tema warna aplikasi.
Kedua, Vanilla JavaScript ES6 plus sebagai inti logika. Kami memilih Vanilla JS tanpa framework untuk membuktikan bahwa fitur-fitur kompleks bisa dibangun hanya dengan JavaScript murni.
Ketiga, Bootstrap 5.3 untuk komponen UI siap pakai seperti modal, offcanvas, navbar, dan grid system. Ini mempercepat pengembangan tampilan yang responsif.
Keempat, Bootstrap Icons yang menyediakan lebih dari 1300 ikon SVG untuk memperindah antarmuka.
Kelima, jsPDF adalah library JavaScript yang paling krusial. Library ini memungkinkan pembuatan dokumen PDF langsung di browser tanpa butuh server — inilah yang membuat fitur struk kami bisa berjalan offline.
Keenam, ScrollReveal.js untuk animasi elemen saat di-scroll, memberikan kesan presentasi yang lebih dinamis.
Ketujuh dan kedelapan, localStorage dan Cookie API dari browser. Keduanya dimanfaatkan sebagai pengganti database dan session server. Ini yang memungkinkan seluruh aplikasi berjalan tanpa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presentasi kami.
Proyek Kasir Web Apps ini berhasil membuktikan bahwa sebuah aplikasi kasir yang lengkap dan fungsional dapat dibangun sepenuhnya berbasis browser tanpa memerlukan server backend sama sekali.
Poin pertama: aplikasi ini adalah full-stack di browser. Semua lapisan — data, logika, dan tampilan — berjalan di satu tempat yaitu browser pengguna.
Poin kedua: sistem autentikasi ganda dengan localStorage dan Cookie memberikan lapisan keamanan tambahan yang lebih baik dibanding hanya mengandalkan satu penyimpanan.
Poin ketiga: keranjang belanja persisten yang tidak hilang saat refresh, dengan kalkulasi pajak otomatis sesuai aturan PPN.
Poin keempat: fitur struk PDF langsung dari browser adalah nilai lebih yang membuat aplikasi ini benar-benar siap pakai untuk operasional restoran sederhana.
Poin kelima: admin bisa menambah produk baru kapan saja tanpa perlu mengubah kode.
Poin keenam: aplikasi ini zero-dependency install, cukup buka file index.html di browser manapun, langsung bisa digunakan.
Demikian presentasi dari Kelompok 5. Kami siap menerima pertanyaan.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adalah panduan praktis untuk menjalankan proyek di NetBeans IDE.
Langkah pertama adalah instalasi. Download NetBeans versi terbaru dari netbeans.apache.org. Setelah terinstall, buka menu Tools lalu Plugins, cari dan install plugin PHP dan HTML5, kemudian restart NetBeans. Pastikan juga JDK versi 11 ke atas sudah terinstall di komputer karena NetBeans membutuhkannya.
Langkah kedua, buka proyek dengan File lalu Open Project, atau shortcut Ctrl Shift O. Arahkan ke folder proyek Kasir Web Apps. NetBeans akan otomatis mendeteksinya sebagai project HTML atau PHP. Pastikan struktur folder terlihat lengkap: ada file index.html, folder js berisi semua JavaScript, folder css, dan folder data yang berisi menu.json.
Langkah ketiga adalah konfigurasi server. Klik kanan nama project, pilih Properties, buka tab Run. Pilih Built-in Web Server yang berjalan di port 8080 secara default. Kalau ingin menggunakan XAMPP, salin seluruh folder proyek ke dalam folder htdocs di instalasi XAMPP, kemudian akses lewat localhost garis miring kasir. Ini poin yang sangat penting: proyek ini WAJIB dijalankan melalui server, tidak boleh dibuka langsung dengan double-click file HTML karena browser modern memblokir fetch request ke file lokal karena kebijakan CORS.
Langkah keempat dan terakhir, jalankan proyek dengan klik tombol Run berwarna hijau di toolbar NetBeans atau cukup tekan F6. Browser akan terbuka secara otomatis menuju localhost port 8080. Halaman login akan muncul. Masukkan email zhaenx@yeswehack.ninja dan password zh43nx untuk masuk ke dashboard kasir.
Jika browser tidak terbuka otomatis, buka manual dan ketik localhost:8080/index.html di address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A3A5C"/>
          </a:solidFill>
          <a:ln/>
        </p:spPr>
      </p:sp>
      <p:sp>
        <p:nvSpPr>
          <p:cNvPr id="3" name="Shape 1"/>
          <p:cNvSpPr/>
          <p:nvPr/>
        </p:nvSpPr>
        <p:spPr>
          <a:xfrm>
            <a:off x="-731520" y="-731520"/>
            <a:ext cx="2011680" cy="2011680"/>
          </a:xfrm>
          <a:prstGeom prst="ellipse">
            <a:avLst/>
          </a:prstGeom>
          <a:solidFill>
            <a:srgbClr val="00B4D8">
              <a:alpha val="25000"/>
            </a:srgbClr>
          </a:solidFill>
          <a:ln/>
        </p:spPr>
      </p:sp>
      <p:sp>
        <p:nvSpPr>
          <p:cNvPr id="4" name="Shape 2"/>
          <p:cNvSpPr/>
          <p:nvPr/>
        </p:nvSpPr>
        <p:spPr>
          <a:xfrm>
            <a:off x="7772400" y="3657600"/>
            <a:ext cx="2286000" cy="2286000"/>
          </a:xfrm>
          <a:prstGeom prst="ellipse">
            <a:avLst/>
          </a:prstGeom>
          <a:solidFill>
            <a:srgbClr val="0077B6">
              <a:alpha val="30000"/>
            </a:srgbClr>
          </a:solidFill>
          <a:ln/>
        </p:spPr>
      </p:sp>
      <p:pic>
        <p:nvPicPr>
          <p:cNvPr id="5" name="Image 0" descr="preencoded.png">    </p:cNvPr>
          <p:cNvPicPr>
            <a:picLocks noChangeAspect="1"/>
          </p:cNvPicPr>
          <p:nvPr/>
        </p:nvPicPr>
        <p:blipFill>
          <a:blip r:embed="rId1"/>
          <a:stretch>
            <a:fillRect/>
          </a:stretch>
        </p:blipFill>
        <p:spPr>
          <a:xfrm>
            <a:off x="1280160" y="640080"/>
            <a:ext cx="1280160" cy="1280160"/>
          </a:xfrm>
          <a:prstGeom prst="rect">
            <a:avLst/>
          </a:prstGeom>
        </p:spPr>
      </p:pic>
      <p:sp>
        <p:nvSpPr>
          <p:cNvPr id="6" name="Text 3"/>
          <p:cNvSpPr/>
          <p:nvPr/>
        </p:nvSpPr>
        <p:spPr>
          <a:xfrm>
            <a:off x="274320" y="2011680"/>
            <a:ext cx="3291840" cy="8229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KASIR</a:t>
            </a:r>
            <a:endParaRPr lang="en-US" sz="4400" dirty="0"/>
          </a:p>
        </p:txBody>
      </p:sp>
      <p:sp>
        <p:nvSpPr>
          <p:cNvPr id="7" name="Text 4"/>
          <p:cNvSpPr/>
          <p:nvPr/>
        </p:nvSpPr>
        <p:spPr>
          <a:xfrm>
            <a:off x="274320" y="2743200"/>
            <a:ext cx="3291840" cy="640080"/>
          </a:xfrm>
          <a:prstGeom prst="rect">
            <a:avLst/>
          </a:prstGeom>
          <a:noFill/>
          <a:ln/>
        </p:spPr>
        <p:txBody>
          <a:bodyPr wrap="square" rtlCol="0" anchor="ctr"/>
          <a:lstStyle/>
          <a:p>
            <a:pPr algn="ctr" indent="0" marL="0">
              <a:buNone/>
            </a:pPr>
            <a:r>
              <a:rPr lang="en-US" sz="2200" spc="400" kern="0" dirty="0">
                <a:solidFill>
                  <a:srgbClr val="00B4D8"/>
                </a:solidFill>
                <a:latin typeface="Calibri" pitchFamily="34" charset="0"/>
                <a:ea typeface="Calibri" pitchFamily="34" charset="-122"/>
                <a:cs typeface="Calibri" pitchFamily="34" charset="-120"/>
              </a:rPr>
              <a:t>WEB APPS</a:t>
            </a:r>
            <a:endParaRPr lang="en-US" sz="2200" dirty="0"/>
          </a:p>
        </p:txBody>
      </p:sp>
      <p:sp>
        <p:nvSpPr>
          <p:cNvPr id="8" name="Text 5"/>
          <p:cNvSpPr/>
          <p:nvPr/>
        </p:nvSpPr>
        <p:spPr>
          <a:xfrm>
            <a:off x="274320" y="3474720"/>
            <a:ext cx="3291840" cy="45720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Kelompok 5</a:t>
            </a:r>
            <a:endParaRPr lang="en-US" sz="1400" dirty="0"/>
          </a:p>
        </p:txBody>
      </p:sp>
      <p:sp>
        <p:nvSpPr>
          <p:cNvPr id="9" name="Text 6"/>
          <p:cNvSpPr/>
          <p:nvPr/>
        </p:nvSpPr>
        <p:spPr>
          <a:xfrm>
            <a:off x="4114800" y="1097280"/>
            <a:ext cx="4754880" cy="64008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Aplikasi Kasir Berbasis Web</a:t>
            </a:r>
            <a:endParaRPr lang="en-US" sz="2000" dirty="0"/>
          </a:p>
        </p:txBody>
      </p:sp>
      <p:sp>
        <p:nvSpPr>
          <p:cNvPr id="10" name="Text 7"/>
          <p:cNvSpPr/>
          <p:nvPr/>
        </p:nvSpPr>
        <p:spPr>
          <a:xfrm>
            <a:off x="4114800" y="1828800"/>
            <a:ext cx="4754880" cy="457200"/>
          </a:xfrm>
          <a:prstGeom prst="rect">
            <a:avLst/>
          </a:prstGeom>
          <a:noFill/>
          <a:ln/>
        </p:spPr>
        <p:txBody>
          <a:bodyPr wrap="square" rtlCol="0" anchor="ctr"/>
          <a:lstStyle/>
          <a:p>
            <a:pPr indent="0" marL="0">
              <a:buNone/>
            </a:pPr>
            <a:r>
              <a:rPr lang="en-US" sz="1300" dirty="0">
                <a:solidFill>
                  <a:srgbClr val="00B4D8"/>
                </a:solidFill>
                <a:latin typeface="Calibri" pitchFamily="34" charset="0"/>
                <a:ea typeface="Calibri" pitchFamily="34" charset="-122"/>
                <a:cs typeface="Calibri" pitchFamily="34" charset="-120"/>
              </a:rPr>
              <a:t>Static HTML · Vanilla JS · Bootstrap 5</a:t>
            </a:r>
            <a:endParaRPr lang="en-US" sz="1300" dirty="0"/>
          </a:p>
        </p:txBody>
      </p:sp>
      <p:sp>
        <p:nvSpPr>
          <p:cNvPr id="11" name="Text 8"/>
          <p:cNvSpPr/>
          <p:nvPr/>
        </p:nvSpPr>
        <p:spPr>
          <a:xfrm>
            <a:off x="4114800" y="2468880"/>
            <a:ext cx="4754880" cy="1645920"/>
          </a:xfrm>
          <a:prstGeom prst="rect">
            <a:avLst/>
          </a:prstGeom>
          <a:noFill/>
          <a:ln/>
        </p:spPr>
        <p:txBody>
          <a:bodyPr wrap="square" rtlCol="0" anchor="ctr"/>
          <a:lstStyle/>
          <a:p>
            <a:pPr indent="0" marL="0">
              <a:lnSpc>
                <a:spcPct val="140000"/>
              </a:lnSpc>
              <a:buNone/>
            </a:pPr>
            <a:r>
              <a:rPr lang="en-US" sz="1200" dirty="0">
                <a:solidFill>
                  <a:srgbClr val="E8F4FD"/>
                </a:solidFill>
                <a:latin typeface="Calibri" pitchFamily="34" charset="0"/>
                <a:ea typeface="Calibri" pitchFamily="34" charset="-122"/>
                <a:cs typeface="Calibri" pitchFamily="34" charset="-120"/>
              </a:rPr>
              <a:t>📌 Sistem kasir modern tanpa backend server</a:t>
            </a:r>
            <a:endParaRPr lang="en-US" sz="1200" dirty="0"/>
          </a:p>
          <a:p>
            <a:pPr indent="0" marL="0">
              <a:lnSpc>
                <a:spcPct val="140000"/>
              </a:lnSpc>
              <a:buNone/>
            </a:pPr>
            <a:r>
              <a:rPr lang="en-US" sz="1200" dirty="0">
                <a:solidFill>
                  <a:srgbClr val="E8F4FD"/>
                </a:solidFill>
                <a:latin typeface="Calibri" pitchFamily="34" charset="0"/>
                <a:ea typeface="Calibri" pitchFamily="34" charset="-122"/>
                <a:cs typeface="Calibri" pitchFamily="34" charset="-120"/>
              </a:rPr>
              <a:t>📌 Autentikasi berbasis localStorage &amp; Cookie</a:t>
            </a:r>
            <a:endParaRPr lang="en-US" sz="1200" dirty="0"/>
          </a:p>
          <a:p>
            <a:pPr indent="0" marL="0">
              <a:lnSpc>
                <a:spcPct val="140000"/>
              </a:lnSpc>
              <a:buNone/>
            </a:pPr>
            <a:r>
              <a:rPr lang="en-US" sz="1200" dirty="0">
                <a:solidFill>
                  <a:srgbClr val="E8F4FD"/>
                </a:solidFill>
                <a:latin typeface="Calibri" pitchFamily="34" charset="0"/>
                <a:ea typeface="Calibri" pitchFamily="34" charset="-122"/>
                <a:cs typeface="Calibri" pitchFamily="34" charset="-120"/>
              </a:rPr>
              <a:t>📌 PDF struk langsung dari browser</a:t>
            </a:r>
            <a:endParaRPr lang="en-US" sz="1200" dirty="0"/>
          </a:p>
          <a:p>
            <a:pPr indent="0" marL="0">
              <a:lnSpc>
                <a:spcPct val="140000"/>
              </a:lnSpc>
              <a:buNone/>
            </a:pPr>
            <a:r>
              <a:rPr lang="en-US" sz="1200" dirty="0">
                <a:solidFill>
                  <a:srgbClr val="E8F4FD"/>
                </a:solidFill>
                <a:latin typeface="Calibri" pitchFamily="34" charset="0"/>
                <a:ea typeface="Calibri" pitchFamily="34" charset="-122"/>
                <a:cs typeface="Calibri" pitchFamily="34" charset="-120"/>
              </a:rPr>
              <a:t>📌 Manajemen produk &amp; transaksi real-time</a:t>
            </a:r>
            <a:endParaRPr lang="en-US" sz="1200" dirty="0"/>
          </a:p>
        </p:txBody>
      </p:sp>
      <p:sp>
        <p:nvSpPr>
          <p:cNvPr id="12" name="Text 9"/>
          <p:cNvSpPr/>
          <p:nvPr/>
        </p:nvSpPr>
        <p:spPr>
          <a:xfrm>
            <a:off x="4114800" y="4480560"/>
            <a:ext cx="4754880" cy="36576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Universitas BSI · 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sp>
        <p:nvSpPr>
          <p:cNvPr id="3" name="Text 1"/>
          <p:cNvSpPr/>
          <p:nvPr/>
        </p:nvSpPr>
        <p:spPr>
          <a:xfrm>
            <a:off x="365760" y="91440"/>
            <a:ext cx="841248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OVERVIEW FITUR APLIKASI</a:t>
            </a:r>
            <a:endParaRPr lang="en-US" sz="2200" dirty="0"/>
          </a:p>
        </p:txBody>
      </p:sp>
      <p:sp>
        <p:nvSpPr>
          <p:cNvPr id="4" name="Shape 2"/>
          <p:cNvSpPr/>
          <p:nvPr/>
        </p:nvSpPr>
        <p:spPr>
          <a:xfrm>
            <a:off x="228600" y="96012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365760" y="1143000"/>
            <a:ext cx="411480" cy="411480"/>
          </a:xfrm>
          <a:prstGeom prst="rect">
            <a:avLst/>
          </a:prstGeom>
        </p:spPr>
      </p:pic>
      <p:sp>
        <p:nvSpPr>
          <p:cNvPr id="6" name="Text 3"/>
          <p:cNvSpPr/>
          <p:nvPr/>
        </p:nvSpPr>
        <p:spPr>
          <a:xfrm>
            <a:off x="822960" y="114300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Login / Register</a:t>
            </a:r>
            <a:endParaRPr lang="en-US" sz="1300" dirty="0"/>
          </a:p>
        </p:txBody>
      </p:sp>
      <p:sp>
        <p:nvSpPr>
          <p:cNvPr id="7" name="Text 4"/>
          <p:cNvSpPr/>
          <p:nvPr/>
        </p:nvSpPr>
        <p:spPr>
          <a:xfrm>
            <a:off x="338328" y="164592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Autentikasi dengan validasi email &amp; password. Status disimpan di localStorage dan Cookie.</a:t>
            </a:r>
            <a:endParaRPr lang="en-US" sz="1000" dirty="0"/>
          </a:p>
        </p:txBody>
      </p:sp>
      <p:sp>
        <p:nvSpPr>
          <p:cNvPr id="8" name="Shape 5"/>
          <p:cNvSpPr/>
          <p:nvPr/>
        </p:nvSpPr>
        <p:spPr>
          <a:xfrm>
            <a:off x="3118104" y="96012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3255264" y="1143000"/>
            <a:ext cx="411480" cy="411480"/>
          </a:xfrm>
          <a:prstGeom prst="rect">
            <a:avLst/>
          </a:prstGeom>
        </p:spPr>
      </p:pic>
      <p:sp>
        <p:nvSpPr>
          <p:cNvPr id="10" name="Text 6"/>
          <p:cNvSpPr/>
          <p:nvPr/>
        </p:nvSpPr>
        <p:spPr>
          <a:xfrm>
            <a:off x="3712464" y="114300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Dashboard Menu</a:t>
            </a:r>
            <a:endParaRPr lang="en-US" sz="1300" dirty="0"/>
          </a:p>
        </p:txBody>
      </p:sp>
      <p:sp>
        <p:nvSpPr>
          <p:cNvPr id="11" name="Text 7"/>
          <p:cNvSpPr/>
          <p:nvPr/>
        </p:nvSpPr>
        <p:spPr>
          <a:xfrm>
            <a:off x="3227832" y="164592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Menampilkan produk dari menu.json, dikelompokkan per kategori dengan ikon &amp; harga.</a:t>
            </a:r>
            <a:endParaRPr lang="en-US" sz="1000" dirty="0"/>
          </a:p>
        </p:txBody>
      </p:sp>
      <p:sp>
        <p:nvSpPr>
          <p:cNvPr id="12" name="Shape 8"/>
          <p:cNvSpPr/>
          <p:nvPr/>
        </p:nvSpPr>
        <p:spPr>
          <a:xfrm>
            <a:off x="6007608" y="96012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6144768" y="1143000"/>
            <a:ext cx="411480" cy="411480"/>
          </a:xfrm>
          <a:prstGeom prst="rect">
            <a:avLst/>
          </a:prstGeom>
        </p:spPr>
      </p:pic>
      <p:sp>
        <p:nvSpPr>
          <p:cNvPr id="14" name="Text 9"/>
          <p:cNvSpPr/>
          <p:nvPr/>
        </p:nvSpPr>
        <p:spPr>
          <a:xfrm>
            <a:off x="6601968" y="114300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Keranjang Belanja</a:t>
            </a:r>
            <a:endParaRPr lang="en-US" sz="1300" dirty="0"/>
          </a:p>
        </p:txBody>
      </p:sp>
      <p:sp>
        <p:nvSpPr>
          <p:cNvPr id="15" name="Text 10"/>
          <p:cNvSpPr/>
          <p:nvPr/>
        </p:nvSpPr>
        <p:spPr>
          <a:xfrm>
            <a:off x="6117336" y="164592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Add to cart, ubah qty, hapus item. Total otomatis dengan diskon 10% + PPN 10%.</a:t>
            </a:r>
            <a:endParaRPr lang="en-US" sz="1000" dirty="0"/>
          </a:p>
        </p:txBody>
      </p:sp>
      <p:sp>
        <p:nvSpPr>
          <p:cNvPr id="16" name="Shape 11"/>
          <p:cNvSpPr/>
          <p:nvPr/>
        </p:nvSpPr>
        <p:spPr>
          <a:xfrm>
            <a:off x="228600" y="283464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365760" y="3017520"/>
            <a:ext cx="411480" cy="411480"/>
          </a:xfrm>
          <a:prstGeom prst="rect">
            <a:avLst/>
          </a:prstGeom>
        </p:spPr>
      </p:pic>
      <p:sp>
        <p:nvSpPr>
          <p:cNvPr id="18" name="Text 12"/>
          <p:cNvSpPr/>
          <p:nvPr/>
        </p:nvSpPr>
        <p:spPr>
          <a:xfrm>
            <a:off x="822960" y="301752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Struk PDF</a:t>
            </a:r>
            <a:endParaRPr lang="en-US" sz="1300" dirty="0"/>
          </a:p>
        </p:txBody>
      </p:sp>
      <p:sp>
        <p:nvSpPr>
          <p:cNvPr id="19" name="Text 13"/>
          <p:cNvSpPr/>
          <p:nvPr/>
        </p:nvSpPr>
        <p:spPr>
          <a:xfrm>
            <a:off x="338328" y="352044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Generate struk PDF langsung di browser menggunakan library jsPDF.</a:t>
            </a:r>
            <a:endParaRPr lang="en-US" sz="1000" dirty="0"/>
          </a:p>
        </p:txBody>
      </p:sp>
      <p:sp>
        <p:nvSpPr>
          <p:cNvPr id="20" name="Shape 14"/>
          <p:cNvSpPr/>
          <p:nvPr/>
        </p:nvSpPr>
        <p:spPr>
          <a:xfrm>
            <a:off x="3118104" y="283464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3255264" y="3017520"/>
            <a:ext cx="411480" cy="411480"/>
          </a:xfrm>
          <a:prstGeom prst="rect">
            <a:avLst/>
          </a:prstGeom>
        </p:spPr>
      </p:pic>
      <p:sp>
        <p:nvSpPr>
          <p:cNvPr id="22" name="Text 15"/>
          <p:cNvSpPr/>
          <p:nvPr/>
        </p:nvSpPr>
        <p:spPr>
          <a:xfrm>
            <a:off x="3712464" y="301752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Tambah Produk</a:t>
            </a:r>
            <a:endParaRPr lang="en-US" sz="1300" dirty="0"/>
          </a:p>
        </p:txBody>
      </p:sp>
      <p:sp>
        <p:nvSpPr>
          <p:cNvPr id="23" name="Text 16"/>
          <p:cNvSpPr/>
          <p:nvPr/>
        </p:nvSpPr>
        <p:spPr>
          <a:xfrm>
            <a:off x="3227832" y="352044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Admin dapat menambah produk baru. Disimpan di localStorage dan otomatis muncul di menu.</a:t>
            </a:r>
            <a:endParaRPr lang="en-US" sz="1000" dirty="0"/>
          </a:p>
        </p:txBody>
      </p:sp>
      <p:sp>
        <p:nvSpPr>
          <p:cNvPr id="24" name="Shape 17"/>
          <p:cNvSpPr/>
          <p:nvPr/>
        </p:nvSpPr>
        <p:spPr>
          <a:xfrm>
            <a:off x="6007608" y="2834640"/>
            <a:ext cx="2743200" cy="1691640"/>
          </a:xfrm>
          <a:prstGeom prst="roundRect">
            <a:avLst>
              <a:gd name="adj" fmla="val 5405"/>
            </a:avLst>
          </a:prstGeom>
          <a:solidFill>
            <a:srgbClr val="FFFFFF"/>
          </a:solidFill>
          <a:ln/>
          <a:effectLst>
            <a:outerShdw sx="100000" sy="100000" kx="0" ky="0" algn="bl" rotWithShape="0" blurRad="50800" dist="25400" dir="2700000">
              <a:srgbClr val="000000">
                <a:alpha val="10000"/>
              </a:srgbClr>
            </a:outerShdw>
          </a:effectLst>
        </p:spPr>
      </p:sp>
      <p:pic>
        <p:nvPicPr>
          <p:cNvPr id="25" name="Image 5" descr="preencoded.png">    </p:cNvPr>
          <p:cNvPicPr>
            <a:picLocks noChangeAspect="1"/>
          </p:cNvPicPr>
          <p:nvPr/>
        </p:nvPicPr>
        <p:blipFill>
          <a:blip r:embed="rId6"/>
          <a:stretch>
            <a:fillRect/>
          </a:stretch>
        </p:blipFill>
        <p:spPr>
          <a:xfrm>
            <a:off x="6144768" y="3017520"/>
            <a:ext cx="411480" cy="411480"/>
          </a:xfrm>
          <a:prstGeom prst="rect">
            <a:avLst/>
          </a:prstGeom>
        </p:spPr>
      </p:pic>
      <p:sp>
        <p:nvSpPr>
          <p:cNvPr id="26" name="Text 18"/>
          <p:cNvSpPr/>
          <p:nvPr/>
        </p:nvSpPr>
        <p:spPr>
          <a:xfrm>
            <a:off x="6601968" y="3017520"/>
            <a:ext cx="205740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Auth Guard</a:t>
            </a:r>
            <a:endParaRPr lang="en-US" sz="1300" dirty="0"/>
          </a:p>
        </p:txBody>
      </p:sp>
      <p:sp>
        <p:nvSpPr>
          <p:cNvPr id="27" name="Text 19"/>
          <p:cNvSpPr/>
          <p:nvPr/>
        </p:nvSpPr>
        <p:spPr>
          <a:xfrm>
            <a:off x="6117336" y="3520440"/>
            <a:ext cx="2523744" cy="86868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Setiap halaman dilindungi — pengguna yang belum login otomatis diarahkan ke halaman login.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STRUKTUR FILE PROYEK</a:t>
            </a:r>
            <a:endParaRPr lang="en-US" sz="2400" dirty="0"/>
          </a:p>
        </p:txBody>
      </p:sp>
      <p:sp>
        <p:nvSpPr>
          <p:cNvPr id="3" name="Text 1"/>
          <p:cNvSpPr/>
          <p:nvPr/>
        </p:nvSpPr>
        <p:spPr>
          <a:xfrm>
            <a:off x="365760" y="731520"/>
            <a:ext cx="8412480" cy="365760"/>
          </a:xfrm>
          <a:prstGeom prst="rect">
            <a:avLst/>
          </a:prstGeom>
          <a:noFill/>
          <a:ln/>
        </p:spPr>
        <p:txBody>
          <a:bodyPr wrap="square" rtlCol="0" anchor="ctr"/>
          <a:lstStyle/>
          <a:p>
            <a:pPr indent="0" marL="0">
              <a:buNone/>
            </a:pPr>
            <a:r>
              <a:rPr lang="en-US" sz="1300" dirty="0">
                <a:solidFill>
                  <a:srgbClr val="00B4D8"/>
                </a:solidFill>
                <a:latin typeface="Calibri" pitchFamily="34" charset="0"/>
                <a:ea typeface="Calibri" pitchFamily="34" charset="-122"/>
                <a:cs typeface="Calibri" pitchFamily="34" charset="-120"/>
              </a:rPr>
              <a:t>Organisasi file &amp; tanggung jawab masing-masing</a:t>
            </a:r>
            <a:endParaRPr lang="en-US" sz="1300" dirty="0"/>
          </a:p>
        </p:txBody>
      </p:sp>
      <p:sp>
        <p:nvSpPr>
          <p:cNvPr id="4" name="Shape 2"/>
          <p:cNvSpPr/>
          <p:nvPr/>
        </p:nvSpPr>
        <p:spPr>
          <a:xfrm>
            <a:off x="274320" y="1188720"/>
            <a:ext cx="2697480" cy="3566160"/>
          </a:xfrm>
          <a:prstGeom prst="roundRect">
            <a:avLst>
              <a:gd name="adj" fmla="val 3390"/>
            </a:avLst>
          </a:prstGeom>
          <a:solidFill>
            <a:srgbClr val="1A3A5C"/>
          </a:solidFill>
          <a:ln/>
        </p:spPr>
      </p:sp>
      <p:pic>
        <p:nvPicPr>
          <p:cNvPr id="5" name="Image 0" descr="preencoded.png">    </p:cNvPr>
          <p:cNvPicPr>
            <a:picLocks noChangeAspect="1"/>
          </p:cNvPicPr>
          <p:nvPr/>
        </p:nvPicPr>
        <p:blipFill>
          <a:blip r:embed="rId1"/>
          <a:stretch>
            <a:fillRect/>
          </a:stretch>
        </p:blipFill>
        <p:spPr>
          <a:xfrm>
            <a:off x="457200" y="1325880"/>
            <a:ext cx="365760" cy="365760"/>
          </a:xfrm>
          <a:prstGeom prst="rect">
            <a:avLst/>
          </a:prstGeom>
        </p:spPr>
      </p:pic>
      <p:sp>
        <p:nvSpPr>
          <p:cNvPr id="6" name="Text 3"/>
          <p:cNvSpPr/>
          <p:nvPr/>
        </p:nvSpPr>
        <p:spPr>
          <a:xfrm>
            <a:off x="868680" y="1325880"/>
            <a:ext cx="1920240" cy="36576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HTML Pages</a:t>
            </a:r>
            <a:endParaRPr lang="en-US" sz="1300" dirty="0"/>
          </a:p>
        </p:txBody>
      </p:sp>
      <p:sp>
        <p:nvSpPr>
          <p:cNvPr id="7" name="Shape 4"/>
          <p:cNvSpPr/>
          <p:nvPr/>
        </p:nvSpPr>
        <p:spPr>
          <a:xfrm>
            <a:off x="411480" y="1783080"/>
            <a:ext cx="2423160" cy="685800"/>
          </a:xfrm>
          <a:prstGeom prst="roundRect">
            <a:avLst>
              <a:gd name="adj" fmla="val 10667"/>
            </a:avLst>
          </a:prstGeom>
          <a:solidFill>
            <a:srgbClr val="1E3A5F"/>
          </a:solidFill>
          <a:ln/>
        </p:spPr>
      </p:sp>
      <p:sp>
        <p:nvSpPr>
          <p:cNvPr id="8" name="Text 5"/>
          <p:cNvSpPr/>
          <p:nvPr/>
        </p:nvSpPr>
        <p:spPr>
          <a:xfrm>
            <a:off x="502920" y="1819656"/>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index.html</a:t>
            </a:r>
            <a:endParaRPr lang="en-US" sz="1100" dirty="0"/>
          </a:p>
        </p:txBody>
      </p:sp>
      <p:sp>
        <p:nvSpPr>
          <p:cNvPr id="9" name="Text 6"/>
          <p:cNvSpPr/>
          <p:nvPr/>
        </p:nvSpPr>
        <p:spPr>
          <a:xfrm>
            <a:off x="502920" y="2103120"/>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Halaman utama kasir</a:t>
            </a:r>
            <a:endParaRPr lang="en-US" sz="1000" dirty="0"/>
          </a:p>
        </p:txBody>
      </p:sp>
      <p:sp>
        <p:nvSpPr>
          <p:cNvPr id="10" name="Shape 7"/>
          <p:cNvSpPr/>
          <p:nvPr/>
        </p:nvSpPr>
        <p:spPr>
          <a:xfrm>
            <a:off x="411480" y="2587752"/>
            <a:ext cx="2423160" cy="685800"/>
          </a:xfrm>
          <a:prstGeom prst="roundRect">
            <a:avLst>
              <a:gd name="adj" fmla="val 10667"/>
            </a:avLst>
          </a:prstGeom>
          <a:solidFill>
            <a:srgbClr val="1E3A5F"/>
          </a:solidFill>
          <a:ln/>
        </p:spPr>
      </p:sp>
      <p:sp>
        <p:nvSpPr>
          <p:cNvPr id="11" name="Text 8"/>
          <p:cNvSpPr/>
          <p:nvPr/>
        </p:nvSpPr>
        <p:spPr>
          <a:xfrm>
            <a:off x="502920" y="2624328"/>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login.html</a:t>
            </a:r>
            <a:endParaRPr lang="en-US" sz="1100" dirty="0"/>
          </a:p>
        </p:txBody>
      </p:sp>
      <p:sp>
        <p:nvSpPr>
          <p:cNvPr id="12" name="Text 9"/>
          <p:cNvSpPr/>
          <p:nvPr/>
        </p:nvSpPr>
        <p:spPr>
          <a:xfrm>
            <a:off x="502920" y="2907792"/>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Halaman login &amp; register</a:t>
            </a:r>
            <a:endParaRPr lang="en-US" sz="1000" dirty="0"/>
          </a:p>
        </p:txBody>
      </p:sp>
      <p:sp>
        <p:nvSpPr>
          <p:cNvPr id="13" name="Shape 10"/>
          <p:cNvSpPr/>
          <p:nvPr/>
        </p:nvSpPr>
        <p:spPr>
          <a:xfrm>
            <a:off x="411480" y="3392424"/>
            <a:ext cx="2423160" cy="685800"/>
          </a:xfrm>
          <a:prstGeom prst="roundRect">
            <a:avLst>
              <a:gd name="adj" fmla="val 10667"/>
            </a:avLst>
          </a:prstGeom>
          <a:solidFill>
            <a:srgbClr val="1E3A5F"/>
          </a:solidFill>
          <a:ln/>
        </p:spPr>
      </p:sp>
      <p:sp>
        <p:nvSpPr>
          <p:cNvPr id="14" name="Text 11"/>
          <p:cNvSpPr/>
          <p:nvPr/>
        </p:nvSpPr>
        <p:spPr>
          <a:xfrm>
            <a:off x="502920" y="3429000"/>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addproduct.html</a:t>
            </a:r>
            <a:endParaRPr lang="en-US" sz="1100" dirty="0"/>
          </a:p>
        </p:txBody>
      </p:sp>
      <p:sp>
        <p:nvSpPr>
          <p:cNvPr id="15" name="Text 12"/>
          <p:cNvSpPr/>
          <p:nvPr/>
        </p:nvSpPr>
        <p:spPr>
          <a:xfrm>
            <a:off x="502920" y="3712464"/>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Form tambah produk</a:t>
            </a:r>
            <a:endParaRPr lang="en-US" sz="1000" dirty="0"/>
          </a:p>
        </p:txBody>
      </p:sp>
      <p:sp>
        <p:nvSpPr>
          <p:cNvPr id="16" name="Shape 13"/>
          <p:cNvSpPr/>
          <p:nvPr/>
        </p:nvSpPr>
        <p:spPr>
          <a:xfrm>
            <a:off x="3227832" y="1188720"/>
            <a:ext cx="2697480" cy="3566160"/>
          </a:xfrm>
          <a:prstGeom prst="roundRect">
            <a:avLst>
              <a:gd name="adj" fmla="val 3390"/>
            </a:avLst>
          </a:prstGeom>
          <a:solidFill>
            <a:srgbClr val="1A3A5C"/>
          </a:solidFill>
          <a:ln/>
        </p:spPr>
      </p:sp>
      <p:pic>
        <p:nvPicPr>
          <p:cNvPr id="17" name="Image 1" descr="preencoded.png">    </p:cNvPr>
          <p:cNvPicPr>
            <a:picLocks noChangeAspect="1"/>
          </p:cNvPicPr>
          <p:nvPr/>
        </p:nvPicPr>
        <p:blipFill>
          <a:blip r:embed="rId2"/>
          <a:stretch>
            <a:fillRect/>
          </a:stretch>
        </p:blipFill>
        <p:spPr>
          <a:xfrm>
            <a:off x="3410712" y="1325880"/>
            <a:ext cx="365760" cy="365760"/>
          </a:xfrm>
          <a:prstGeom prst="rect">
            <a:avLst/>
          </a:prstGeom>
        </p:spPr>
      </p:pic>
      <p:sp>
        <p:nvSpPr>
          <p:cNvPr id="18" name="Text 14"/>
          <p:cNvSpPr/>
          <p:nvPr/>
        </p:nvSpPr>
        <p:spPr>
          <a:xfrm>
            <a:off x="3822192" y="1325880"/>
            <a:ext cx="1965960" cy="36576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JavaScript Files</a:t>
            </a:r>
            <a:endParaRPr lang="en-US" sz="1300" dirty="0"/>
          </a:p>
        </p:txBody>
      </p:sp>
      <p:sp>
        <p:nvSpPr>
          <p:cNvPr id="19" name="Shape 15"/>
          <p:cNvSpPr/>
          <p:nvPr/>
        </p:nvSpPr>
        <p:spPr>
          <a:xfrm>
            <a:off x="3364992" y="1783080"/>
            <a:ext cx="2423160" cy="548640"/>
          </a:xfrm>
          <a:prstGeom prst="roundRect">
            <a:avLst>
              <a:gd name="adj" fmla="val 13333"/>
            </a:avLst>
          </a:prstGeom>
          <a:solidFill>
            <a:srgbClr val="1E3A5F"/>
          </a:solidFill>
          <a:ln/>
        </p:spPr>
      </p:sp>
      <p:sp>
        <p:nvSpPr>
          <p:cNvPr id="20" name="Text 16"/>
          <p:cNvSpPr/>
          <p:nvPr/>
        </p:nvSpPr>
        <p:spPr>
          <a:xfrm>
            <a:off x="3456432" y="1810512"/>
            <a:ext cx="2240280" cy="237744"/>
          </a:xfrm>
          <a:prstGeom prst="rect">
            <a:avLst/>
          </a:prstGeom>
          <a:noFill/>
          <a:ln/>
        </p:spPr>
        <p:txBody>
          <a:bodyPr wrap="square" rtlCol="0" anchor="ctr"/>
          <a:lstStyle/>
          <a:p>
            <a:pPr indent="0" marL="0">
              <a:buNone/>
            </a:pPr>
            <a:r>
              <a:rPr lang="en-US" sz="1000" b="1" dirty="0">
                <a:solidFill>
                  <a:srgbClr val="00B4D8"/>
                </a:solidFill>
                <a:latin typeface="Courier New" pitchFamily="34" charset="0"/>
                <a:ea typeface="Courier New" pitchFamily="34" charset="-122"/>
                <a:cs typeface="Courier New" pitchFamily="34" charset="-120"/>
              </a:rPr>
              <a:t>cookieUtils.js</a:t>
            </a:r>
            <a:endParaRPr lang="en-US" sz="1000" dirty="0"/>
          </a:p>
        </p:txBody>
      </p:sp>
      <p:sp>
        <p:nvSpPr>
          <p:cNvPr id="21" name="Text 17"/>
          <p:cNvSpPr/>
          <p:nvPr/>
        </p:nvSpPr>
        <p:spPr>
          <a:xfrm>
            <a:off x="3456432" y="2057400"/>
            <a:ext cx="224028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Helper get/set/delete cookie</a:t>
            </a:r>
            <a:endParaRPr lang="en-US" sz="900" dirty="0"/>
          </a:p>
        </p:txBody>
      </p:sp>
      <p:sp>
        <p:nvSpPr>
          <p:cNvPr id="22" name="Shape 18"/>
          <p:cNvSpPr/>
          <p:nvPr/>
        </p:nvSpPr>
        <p:spPr>
          <a:xfrm>
            <a:off x="3364992" y="2404872"/>
            <a:ext cx="2423160" cy="548640"/>
          </a:xfrm>
          <a:prstGeom prst="roundRect">
            <a:avLst>
              <a:gd name="adj" fmla="val 13333"/>
            </a:avLst>
          </a:prstGeom>
          <a:solidFill>
            <a:srgbClr val="1E3A5F"/>
          </a:solidFill>
          <a:ln/>
        </p:spPr>
      </p:sp>
      <p:sp>
        <p:nvSpPr>
          <p:cNvPr id="23" name="Text 19"/>
          <p:cNvSpPr/>
          <p:nvPr/>
        </p:nvSpPr>
        <p:spPr>
          <a:xfrm>
            <a:off x="3456432" y="2432304"/>
            <a:ext cx="2240280" cy="237744"/>
          </a:xfrm>
          <a:prstGeom prst="rect">
            <a:avLst/>
          </a:prstGeom>
          <a:noFill/>
          <a:ln/>
        </p:spPr>
        <p:txBody>
          <a:bodyPr wrap="square" rtlCol="0" anchor="ctr"/>
          <a:lstStyle/>
          <a:p>
            <a:pPr indent="0" marL="0">
              <a:buNone/>
            </a:pPr>
            <a:r>
              <a:rPr lang="en-US" sz="1000" b="1" dirty="0">
                <a:solidFill>
                  <a:srgbClr val="00B4D8"/>
                </a:solidFill>
                <a:latin typeface="Courier New" pitchFamily="34" charset="0"/>
                <a:ea typeface="Courier New" pitchFamily="34" charset="-122"/>
                <a:cs typeface="Courier New" pitchFamily="34" charset="-120"/>
              </a:rPr>
              <a:t>auth.js</a:t>
            </a:r>
            <a:endParaRPr lang="en-US" sz="1000" dirty="0"/>
          </a:p>
        </p:txBody>
      </p:sp>
      <p:sp>
        <p:nvSpPr>
          <p:cNvPr id="24" name="Text 20"/>
          <p:cNvSpPr/>
          <p:nvPr/>
        </p:nvSpPr>
        <p:spPr>
          <a:xfrm>
            <a:off x="3456432" y="2679192"/>
            <a:ext cx="224028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Fungsi login/logout state</a:t>
            </a:r>
            <a:endParaRPr lang="en-US" sz="900" dirty="0"/>
          </a:p>
        </p:txBody>
      </p:sp>
      <p:sp>
        <p:nvSpPr>
          <p:cNvPr id="25" name="Shape 21"/>
          <p:cNvSpPr/>
          <p:nvPr/>
        </p:nvSpPr>
        <p:spPr>
          <a:xfrm>
            <a:off x="3364992" y="3026664"/>
            <a:ext cx="2423160" cy="548640"/>
          </a:xfrm>
          <a:prstGeom prst="roundRect">
            <a:avLst>
              <a:gd name="adj" fmla="val 13333"/>
            </a:avLst>
          </a:prstGeom>
          <a:solidFill>
            <a:srgbClr val="1E3A5F"/>
          </a:solidFill>
          <a:ln/>
        </p:spPr>
      </p:sp>
      <p:sp>
        <p:nvSpPr>
          <p:cNvPr id="26" name="Text 22"/>
          <p:cNvSpPr/>
          <p:nvPr/>
        </p:nvSpPr>
        <p:spPr>
          <a:xfrm>
            <a:off x="3456432" y="3054096"/>
            <a:ext cx="2240280" cy="237744"/>
          </a:xfrm>
          <a:prstGeom prst="rect">
            <a:avLst/>
          </a:prstGeom>
          <a:noFill/>
          <a:ln/>
        </p:spPr>
        <p:txBody>
          <a:bodyPr wrap="square" rtlCol="0" anchor="ctr"/>
          <a:lstStyle/>
          <a:p>
            <a:pPr indent="0" marL="0">
              <a:buNone/>
            </a:pPr>
            <a:r>
              <a:rPr lang="en-US" sz="1000" b="1" dirty="0">
                <a:solidFill>
                  <a:srgbClr val="00B4D8"/>
                </a:solidFill>
                <a:latin typeface="Courier New" pitchFamily="34" charset="0"/>
                <a:ea typeface="Courier New" pitchFamily="34" charset="-122"/>
                <a:cs typeface="Courier New" pitchFamily="34" charset="-120"/>
              </a:rPr>
              <a:t>loginStyle.js</a:t>
            </a:r>
            <a:endParaRPr lang="en-US" sz="1000" dirty="0"/>
          </a:p>
        </p:txBody>
      </p:sp>
      <p:sp>
        <p:nvSpPr>
          <p:cNvPr id="27" name="Text 23"/>
          <p:cNvSpPr/>
          <p:nvPr/>
        </p:nvSpPr>
        <p:spPr>
          <a:xfrm>
            <a:off x="3456432" y="3300984"/>
            <a:ext cx="224028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Logic &amp; animasi halaman login</a:t>
            </a:r>
            <a:endParaRPr lang="en-US" sz="900" dirty="0"/>
          </a:p>
        </p:txBody>
      </p:sp>
      <p:sp>
        <p:nvSpPr>
          <p:cNvPr id="28" name="Shape 24"/>
          <p:cNvSpPr/>
          <p:nvPr/>
        </p:nvSpPr>
        <p:spPr>
          <a:xfrm>
            <a:off x="3364992" y="3648456"/>
            <a:ext cx="2423160" cy="548640"/>
          </a:xfrm>
          <a:prstGeom prst="roundRect">
            <a:avLst>
              <a:gd name="adj" fmla="val 13333"/>
            </a:avLst>
          </a:prstGeom>
          <a:solidFill>
            <a:srgbClr val="1E3A5F"/>
          </a:solidFill>
          <a:ln/>
        </p:spPr>
      </p:sp>
      <p:sp>
        <p:nvSpPr>
          <p:cNvPr id="29" name="Text 25"/>
          <p:cNvSpPr/>
          <p:nvPr/>
        </p:nvSpPr>
        <p:spPr>
          <a:xfrm>
            <a:off x="3456432" y="3675888"/>
            <a:ext cx="2240280" cy="237744"/>
          </a:xfrm>
          <a:prstGeom prst="rect">
            <a:avLst/>
          </a:prstGeom>
          <a:noFill/>
          <a:ln/>
        </p:spPr>
        <p:txBody>
          <a:bodyPr wrap="square" rtlCol="0" anchor="ctr"/>
          <a:lstStyle/>
          <a:p>
            <a:pPr indent="0" marL="0">
              <a:buNone/>
            </a:pPr>
            <a:r>
              <a:rPr lang="en-US" sz="1000" b="1" dirty="0">
                <a:solidFill>
                  <a:srgbClr val="00B4D8"/>
                </a:solidFill>
                <a:latin typeface="Courier New" pitchFamily="34" charset="0"/>
                <a:ea typeface="Courier New" pitchFamily="34" charset="-122"/>
                <a:cs typeface="Courier New" pitchFamily="34" charset="-120"/>
              </a:rPr>
              <a:t>main.js</a:t>
            </a:r>
            <a:endParaRPr lang="en-US" sz="1000" dirty="0"/>
          </a:p>
        </p:txBody>
      </p:sp>
      <p:sp>
        <p:nvSpPr>
          <p:cNvPr id="30" name="Text 26"/>
          <p:cNvSpPr/>
          <p:nvPr/>
        </p:nvSpPr>
        <p:spPr>
          <a:xfrm>
            <a:off x="3456432" y="3922776"/>
            <a:ext cx="224028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Kasir: cart, menu, PDF struk</a:t>
            </a:r>
            <a:endParaRPr lang="en-US" sz="900" dirty="0"/>
          </a:p>
        </p:txBody>
      </p:sp>
      <p:sp>
        <p:nvSpPr>
          <p:cNvPr id="31" name="Shape 27"/>
          <p:cNvSpPr/>
          <p:nvPr/>
        </p:nvSpPr>
        <p:spPr>
          <a:xfrm>
            <a:off x="3364992" y="4270248"/>
            <a:ext cx="2423160" cy="548640"/>
          </a:xfrm>
          <a:prstGeom prst="roundRect">
            <a:avLst>
              <a:gd name="adj" fmla="val 13333"/>
            </a:avLst>
          </a:prstGeom>
          <a:solidFill>
            <a:srgbClr val="1E3A5F"/>
          </a:solidFill>
          <a:ln/>
        </p:spPr>
      </p:sp>
      <p:sp>
        <p:nvSpPr>
          <p:cNvPr id="32" name="Text 28"/>
          <p:cNvSpPr/>
          <p:nvPr/>
        </p:nvSpPr>
        <p:spPr>
          <a:xfrm>
            <a:off x="3456432" y="4297680"/>
            <a:ext cx="2240280" cy="237744"/>
          </a:xfrm>
          <a:prstGeom prst="rect">
            <a:avLst/>
          </a:prstGeom>
          <a:noFill/>
          <a:ln/>
        </p:spPr>
        <p:txBody>
          <a:bodyPr wrap="square" rtlCol="0" anchor="ctr"/>
          <a:lstStyle/>
          <a:p>
            <a:pPr indent="0" marL="0">
              <a:buNone/>
            </a:pPr>
            <a:r>
              <a:rPr lang="en-US" sz="1000" b="1" dirty="0">
                <a:solidFill>
                  <a:srgbClr val="00B4D8"/>
                </a:solidFill>
                <a:latin typeface="Courier New" pitchFamily="34" charset="0"/>
                <a:ea typeface="Courier New" pitchFamily="34" charset="-122"/>
                <a:cs typeface="Courier New" pitchFamily="34" charset="-120"/>
              </a:rPr>
              <a:t>addProduct.js</a:t>
            </a:r>
            <a:endParaRPr lang="en-US" sz="1000" dirty="0"/>
          </a:p>
        </p:txBody>
      </p:sp>
      <p:sp>
        <p:nvSpPr>
          <p:cNvPr id="33" name="Text 29"/>
          <p:cNvSpPr/>
          <p:nvPr/>
        </p:nvSpPr>
        <p:spPr>
          <a:xfrm>
            <a:off x="3456432" y="4544568"/>
            <a:ext cx="224028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Form &amp; tabel produk baru</a:t>
            </a:r>
            <a:endParaRPr lang="en-US" sz="900" dirty="0"/>
          </a:p>
        </p:txBody>
      </p:sp>
      <p:sp>
        <p:nvSpPr>
          <p:cNvPr id="34" name="Shape 30"/>
          <p:cNvSpPr/>
          <p:nvPr/>
        </p:nvSpPr>
        <p:spPr>
          <a:xfrm>
            <a:off x="6181344" y="1188720"/>
            <a:ext cx="2697480" cy="3566160"/>
          </a:xfrm>
          <a:prstGeom prst="roundRect">
            <a:avLst>
              <a:gd name="adj" fmla="val 3390"/>
            </a:avLst>
          </a:prstGeom>
          <a:solidFill>
            <a:srgbClr val="1A3A5C"/>
          </a:solidFill>
          <a:ln/>
        </p:spPr>
      </p:sp>
      <p:pic>
        <p:nvPicPr>
          <p:cNvPr id="35" name="Image 2" descr="preencoded.png">    </p:cNvPr>
          <p:cNvPicPr>
            <a:picLocks noChangeAspect="1"/>
          </p:cNvPicPr>
          <p:nvPr/>
        </p:nvPicPr>
        <p:blipFill>
          <a:blip r:embed="rId3"/>
          <a:stretch>
            <a:fillRect/>
          </a:stretch>
        </p:blipFill>
        <p:spPr>
          <a:xfrm>
            <a:off x="6364224" y="1325880"/>
            <a:ext cx="365760" cy="365760"/>
          </a:xfrm>
          <a:prstGeom prst="rect">
            <a:avLst/>
          </a:prstGeom>
        </p:spPr>
      </p:pic>
      <p:sp>
        <p:nvSpPr>
          <p:cNvPr id="36" name="Text 31"/>
          <p:cNvSpPr/>
          <p:nvPr/>
        </p:nvSpPr>
        <p:spPr>
          <a:xfrm>
            <a:off x="6775704" y="1325880"/>
            <a:ext cx="1920240" cy="36576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Data &amp; Assets</a:t>
            </a:r>
            <a:endParaRPr lang="en-US" sz="1300" dirty="0"/>
          </a:p>
        </p:txBody>
      </p:sp>
      <p:sp>
        <p:nvSpPr>
          <p:cNvPr id="37" name="Shape 32"/>
          <p:cNvSpPr/>
          <p:nvPr/>
        </p:nvSpPr>
        <p:spPr>
          <a:xfrm>
            <a:off x="6318504" y="1783080"/>
            <a:ext cx="2423160" cy="685800"/>
          </a:xfrm>
          <a:prstGeom prst="roundRect">
            <a:avLst>
              <a:gd name="adj" fmla="val 10667"/>
            </a:avLst>
          </a:prstGeom>
          <a:solidFill>
            <a:srgbClr val="1E3A5F"/>
          </a:solidFill>
          <a:ln/>
        </p:spPr>
      </p:sp>
      <p:sp>
        <p:nvSpPr>
          <p:cNvPr id="38" name="Text 33"/>
          <p:cNvSpPr/>
          <p:nvPr/>
        </p:nvSpPr>
        <p:spPr>
          <a:xfrm>
            <a:off x="6409944" y="1819656"/>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data/menu.json</a:t>
            </a:r>
            <a:endParaRPr lang="en-US" sz="1100" dirty="0"/>
          </a:p>
        </p:txBody>
      </p:sp>
      <p:sp>
        <p:nvSpPr>
          <p:cNvPr id="39" name="Text 34"/>
          <p:cNvSpPr/>
          <p:nvPr/>
        </p:nvSpPr>
        <p:spPr>
          <a:xfrm>
            <a:off x="6409944" y="2103120"/>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Data produk default</a:t>
            </a:r>
            <a:endParaRPr lang="en-US" sz="1000" dirty="0"/>
          </a:p>
        </p:txBody>
      </p:sp>
      <p:sp>
        <p:nvSpPr>
          <p:cNvPr id="40" name="Shape 35"/>
          <p:cNvSpPr/>
          <p:nvPr/>
        </p:nvSpPr>
        <p:spPr>
          <a:xfrm>
            <a:off x="6318504" y="2587752"/>
            <a:ext cx="2423160" cy="685800"/>
          </a:xfrm>
          <a:prstGeom prst="roundRect">
            <a:avLst>
              <a:gd name="adj" fmla="val 10667"/>
            </a:avLst>
          </a:prstGeom>
          <a:solidFill>
            <a:srgbClr val="1E3A5F"/>
          </a:solidFill>
          <a:ln/>
        </p:spPr>
      </p:sp>
      <p:sp>
        <p:nvSpPr>
          <p:cNvPr id="41" name="Text 36"/>
          <p:cNvSpPr/>
          <p:nvPr/>
        </p:nvSpPr>
        <p:spPr>
          <a:xfrm>
            <a:off x="6409944" y="2624328"/>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localStorage</a:t>
            </a:r>
            <a:endParaRPr lang="en-US" sz="1100" dirty="0"/>
          </a:p>
        </p:txBody>
      </p:sp>
      <p:sp>
        <p:nvSpPr>
          <p:cNvPr id="42" name="Text 37"/>
          <p:cNvSpPr/>
          <p:nvPr/>
        </p:nvSpPr>
        <p:spPr>
          <a:xfrm>
            <a:off x="6409944" y="2907792"/>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Cart, auth, produk custom</a:t>
            </a:r>
            <a:endParaRPr lang="en-US" sz="1000" dirty="0"/>
          </a:p>
        </p:txBody>
      </p:sp>
      <p:sp>
        <p:nvSpPr>
          <p:cNvPr id="43" name="Shape 38"/>
          <p:cNvSpPr/>
          <p:nvPr/>
        </p:nvSpPr>
        <p:spPr>
          <a:xfrm>
            <a:off x="6318504" y="3392424"/>
            <a:ext cx="2423160" cy="685800"/>
          </a:xfrm>
          <a:prstGeom prst="roundRect">
            <a:avLst>
              <a:gd name="adj" fmla="val 10667"/>
            </a:avLst>
          </a:prstGeom>
          <a:solidFill>
            <a:srgbClr val="1E3A5F"/>
          </a:solidFill>
          <a:ln/>
        </p:spPr>
      </p:sp>
      <p:sp>
        <p:nvSpPr>
          <p:cNvPr id="44" name="Text 39"/>
          <p:cNvSpPr/>
          <p:nvPr/>
        </p:nvSpPr>
        <p:spPr>
          <a:xfrm>
            <a:off x="6409944" y="3429000"/>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Cookie</a:t>
            </a:r>
            <a:endParaRPr lang="en-US" sz="1100" dirty="0"/>
          </a:p>
        </p:txBody>
      </p:sp>
      <p:sp>
        <p:nvSpPr>
          <p:cNvPr id="45" name="Text 40"/>
          <p:cNvSpPr/>
          <p:nvPr/>
        </p:nvSpPr>
        <p:spPr>
          <a:xfrm>
            <a:off x="6409944" y="3712464"/>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Token autentikasi sesi</a:t>
            </a:r>
            <a:endParaRPr lang="en-US" sz="1000" dirty="0"/>
          </a:p>
        </p:txBody>
      </p:sp>
      <p:sp>
        <p:nvSpPr>
          <p:cNvPr id="46" name="Shape 41"/>
          <p:cNvSpPr/>
          <p:nvPr/>
        </p:nvSpPr>
        <p:spPr>
          <a:xfrm>
            <a:off x="6318504" y="4197096"/>
            <a:ext cx="2423160" cy="685800"/>
          </a:xfrm>
          <a:prstGeom prst="roundRect">
            <a:avLst>
              <a:gd name="adj" fmla="val 10667"/>
            </a:avLst>
          </a:prstGeom>
          <a:solidFill>
            <a:srgbClr val="1E3A5F"/>
          </a:solidFill>
          <a:ln/>
        </p:spPr>
      </p:sp>
      <p:sp>
        <p:nvSpPr>
          <p:cNvPr id="47" name="Text 42"/>
          <p:cNvSpPr/>
          <p:nvPr/>
        </p:nvSpPr>
        <p:spPr>
          <a:xfrm>
            <a:off x="6409944" y="4233672"/>
            <a:ext cx="2240280" cy="274320"/>
          </a:xfrm>
          <a:prstGeom prst="rect">
            <a:avLst/>
          </a:prstGeom>
          <a:noFill/>
          <a:ln/>
        </p:spPr>
        <p:txBody>
          <a:bodyPr wrap="square" rtlCol="0" anchor="ctr"/>
          <a:lstStyle/>
          <a:p>
            <a:pPr indent="0" marL="0">
              <a:buNone/>
            </a:pPr>
            <a:r>
              <a:rPr lang="en-US" sz="1100" b="1" dirty="0">
                <a:solidFill>
                  <a:srgbClr val="00B4D8"/>
                </a:solidFill>
                <a:latin typeface="Courier New" pitchFamily="34" charset="0"/>
                <a:ea typeface="Courier New" pitchFamily="34" charset="-122"/>
                <a:cs typeface="Courier New" pitchFamily="34" charset="-120"/>
              </a:rPr>
              <a:t>css/style.css</a:t>
            </a:r>
            <a:endParaRPr lang="en-US" sz="1100" dirty="0"/>
          </a:p>
        </p:txBody>
      </p:sp>
      <p:sp>
        <p:nvSpPr>
          <p:cNvPr id="48" name="Text 43"/>
          <p:cNvSpPr/>
          <p:nvPr/>
        </p:nvSpPr>
        <p:spPr>
          <a:xfrm>
            <a:off x="6409944" y="4517136"/>
            <a:ext cx="2240280" cy="292608"/>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Styling utama &amp; tema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7B6"/>
          </a:solidFill>
          <a:ln/>
        </p:spPr>
      </p:sp>
      <p:sp>
        <p:nvSpPr>
          <p:cNvPr id="3" name="Text 1"/>
          <p:cNvSpPr/>
          <p:nvPr/>
        </p:nvSpPr>
        <p:spPr>
          <a:xfrm>
            <a:off x="365760" y="91440"/>
            <a:ext cx="841248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ALUR LOGIKA — AUTENTIKASI</a:t>
            </a:r>
            <a:endParaRPr lang="en-US" sz="2200" dirty="0"/>
          </a:p>
        </p:txBody>
      </p:sp>
      <p:sp>
        <p:nvSpPr>
          <p:cNvPr id="4" name="Shape 2"/>
          <p:cNvSpPr/>
          <p:nvPr/>
        </p:nvSpPr>
        <p:spPr>
          <a:xfrm>
            <a:off x="402336" y="1463040"/>
            <a:ext cx="1463040" cy="822960"/>
          </a:xfrm>
          <a:prstGeom prst="roundRect">
            <a:avLst>
              <a:gd name="adj" fmla="val 13333"/>
            </a:avLst>
          </a:prstGeom>
          <a:solidFill>
            <a:srgbClr val="1A3A5C"/>
          </a:solidFill>
          <a:ln/>
          <a:effectLst>
            <a:outerShdw sx="100000" sy="100000" kx="0" ky="0" algn="bl" rotWithShape="0" blurRad="50800" dist="25400" dir="2700000">
              <a:srgbClr val="000000">
                <a:alpha val="10000"/>
              </a:srgbClr>
            </a:outerShdw>
          </a:effectLst>
        </p:spPr>
      </p:sp>
      <p:sp>
        <p:nvSpPr>
          <p:cNvPr id="5" name="Text 3"/>
          <p:cNvSpPr/>
          <p:nvPr/>
        </p:nvSpPr>
        <p:spPr>
          <a:xfrm>
            <a:off x="402336" y="1463040"/>
            <a:ext cx="1463040" cy="82296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Buka</a:t>
            </a:r>
            <a:endParaRPr lang="en-US" sz="1000" dirty="0"/>
          </a:p>
          <a:p>
            <a:pPr algn="ctr" indent="0" marL="0">
              <a:buNone/>
            </a:pPr>
            <a:r>
              <a:rPr lang="en-US" sz="1000" b="1" dirty="0">
                <a:solidFill>
                  <a:srgbClr val="000000"/>
                </a:solidFill>
                <a:latin typeface="Calibri" pitchFamily="34" charset="0"/>
                <a:ea typeface="Calibri" pitchFamily="34" charset="-122"/>
                <a:cs typeface="Calibri" pitchFamily="34" charset="-120"/>
              </a:rPr>
              <a:t>login.html</a:t>
            </a:r>
            <a:endParaRPr lang="en-US" sz="1000" dirty="0"/>
          </a:p>
        </p:txBody>
      </p:sp>
      <p:sp>
        <p:nvSpPr>
          <p:cNvPr id="6" name="Shape 4"/>
          <p:cNvSpPr/>
          <p:nvPr/>
        </p:nvSpPr>
        <p:spPr>
          <a:xfrm>
            <a:off x="1865376" y="1874520"/>
            <a:ext cx="256032" cy="0"/>
          </a:xfrm>
          <a:prstGeom prst="line">
            <a:avLst/>
          </a:prstGeom>
          <a:noFill/>
          <a:ln w="25400">
            <a:solidFill>
              <a:srgbClr val="0077B6"/>
            </a:solidFill>
            <a:prstDash val="solid"/>
          </a:ln>
        </p:spPr>
      </p:sp>
      <p:sp>
        <p:nvSpPr>
          <p:cNvPr id="7" name="Text 5"/>
          <p:cNvSpPr/>
          <p:nvPr/>
        </p:nvSpPr>
        <p:spPr>
          <a:xfrm>
            <a:off x="1942186" y="1764792"/>
            <a:ext cx="182880" cy="219456"/>
          </a:xfrm>
          <a:prstGeom prst="rect">
            <a:avLst/>
          </a:prstGeom>
          <a:noFill/>
          <a:ln/>
        </p:spPr>
        <p:txBody>
          <a:bodyPr wrap="square" rtlCol="0" anchor="ctr"/>
          <a:lstStyle/>
          <a:p>
            <a:pPr indent="0" marL="0">
              <a:buNone/>
            </a:pPr>
            <a:r>
              <a:rPr lang="en-US" sz="900" dirty="0">
                <a:solidFill>
                  <a:srgbClr val="0077B6"/>
                </a:solidFill>
                <a:latin typeface="Calibri" pitchFamily="34" charset="0"/>
                <a:ea typeface="Calibri" pitchFamily="34" charset="-122"/>
                <a:cs typeface="Calibri" pitchFamily="34" charset="-120"/>
              </a:rPr>
              <a:t>▶</a:t>
            </a:r>
            <a:endParaRPr lang="en-US" sz="900" dirty="0"/>
          </a:p>
        </p:txBody>
      </p:sp>
      <p:sp>
        <p:nvSpPr>
          <p:cNvPr id="8" name="Shape 6"/>
          <p:cNvSpPr/>
          <p:nvPr/>
        </p:nvSpPr>
        <p:spPr>
          <a:xfrm>
            <a:off x="2121408" y="1463040"/>
            <a:ext cx="1463040" cy="822960"/>
          </a:xfrm>
          <a:prstGeom prst="roundRect">
            <a:avLst>
              <a:gd name="adj" fmla="val 13333"/>
            </a:avLst>
          </a:prstGeom>
          <a:solidFill>
            <a:srgbClr val="0077B6"/>
          </a:solidFill>
          <a:ln/>
          <a:effectLst>
            <a:outerShdw sx="100000" sy="100000" kx="0" ky="0" algn="bl" rotWithShape="0" blurRad="50800" dist="25400" dir="2700000">
              <a:srgbClr val="000000">
                <a:alpha val="10000"/>
              </a:srgbClr>
            </a:outerShdw>
          </a:effectLst>
        </p:spPr>
      </p:sp>
      <p:sp>
        <p:nvSpPr>
          <p:cNvPr id="9" name="Text 7"/>
          <p:cNvSpPr/>
          <p:nvPr/>
        </p:nvSpPr>
        <p:spPr>
          <a:xfrm>
            <a:off x="2121408" y="1463040"/>
            <a:ext cx="1463040" cy="82296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isLoggedIn()</a:t>
            </a:r>
            <a:endParaRPr lang="en-US" sz="1000" dirty="0"/>
          </a:p>
          <a:p>
            <a:pPr algn="ctr" indent="0" marL="0">
              <a:buNone/>
            </a:pPr>
            <a:r>
              <a:rPr lang="en-US" sz="1000" b="1" dirty="0">
                <a:solidFill>
                  <a:srgbClr val="000000"/>
                </a:solidFill>
                <a:latin typeface="Calibri" pitchFamily="34" charset="0"/>
                <a:ea typeface="Calibri" pitchFamily="34" charset="-122"/>
                <a:cs typeface="Calibri" pitchFamily="34" charset="-120"/>
              </a:rPr>
              <a:t>check</a:t>
            </a:r>
            <a:endParaRPr lang="en-US" sz="1000" dirty="0"/>
          </a:p>
        </p:txBody>
      </p:sp>
      <p:sp>
        <p:nvSpPr>
          <p:cNvPr id="10" name="Shape 8"/>
          <p:cNvSpPr/>
          <p:nvPr/>
        </p:nvSpPr>
        <p:spPr>
          <a:xfrm>
            <a:off x="3584448" y="1874520"/>
            <a:ext cx="256032" cy="0"/>
          </a:xfrm>
          <a:prstGeom prst="line">
            <a:avLst/>
          </a:prstGeom>
          <a:noFill/>
          <a:ln w="25400">
            <a:solidFill>
              <a:srgbClr val="0077B6"/>
            </a:solidFill>
            <a:prstDash val="solid"/>
          </a:ln>
        </p:spPr>
      </p:sp>
      <p:sp>
        <p:nvSpPr>
          <p:cNvPr id="11" name="Text 9"/>
          <p:cNvSpPr/>
          <p:nvPr/>
        </p:nvSpPr>
        <p:spPr>
          <a:xfrm>
            <a:off x="3661258" y="1764792"/>
            <a:ext cx="182880" cy="219456"/>
          </a:xfrm>
          <a:prstGeom prst="rect">
            <a:avLst/>
          </a:prstGeom>
          <a:noFill/>
          <a:ln/>
        </p:spPr>
        <p:txBody>
          <a:bodyPr wrap="square" rtlCol="0" anchor="ctr"/>
          <a:lstStyle/>
          <a:p>
            <a:pPr indent="0" marL="0">
              <a:buNone/>
            </a:pPr>
            <a:r>
              <a:rPr lang="en-US" sz="900" dirty="0">
                <a:solidFill>
                  <a:srgbClr val="0077B6"/>
                </a:solidFill>
                <a:latin typeface="Calibri" pitchFamily="34" charset="0"/>
                <a:ea typeface="Calibri" pitchFamily="34" charset="-122"/>
                <a:cs typeface="Calibri" pitchFamily="34" charset="-120"/>
              </a:rPr>
              <a:t>▶</a:t>
            </a:r>
            <a:endParaRPr lang="en-US" sz="900" dirty="0"/>
          </a:p>
        </p:txBody>
      </p:sp>
      <p:sp>
        <p:nvSpPr>
          <p:cNvPr id="12" name="Shape 10"/>
          <p:cNvSpPr/>
          <p:nvPr/>
        </p:nvSpPr>
        <p:spPr>
          <a:xfrm>
            <a:off x="3840480" y="1463040"/>
            <a:ext cx="1463040" cy="822960"/>
          </a:xfrm>
          <a:prstGeom prst="roundRect">
            <a:avLst>
              <a:gd name="adj" fmla="val 13333"/>
            </a:avLst>
          </a:prstGeom>
          <a:solidFill>
            <a:srgbClr val="0F1B2D"/>
          </a:solidFill>
          <a:ln/>
          <a:effectLst>
            <a:outerShdw sx="100000" sy="100000" kx="0" ky="0" algn="bl" rotWithShape="0" blurRad="50800" dist="25400" dir="2700000">
              <a:srgbClr val="000000">
                <a:alpha val="10000"/>
              </a:srgbClr>
            </a:outerShdw>
          </a:effectLst>
        </p:spPr>
      </p:sp>
      <p:sp>
        <p:nvSpPr>
          <p:cNvPr id="13" name="Text 11"/>
          <p:cNvSpPr/>
          <p:nvPr/>
        </p:nvSpPr>
        <p:spPr>
          <a:xfrm>
            <a:off x="3840480" y="1463040"/>
            <a:ext cx="1463040" cy="82296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Input Email</a:t>
            </a:r>
            <a:endParaRPr lang="en-US" sz="1000" dirty="0"/>
          </a:p>
          <a:p>
            <a:pPr algn="ctr" indent="0" marL="0">
              <a:buNone/>
            </a:pPr>
            <a:r>
              <a:rPr lang="en-US" sz="1000" b="1" dirty="0">
                <a:solidFill>
                  <a:srgbClr val="000000"/>
                </a:solidFill>
                <a:latin typeface="Calibri" pitchFamily="34" charset="0"/>
                <a:ea typeface="Calibri" pitchFamily="34" charset="-122"/>
                <a:cs typeface="Calibri" pitchFamily="34" charset="-120"/>
              </a:rPr>
              <a:t>&amp; Password</a:t>
            </a:r>
            <a:endParaRPr lang="en-US" sz="1000" dirty="0"/>
          </a:p>
        </p:txBody>
      </p:sp>
      <p:sp>
        <p:nvSpPr>
          <p:cNvPr id="14" name="Shape 12"/>
          <p:cNvSpPr/>
          <p:nvPr/>
        </p:nvSpPr>
        <p:spPr>
          <a:xfrm>
            <a:off x="5303520" y="1874520"/>
            <a:ext cx="256032" cy="0"/>
          </a:xfrm>
          <a:prstGeom prst="line">
            <a:avLst/>
          </a:prstGeom>
          <a:noFill/>
          <a:ln w="25400">
            <a:solidFill>
              <a:srgbClr val="0077B6"/>
            </a:solidFill>
            <a:prstDash val="solid"/>
          </a:ln>
        </p:spPr>
      </p:sp>
      <p:sp>
        <p:nvSpPr>
          <p:cNvPr id="15" name="Text 13"/>
          <p:cNvSpPr/>
          <p:nvPr/>
        </p:nvSpPr>
        <p:spPr>
          <a:xfrm>
            <a:off x="5380330" y="1764792"/>
            <a:ext cx="182880" cy="219456"/>
          </a:xfrm>
          <a:prstGeom prst="rect">
            <a:avLst/>
          </a:prstGeom>
          <a:noFill/>
          <a:ln/>
        </p:spPr>
        <p:txBody>
          <a:bodyPr wrap="square" rtlCol="0" anchor="ctr"/>
          <a:lstStyle/>
          <a:p>
            <a:pPr indent="0" marL="0">
              <a:buNone/>
            </a:pPr>
            <a:r>
              <a:rPr lang="en-US" sz="900" dirty="0">
                <a:solidFill>
                  <a:srgbClr val="0077B6"/>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5559552" y="1463040"/>
            <a:ext cx="1463040" cy="822960"/>
          </a:xfrm>
          <a:prstGeom prst="roundRect">
            <a:avLst>
              <a:gd name="adj" fmla="val 13333"/>
            </a:avLst>
          </a:prstGeom>
          <a:solidFill>
            <a:srgbClr val="0077B6"/>
          </a:solidFill>
          <a:ln/>
          <a:effectLst>
            <a:outerShdw sx="100000" sy="100000" kx="0" ky="0" algn="bl" rotWithShape="0" blurRad="50800" dist="25400" dir="2700000">
              <a:srgbClr val="000000">
                <a:alpha val="10000"/>
              </a:srgbClr>
            </a:outerShdw>
          </a:effectLst>
        </p:spPr>
      </p:sp>
      <p:sp>
        <p:nvSpPr>
          <p:cNvPr id="17" name="Text 15"/>
          <p:cNvSpPr/>
          <p:nvPr/>
        </p:nvSpPr>
        <p:spPr>
          <a:xfrm>
            <a:off x="5559552" y="1463040"/>
            <a:ext cx="1463040" cy="82296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Validasi</a:t>
            </a:r>
            <a:endParaRPr lang="en-US" sz="1000" dirty="0"/>
          </a:p>
          <a:p>
            <a:pPr algn="ctr" indent="0" marL="0">
              <a:buNone/>
            </a:pPr>
            <a:r>
              <a:rPr lang="en-US" sz="1000" b="1" dirty="0">
                <a:solidFill>
                  <a:srgbClr val="000000"/>
                </a:solidFill>
                <a:latin typeface="Calibri" pitchFamily="34" charset="0"/>
                <a:ea typeface="Calibri" pitchFamily="34" charset="-122"/>
                <a:cs typeface="Calibri" pitchFamily="34" charset="-120"/>
              </a:rPr>
              <a:t>Kredensial</a:t>
            </a:r>
            <a:endParaRPr lang="en-US" sz="1000" dirty="0"/>
          </a:p>
        </p:txBody>
      </p:sp>
      <p:sp>
        <p:nvSpPr>
          <p:cNvPr id="18" name="Shape 16"/>
          <p:cNvSpPr/>
          <p:nvPr/>
        </p:nvSpPr>
        <p:spPr>
          <a:xfrm>
            <a:off x="7022592" y="1874520"/>
            <a:ext cx="256032" cy="0"/>
          </a:xfrm>
          <a:prstGeom prst="line">
            <a:avLst/>
          </a:prstGeom>
          <a:noFill/>
          <a:ln w="25400">
            <a:solidFill>
              <a:srgbClr val="0077B6"/>
            </a:solidFill>
            <a:prstDash val="solid"/>
          </a:ln>
        </p:spPr>
      </p:sp>
      <p:sp>
        <p:nvSpPr>
          <p:cNvPr id="19" name="Text 17"/>
          <p:cNvSpPr/>
          <p:nvPr/>
        </p:nvSpPr>
        <p:spPr>
          <a:xfrm>
            <a:off x="7099402" y="1764792"/>
            <a:ext cx="182880" cy="219456"/>
          </a:xfrm>
          <a:prstGeom prst="rect">
            <a:avLst/>
          </a:prstGeom>
          <a:noFill/>
          <a:ln/>
        </p:spPr>
        <p:txBody>
          <a:bodyPr wrap="square" rtlCol="0" anchor="ctr"/>
          <a:lstStyle/>
          <a:p>
            <a:pPr indent="0" marL="0">
              <a:buNone/>
            </a:pPr>
            <a:r>
              <a:rPr lang="en-US" sz="900" dirty="0">
                <a:solidFill>
                  <a:srgbClr val="0077B6"/>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7278624" y="1463040"/>
            <a:ext cx="1463040" cy="822960"/>
          </a:xfrm>
          <a:prstGeom prst="roundRect">
            <a:avLst>
              <a:gd name="adj" fmla="val 13333"/>
            </a:avLst>
          </a:prstGeom>
          <a:solidFill>
            <a:srgbClr val="10B981"/>
          </a:solidFill>
          <a:ln/>
          <a:effectLst>
            <a:outerShdw sx="100000" sy="100000" kx="0" ky="0" algn="bl" rotWithShape="0" blurRad="50800" dist="25400" dir="2700000">
              <a:srgbClr val="000000">
                <a:alpha val="10000"/>
              </a:srgbClr>
            </a:outerShdw>
          </a:effectLst>
        </p:spPr>
      </p:sp>
      <p:sp>
        <p:nvSpPr>
          <p:cNvPr id="21" name="Text 19"/>
          <p:cNvSpPr/>
          <p:nvPr/>
        </p:nvSpPr>
        <p:spPr>
          <a:xfrm>
            <a:off x="7278624" y="1463040"/>
            <a:ext cx="1463040" cy="822960"/>
          </a:xfrm>
          <a:prstGeom prst="rect">
            <a:avLst/>
          </a:prstGeom>
          <a:noFill/>
          <a:ln/>
        </p:spPr>
        <p:txBody>
          <a:bodyPr wrap="square" rtlCol="0" anchor="ctr"/>
          <a:lstStyle/>
          <a:p>
            <a:pPr algn="ctr" indent="0" marL="0">
              <a:buNone/>
            </a:pPr>
            <a:r>
              <a:rPr lang="en-US" sz="1000" b="1" dirty="0">
                <a:solidFill>
                  <a:srgbClr val="000000"/>
                </a:solidFill>
                <a:latin typeface="Calibri" pitchFamily="34" charset="0"/>
                <a:ea typeface="Calibri" pitchFamily="34" charset="-122"/>
                <a:cs typeface="Calibri" pitchFamily="34" charset="-120"/>
              </a:rPr>
              <a:t>setLoggedIn()</a:t>
            </a:r>
            <a:endParaRPr lang="en-US" sz="1000" dirty="0"/>
          </a:p>
          <a:p>
            <a:pPr algn="ctr" indent="0" marL="0">
              <a:buNone/>
            </a:pPr>
            <a:r>
              <a:rPr lang="en-US" sz="1000" b="1" dirty="0">
                <a:solidFill>
                  <a:srgbClr val="000000"/>
                </a:solidFill>
                <a:latin typeface="Calibri" pitchFamily="34" charset="0"/>
                <a:ea typeface="Calibri" pitchFamily="34" charset="-122"/>
                <a:cs typeface="Calibri" pitchFamily="34" charset="-120"/>
              </a:rPr>
              <a:t>Redirect</a:t>
            </a:r>
            <a:endParaRPr lang="en-US" sz="1000" dirty="0"/>
          </a:p>
        </p:txBody>
      </p:sp>
      <p:sp>
        <p:nvSpPr>
          <p:cNvPr id="22" name="Text 20"/>
          <p:cNvSpPr/>
          <p:nvPr/>
        </p:nvSpPr>
        <p:spPr>
          <a:xfrm>
            <a:off x="2560320" y="2423160"/>
            <a:ext cx="1463040" cy="274320"/>
          </a:xfrm>
          <a:prstGeom prst="rect">
            <a:avLst/>
          </a:prstGeom>
          <a:noFill/>
          <a:ln/>
        </p:spPr>
        <p:txBody>
          <a:bodyPr wrap="square" rtlCol="0" anchor="ctr"/>
          <a:lstStyle/>
          <a:p>
            <a:pPr algn="ctr" indent="0" marL="0">
              <a:buNone/>
            </a:pPr>
            <a:r>
              <a:rPr lang="en-US" sz="1000" b="1" dirty="0">
                <a:solidFill>
                  <a:srgbClr val="0077B6"/>
                </a:solidFill>
                <a:latin typeface="Calibri" pitchFamily="34" charset="0"/>
                <a:ea typeface="Calibri" pitchFamily="34" charset="-122"/>
                <a:cs typeface="Calibri" pitchFamily="34" charset="-120"/>
              </a:rPr>
              <a:t>Sudah login?</a:t>
            </a:r>
            <a:endParaRPr lang="en-US" sz="1000" dirty="0"/>
          </a:p>
        </p:txBody>
      </p:sp>
      <p:sp>
        <p:nvSpPr>
          <p:cNvPr id="23" name="Shape 21"/>
          <p:cNvSpPr/>
          <p:nvPr/>
        </p:nvSpPr>
        <p:spPr>
          <a:xfrm>
            <a:off x="3291840" y="2286000"/>
            <a:ext cx="0" cy="640080"/>
          </a:xfrm>
          <a:prstGeom prst="line">
            <a:avLst/>
          </a:prstGeom>
          <a:noFill/>
          <a:ln w="19050">
            <a:solidFill>
              <a:srgbClr val="0077B6"/>
            </a:solidFill>
            <a:prstDash val="dash"/>
          </a:ln>
        </p:spPr>
      </p:sp>
      <p:sp>
        <p:nvSpPr>
          <p:cNvPr id="24" name="Shape 22"/>
          <p:cNvSpPr/>
          <p:nvPr/>
        </p:nvSpPr>
        <p:spPr>
          <a:xfrm>
            <a:off x="2560320" y="2651760"/>
            <a:ext cx="1463040" cy="548640"/>
          </a:xfrm>
          <a:prstGeom prst="roundRect">
            <a:avLst>
              <a:gd name="adj" fmla="val 16667"/>
            </a:avLst>
          </a:prstGeom>
          <a:solidFill>
            <a:srgbClr val="F59E0B"/>
          </a:solidFill>
          <a:ln/>
        </p:spPr>
      </p:sp>
      <p:sp>
        <p:nvSpPr>
          <p:cNvPr id="25" name="Text 23"/>
          <p:cNvSpPr/>
          <p:nvPr/>
        </p:nvSpPr>
        <p:spPr>
          <a:xfrm>
            <a:off x="2560320" y="2651760"/>
            <a:ext cx="1463040" cy="548640"/>
          </a:xfrm>
          <a:prstGeom prst="rect">
            <a:avLst/>
          </a:prstGeom>
          <a:noFill/>
          <a:ln/>
        </p:spPr>
        <p:txBody>
          <a:bodyPr wrap="square" rtlCol="0" anchor="ctr"/>
          <a:lstStyle/>
          <a:p>
            <a:pPr algn="ctr" indent="0" marL="0">
              <a:buNone/>
            </a:pPr>
            <a:r>
              <a:rPr lang="en-US" sz="1000" b="1" dirty="0">
                <a:solidFill>
                  <a:srgbClr val="0F1B2D"/>
                </a:solidFill>
                <a:latin typeface="Calibri" pitchFamily="34" charset="0"/>
                <a:ea typeface="Calibri" pitchFamily="34" charset="-122"/>
                <a:cs typeface="Calibri" pitchFamily="34" charset="-120"/>
              </a:rPr>
              <a:t>→ index.html</a:t>
            </a:r>
            <a:endParaRPr lang="en-US" sz="1000" dirty="0"/>
          </a:p>
        </p:txBody>
      </p:sp>
      <p:sp>
        <p:nvSpPr>
          <p:cNvPr id="26" name="Text 24"/>
          <p:cNvSpPr/>
          <p:nvPr/>
        </p:nvSpPr>
        <p:spPr>
          <a:xfrm>
            <a:off x="5120640" y="2423160"/>
            <a:ext cx="1463040" cy="274320"/>
          </a:xfrm>
          <a:prstGeom prst="rect">
            <a:avLst/>
          </a:prstGeom>
          <a:noFill/>
          <a:ln/>
        </p:spPr>
        <p:txBody>
          <a:bodyPr wrap="square" rtlCol="0" anchor="ctr"/>
          <a:lstStyle/>
          <a:p>
            <a:pPr algn="ctr" indent="0" marL="0">
              <a:buNone/>
            </a:pPr>
            <a:r>
              <a:rPr lang="en-US" sz="1000" b="1" dirty="0">
                <a:solidFill>
                  <a:srgbClr val="DC2626"/>
                </a:solidFill>
                <a:latin typeface="Calibri" pitchFamily="34" charset="0"/>
                <a:ea typeface="Calibri" pitchFamily="34" charset="-122"/>
                <a:cs typeface="Calibri" pitchFamily="34" charset="-120"/>
              </a:rPr>
              <a:t>Salah kredensial?</a:t>
            </a:r>
            <a:endParaRPr lang="en-US" sz="1000" dirty="0"/>
          </a:p>
        </p:txBody>
      </p:sp>
      <p:sp>
        <p:nvSpPr>
          <p:cNvPr id="27" name="Shape 25"/>
          <p:cNvSpPr/>
          <p:nvPr/>
        </p:nvSpPr>
        <p:spPr>
          <a:xfrm>
            <a:off x="5852160" y="2286000"/>
            <a:ext cx="0" cy="640080"/>
          </a:xfrm>
          <a:prstGeom prst="line">
            <a:avLst/>
          </a:prstGeom>
          <a:noFill/>
          <a:ln w="19050">
            <a:solidFill>
              <a:srgbClr val="DC2626"/>
            </a:solidFill>
            <a:prstDash val="dash"/>
          </a:ln>
        </p:spPr>
      </p:sp>
      <p:sp>
        <p:nvSpPr>
          <p:cNvPr id="28" name="Shape 26"/>
          <p:cNvSpPr/>
          <p:nvPr/>
        </p:nvSpPr>
        <p:spPr>
          <a:xfrm>
            <a:off x="5120640" y="2651760"/>
            <a:ext cx="1463040" cy="548640"/>
          </a:xfrm>
          <a:prstGeom prst="roundRect">
            <a:avLst>
              <a:gd name="adj" fmla="val 16667"/>
            </a:avLst>
          </a:prstGeom>
          <a:solidFill>
            <a:srgbClr val="FEE2E2"/>
          </a:solidFill>
          <a:ln/>
        </p:spPr>
      </p:sp>
      <p:sp>
        <p:nvSpPr>
          <p:cNvPr id="29" name="Text 27"/>
          <p:cNvSpPr/>
          <p:nvPr/>
        </p:nvSpPr>
        <p:spPr>
          <a:xfrm>
            <a:off x="5120640" y="2651760"/>
            <a:ext cx="1463040" cy="548640"/>
          </a:xfrm>
          <a:prstGeom prst="rect">
            <a:avLst/>
          </a:prstGeom>
          <a:noFill/>
          <a:ln/>
        </p:spPr>
        <p:txBody>
          <a:bodyPr wrap="square" rtlCol="0" anchor="ctr"/>
          <a:lstStyle/>
          <a:p>
            <a:pPr algn="ctr" indent="0" marL="0">
              <a:buNone/>
            </a:pPr>
            <a:r>
              <a:rPr lang="en-US" sz="900" b="1" dirty="0">
                <a:solidFill>
                  <a:srgbClr val="DC2626"/>
                </a:solidFill>
                <a:latin typeface="Courier New" pitchFamily="34" charset="0"/>
                <a:ea typeface="Courier New" pitchFamily="34" charset="-122"/>
                <a:cs typeface="Courier New" pitchFamily="34" charset="-120"/>
              </a:rPr>
              <a:t>showLoginError()</a:t>
            </a:r>
            <a:endParaRPr lang="en-US" sz="900" dirty="0"/>
          </a:p>
        </p:txBody>
      </p:sp>
      <p:sp>
        <p:nvSpPr>
          <p:cNvPr id="30" name="Shape 28"/>
          <p:cNvSpPr/>
          <p:nvPr/>
        </p:nvSpPr>
        <p:spPr>
          <a:xfrm>
            <a:off x="457200" y="3383280"/>
            <a:ext cx="3931920" cy="1417320"/>
          </a:xfrm>
          <a:prstGeom prst="roundRect">
            <a:avLst>
              <a:gd name="adj" fmla="val 6452"/>
            </a:avLst>
          </a:prstGeom>
          <a:solidFill>
            <a:srgbClr val="FFFFFF"/>
          </a:solidFill>
          <a:ln/>
          <a:effectLst>
            <a:outerShdw sx="100000" sy="100000" kx="0" ky="0" algn="bl" rotWithShape="0" blurRad="50800" dist="25400" dir="2700000">
              <a:srgbClr val="000000">
                <a:alpha val="10000"/>
              </a:srgbClr>
            </a:outerShdw>
          </a:effectLst>
        </p:spPr>
      </p:sp>
      <p:sp>
        <p:nvSpPr>
          <p:cNvPr id="31" name="Text 29"/>
          <p:cNvSpPr/>
          <p:nvPr/>
        </p:nvSpPr>
        <p:spPr>
          <a:xfrm>
            <a:off x="594360" y="3474720"/>
            <a:ext cx="3657600" cy="320040"/>
          </a:xfrm>
          <a:prstGeom prst="rect">
            <a:avLst/>
          </a:prstGeom>
          <a:noFill/>
          <a:ln/>
        </p:spPr>
        <p:txBody>
          <a:bodyPr wrap="square"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Yang disimpan saat LOGIN BERHASIL:</a:t>
            </a:r>
            <a:endParaRPr lang="en-US" sz="1100" dirty="0"/>
          </a:p>
        </p:txBody>
      </p:sp>
      <p:sp>
        <p:nvSpPr>
          <p:cNvPr id="32" name="Text 30"/>
          <p:cNvSpPr/>
          <p:nvPr/>
        </p:nvSpPr>
        <p:spPr>
          <a:xfrm>
            <a:off x="594360" y="3822192"/>
            <a:ext cx="3657600" cy="914400"/>
          </a:xfrm>
          <a:prstGeom prst="rect">
            <a:avLst/>
          </a:prstGeom>
          <a:noFill/>
          <a:ln/>
        </p:spPr>
        <p:txBody>
          <a:bodyPr wrap="square" rtlCol="0" anchor="ctr"/>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localStorage: kasir_logged_in = 'true'</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localStorage: kasir_user_email = email</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localStorage: kasir_login_time = timestamp</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Cookie: kasir_auth = 'true' (1 hari)</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Cookie: kasir_email = email (1 hari)</a:t>
            </a:r>
            <a:endParaRPr lang="en-US" sz="1000" dirty="0"/>
          </a:p>
        </p:txBody>
      </p:sp>
      <p:sp>
        <p:nvSpPr>
          <p:cNvPr id="33" name="Shape 31"/>
          <p:cNvSpPr/>
          <p:nvPr/>
        </p:nvSpPr>
        <p:spPr>
          <a:xfrm>
            <a:off x="4754880" y="3383280"/>
            <a:ext cx="3931920" cy="1417320"/>
          </a:xfrm>
          <a:prstGeom prst="roundRect">
            <a:avLst>
              <a:gd name="adj" fmla="val 6452"/>
            </a:avLst>
          </a:prstGeom>
          <a:solidFill>
            <a:srgbClr val="FFFFFF"/>
          </a:solidFill>
          <a:ln/>
          <a:effectLst>
            <a:outerShdw sx="100000" sy="100000" kx="0" ky="0" algn="bl" rotWithShape="0" blurRad="50800" dist="25400" dir="2700000">
              <a:srgbClr val="000000">
                <a:alpha val="10000"/>
              </a:srgbClr>
            </a:outerShdw>
          </a:effectLst>
        </p:spPr>
      </p:sp>
      <p:sp>
        <p:nvSpPr>
          <p:cNvPr id="34" name="Text 32"/>
          <p:cNvSpPr/>
          <p:nvPr/>
        </p:nvSpPr>
        <p:spPr>
          <a:xfrm>
            <a:off x="4892040" y="3474720"/>
            <a:ext cx="3657600" cy="320040"/>
          </a:xfrm>
          <a:prstGeom prst="rect">
            <a:avLst/>
          </a:prstGeom>
          <a:noFill/>
          <a:ln/>
        </p:spPr>
        <p:txBody>
          <a:bodyPr wrap="square"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Kenapa GANDA (localStorage + Cookie)?</a:t>
            </a:r>
            <a:endParaRPr lang="en-US" sz="1100" dirty="0"/>
          </a:p>
        </p:txBody>
      </p:sp>
      <p:sp>
        <p:nvSpPr>
          <p:cNvPr id="35" name="Text 33"/>
          <p:cNvSpPr/>
          <p:nvPr/>
        </p:nvSpPr>
        <p:spPr>
          <a:xfrm>
            <a:off x="4892040" y="3822192"/>
            <a:ext cx="3657600" cy="914400"/>
          </a:xfrm>
          <a:prstGeom prst="rect">
            <a:avLst/>
          </a:prstGeom>
          <a:noFill/>
          <a:ln/>
        </p:spPr>
        <p:txBody>
          <a:bodyPr wrap="square" rtlCol="0" anchor="ctr"/>
          <a:lstStyle/>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isLoggedIn() valid HANYA jika keduanya 'true'</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Mencegah manipulasi satu sisi saja</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Jika salah satu dihapus → otomatis logout</a:t>
            </a:r>
            <a:endParaRPr lang="en-US" sz="1000" dirty="0"/>
          </a:p>
          <a:p>
            <a:pPr marL="342900" indent="-342900">
              <a:buSzPct val="100000"/>
              <a:buChar char="•"/>
            </a:pPr>
            <a:r>
              <a:rPr lang="en-US" sz="1000" dirty="0">
                <a:solidFill>
                  <a:srgbClr val="334155"/>
                </a:solidFill>
                <a:latin typeface="Calibri" pitchFamily="34" charset="0"/>
                <a:ea typeface="Calibri" pitchFamily="34" charset="-122"/>
                <a:cs typeface="Calibri" pitchFamily="34" charset="-120"/>
              </a:rPr>
              <a:t>Auth guard di semua halaman: main.js &amp; addProduct.js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ALUR LOGIKA — KASIR &amp; KERANJANG</a:t>
            </a:r>
            <a:endParaRPr lang="en-US" sz="2200" dirty="0"/>
          </a:p>
        </p:txBody>
      </p:sp>
      <p:sp>
        <p:nvSpPr>
          <p:cNvPr id="3" name="Text 1"/>
          <p:cNvSpPr/>
          <p:nvPr/>
        </p:nvSpPr>
        <p:spPr>
          <a:xfrm>
            <a:off x="365760" y="685800"/>
            <a:ext cx="8412480" cy="320040"/>
          </a:xfrm>
          <a:prstGeom prst="rect">
            <a:avLst/>
          </a:prstGeom>
          <a:noFill/>
          <a:ln/>
        </p:spPr>
        <p:txBody>
          <a:bodyPr wrap="square" rtlCol="0" anchor="ctr"/>
          <a:lstStyle/>
          <a:p>
            <a:pPr indent="0" marL="0">
              <a:buNone/>
            </a:pPr>
            <a:r>
              <a:rPr lang="en-US" sz="1200" dirty="0">
                <a:solidFill>
                  <a:srgbClr val="00B4D8"/>
                </a:solidFill>
                <a:latin typeface="Calibri" pitchFamily="34" charset="0"/>
                <a:ea typeface="Calibri" pitchFamily="34" charset="-122"/>
                <a:cs typeface="Calibri" pitchFamily="34" charset="-120"/>
              </a:rPr>
              <a:t>Flow data dari menu.json → cart → pembayaran → PDF</a:t>
            </a:r>
            <a:endParaRPr lang="en-US" sz="1200" dirty="0"/>
          </a:p>
        </p:txBody>
      </p:sp>
      <p:sp>
        <p:nvSpPr>
          <p:cNvPr id="4" name="Shape 2"/>
          <p:cNvSpPr/>
          <p:nvPr/>
        </p:nvSpPr>
        <p:spPr>
          <a:xfrm>
            <a:off x="274320" y="1216152"/>
            <a:ext cx="457200" cy="457200"/>
          </a:xfrm>
          <a:prstGeom prst="ellipse">
            <a:avLst/>
          </a:prstGeom>
          <a:solidFill>
            <a:srgbClr val="00B4D8"/>
          </a:solidFill>
          <a:ln/>
        </p:spPr>
      </p:sp>
      <p:sp>
        <p:nvSpPr>
          <p:cNvPr id="5" name="Text 3"/>
          <p:cNvSpPr/>
          <p:nvPr/>
        </p:nvSpPr>
        <p:spPr>
          <a:xfrm>
            <a:off x="274320" y="1216152"/>
            <a:ext cx="457200" cy="457200"/>
          </a:xfrm>
          <a:prstGeom prst="rect">
            <a:avLst/>
          </a:prstGeom>
          <a:noFill/>
          <a:ln/>
        </p:spPr>
        <p:txBody>
          <a:bodyPr wrap="square"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822960" y="1143000"/>
            <a:ext cx="3657600" cy="667512"/>
          </a:xfrm>
          <a:prstGeom prst="roundRect">
            <a:avLst>
              <a:gd name="adj" fmla="val 10959"/>
            </a:avLst>
          </a:prstGeom>
          <a:solidFill>
            <a:srgbClr val="1A3A5C"/>
          </a:solidFill>
          <a:ln/>
        </p:spPr>
      </p:sp>
      <p:sp>
        <p:nvSpPr>
          <p:cNvPr id="7" name="Text 5"/>
          <p:cNvSpPr/>
          <p:nvPr/>
        </p:nvSpPr>
        <p:spPr>
          <a:xfrm>
            <a:off x="914400" y="1179576"/>
            <a:ext cx="3474720" cy="256032"/>
          </a:xfrm>
          <a:prstGeom prst="rect">
            <a:avLst/>
          </a:prstGeom>
          <a:noFill/>
          <a:ln/>
        </p:spPr>
        <p:txBody>
          <a:bodyPr wrap="square" rtlCol="0" anchor="ctr"/>
          <a:lstStyle/>
          <a:p>
            <a:pPr indent="0" marL="0">
              <a:buNone/>
            </a:pPr>
            <a:r>
              <a:rPr lang="en-US" sz="1200" b="1" dirty="0">
                <a:solidFill>
                  <a:srgbClr val="00B4D8"/>
                </a:solidFill>
                <a:latin typeface="Courier New" pitchFamily="34" charset="0"/>
                <a:ea typeface="Courier New" pitchFamily="34" charset="-122"/>
                <a:cs typeface="Courier New" pitchFamily="34" charset="-120"/>
              </a:rPr>
              <a:t>loadMenu()</a:t>
            </a:r>
            <a:endParaRPr lang="en-US" sz="1200" dirty="0"/>
          </a:p>
        </p:txBody>
      </p:sp>
      <p:sp>
        <p:nvSpPr>
          <p:cNvPr id="8" name="Text 6"/>
          <p:cNvSpPr/>
          <p:nvPr/>
        </p:nvSpPr>
        <p:spPr>
          <a:xfrm>
            <a:off x="914400" y="1453896"/>
            <a:ext cx="3474720" cy="292608"/>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Fetch menu.json + merge custom products dari localStorage</a:t>
            </a:r>
            <a:endParaRPr lang="en-US" sz="900" dirty="0"/>
          </a:p>
        </p:txBody>
      </p:sp>
      <p:sp>
        <p:nvSpPr>
          <p:cNvPr id="9" name="Shape 7"/>
          <p:cNvSpPr/>
          <p:nvPr/>
        </p:nvSpPr>
        <p:spPr>
          <a:xfrm>
            <a:off x="502920" y="1673352"/>
            <a:ext cx="0" cy="228600"/>
          </a:xfrm>
          <a:prstGeom prst="line">
            <a:avLst/>
          </a:prstGeom>
          <a:noFill/>
          <a:ln w="19050">
            <a:solidFill>
              <a:srgbClr val="00B4D8"/>
            </a:solidFill>
            <a:prstDash val="solid"/>
          </a:ln>
        </p:spPr>
      </p:sp>
      <p:sp>
        <p:nvSpPr>
          <p:cNvPr id="10" name="Shape 8"/>
          <p:cNvSpPr/>
          <p:nvPr/>
        </p:nvSpPr>
        <p:spPr>
          <a:xfrm>
            <a:off x="274320" y="1975104"/>
            <a:ext cx="457200" cy="457200"/>
          </a:xfrm>
          <a:prstGeom prst="ellipse">
            <a:avLst/>
          </a:prstGeom>
          <a:solidFill>
            <a:srgbClr val="00B4D8"/>
          </a:solidFill>
          <a:ln/>
        </p:spPr>
      </p:sp>
      <p:sp>
        <p:nvSpPr>
          <p:cNvPr id="11" name="Text 9"/>
          <p:cNvSpPr/>
          <p:nvPr/>
        </p:nvSpPr>
        <p:spPr>
          <a:xfrm>
            <a:off x="274320" y="1975104"/>
            <a:ext cx="457200" cy="457200"/>
          </a:xfrm>
          <a:prstGeom prst="rect">
            <a:avLst/>
          </a:prstGeom>
          <a:noFill/>
          <a:ln/>
        </p:spPr>
        <p:txBody>
          <a:bodyPr wrap="square"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822960" y="1901952"/>
            <a:ext cx="3657600" cy="667512"/>
          </a:xfrm>
          <a:prstGeom prst="roundRect">
            <a:avLst>
              <a:gd name="adj" fmla="val 10959"/>
            </a:avLst>
          </a:prstGeom>
          <a:solidFill>
            <a:srgbClr val="1A3A5C"/>
          </a:solidFill>
          <a:ln/>
        </p:spPr>
      </p:sp>
      <p:sp>
        <p:nvSpPr>
          <p:cNvPr id="13" name="Text 11"/>
          <p:cNvSpPr/>
          <p:nvPr/>
        </p:nvSpPr>
        <p:spPr>
          <a:xfrm>
            <a:off x="914400" y="1938528"/>
            <a:ext cx="3474720" cy="256032"/>
          </a:xfrm>
          <a:prstGeom prst="rect">
            <a:avLst/>
          </a:prstGeom>
          <a:noFill/>
          <a:ln/>
        </p:spPr>
        <p:txBody>
          <a:bodyPr wrap="square" rtlCol="0" anchor="ctr"/>
          <a:lstStyle/>
          <a:p>
            <a:pPr indent="0" marL="0">
              <a:buNone/>
            </a:pPr>
            <a:r>
              <a:rPr lang="en-US" sz="1200" b="1" dirty="0">
                <a:solidFill>
                  <a:srgbClr val="00B4D8"/>
                </a:solidFill>
                <a:latin typeface="Courier New" pitchFamily="34" charset="0"/>
                <a:ea typeface="Courier New" pitchFamily="34" charset="-122"/>
                <a:cs typeface="Courier New" pitchFamily="34" charset="-120"/>
              </a:rPr>
              <a:t>renderMenu()</a:t>
            </a:r>
            <a:endParaRPr lang="en-US" sz="1200" dirty="0"/>
          </a:p>
        </p:txBody>
      </p:sp>
      <p:sp>
        <p:nvSpPr>
          <p:cNvPr id="14" name="Text 12"/>
          <p:cNvSpPr/>
          <p:nvPr/>
        </p:nvSpPr>
        <p:spPr>
          <a:xfrm>
            <a:off x="914400" y="2212848"/>
            <a:ext cx="3474720" cy="292608"/>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Tampilkan kartu produk per kategori dengan tombol Add to Cart</a:t>
            </a:r>
            <a:endParaRPr lang="en-US" sz="900" dirty="0"/>
          </a:p>
        </p:txBody>
      </p:sp>
      <p:sp>
        <p:nvSpPr>
          <p:cNvPr id="15" name="Shape 13"/>
          <p:cNvSpPr/>
          <p:nvPr/>
        </p:nvSpPr>
        <p:spPr>
          <a:xfrm>
            <a:off x="502920" y="2432304"/>
            <a:ext cx="0" cy="228600"/>
          </a:xfrm>
          <a:prstGeom prst="line">
            <a:avLst/>
          </a:prstGeom>
          <a:noFill/>
          <a:ln w="19050">
            <a:solidFill>
              <a:srgbClr val="00B4D8"/>
            </a:solidFill>
            <a:prstDash val="solid"/>
          </a:ln>
        </p:spPr>
      </p:sp>
      <p:sp>
        <p:nvSpPr>
          <p:cNvPr id="16" name="Shape 14"/>
          <p:cNvSpPr/>
          <p:nvPr/>
        </p:nvSpPr>
        <p:spPr>
          <a:xfrm>
            <a:off x="274320" y="2734056"/>
            <a:ext cx="457200" cy="457200"/>
          </a:xfrm>
          <a:prstGeom prst="ellipse">
            <a:avLst/>
          </a:prstGeom>
          <a:solidFill>
            <a:srgbClr val="00B4D8"/>
          </a:solidFill>
          <a:ln/>
        </p:spPr>
      </p:sp>
      <p:sp>
        <p:nvSpPr>
          <p:cNvPr id="17" name="Text 15"/>
          <p:cNvSpPr/>
          <p:nvPr/>
        </p:nvSpPr>
        <p:spPr>
          <a:xfrm>
            <a:off x="274320" y="2734056"/>
            <a:ext cx="457200" cy="457200"/>
          </a:xfrm>
          <a:prstGeom prst="rect">
            <a:avLst/>
          </a:prstGeom>
          <a:noFill/>
          <a:ln/>
        </p:spPr>
        <p:txBody>
          <a:bodyPr wrap="square"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822960" y="2660904"/>
            <a:ext cx="3657600" cy="667512"/>
          </a:xfrm>
          <a:prstGeom prst="roundRect">
            <a:avLst>
              <a:gd name="adj" fmla="val 10959"/>
            </a:avLst>
          </a:prstGeom>
          <a:solidFill>
            <a:srgbClr val="1A3A5C"/>
          </a:solidFill>
          <a:ln/>
        </p:spPr>
      </p:sp>
      <p:sp>
        <p:nvSpPr>
          <p:cNvPr id="19" name="Text 17"/>
          <p:cNvSpPr/>
          <p:nvPr/>
        </p:nvSpPr>
        <p:spPr>
          <a:xfrm>
            <a:off x="914400" y="2697480"/>
            <a:ext cx="3474720" cy="256032"/>
          </a:xfrm>
          <a:prstGeom prst="rect">
            <a:avLst/>
          </a:prstGeom>
          <a:noFill/>
          <a:ln/>
        </p:spPr>
        <p:txBody>
          <a:bodyPr wrap="square" rtlCol="0" anchor="ctr"/>
          <a:lstStyle/>
          <a:p>
            <a:pPr indent="0" marL="0">
              <a:buNone/>
            </a:pPr>
            <a:r>
              <a:rPr lang="en-US" sz="1200" b="1" dirty="0">
                <a:solidFill>
                  <a:srgbClr val="00B4D8"/>
                </a:solidFill>
                <a:latin typeface="Courier New" pitchFamily="34" charset="0"/>
                <a:ea typeface="Courier New" pitchFamily="34" charset="-122"/>
                <a:cs typeface="Courier New" pitchFamily="34" charset="-120"/>
              </a:rPr>
              <a:t>addToCart()</a:t>
            </a:r>
            <a:endParaRPr lang="en-US" sz="1200" dirty="0"/>
          </a:p>
        </p:txBody>
      </p:sp>
      <p:sp>
        <p:nvSpPr>
          <p:cNvPr id="20" name="Text 18"/>
          <p:cNvSpPr/>
          <p:nvPr/>
        </p:nvSpPr>
        <p:spPr>
          <a:xfrm>
            <a:off x="914400" y="2971800"/>
            <a:ext cx="3474720" cy="292608"/>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Simpan item ke object cart{} di memory &amp; persist ke localStorage</a:t>
            </a:r>
            <a:endParaRPr lang="en-US" sz="900" dirty="0"/>
          </a:p>
        </p:txBody>
      </p:sp>
      <p:sp>
        <p:nvSpPr>
          <p:cNvPr id="21" name="Shape 19"/>
          <p:cNvSpPr/>
          <p:nvPr/>
        </p:nvSpPr>
        <p:spPr>
          <a:xfrm>
            <a:off x="502920" y="3191256"/>
            <a:ext cx="0" cy="228600"/>
          </a:xfrm>
          <a:prstGeom prst="line">
            <a:avLst/>
          </a:prstGeom>
          <a:noFill/>
          <a:ln w="19050">
            <a:solidFill>
              <a:srgbClr val="00B4D8"/>
            </a:solidFill>
            <a:prstDash val="solid"/>
          </a:ln>
        </p:spPr>
      </p:sp>
      <p:sp>
        <p:nvSpPr>
          <p:cNvPr id="22" name="Shape 20"/>
          <p:cNvSpPr/>
          <p:nvPr/>
        </p:nvSpPr>
        <p:spPr>
          <a:xfrm>
            <a:off x="274320" y="3493008"/>
            <a:ext cx="457200" cy="457200"/>
          </a:xfrm>
          <a:prstGeom prst="ellipse">
            <a:avLst/>
          </a:prstGeom>
          <a:solidFill>
            <a:srgbClr val="00B4D8"/>
          </a:solidFill>
          <a:ln/>
        </p:spPr>
      </p:sp>
      <p:sp>
        <p:nvSpPr>
          <p:cNvPr id="23" name="Text 21"/>
          <p:cNvSpPr/>
          <p:nvPr/>
        </p:nvSpPr>
        <p:spPr>
          <a:xfrm>
            <a:off x="274320" y="3493008"/>
            <a:ext cx="457200" cy="457200"/>
          </a:xfrm>
          <a:prstGeom prst="rect">
            <a:avLst/>
          </a:prstGeom>
          <a:noFill/>
          <a:ln/>
        </p:spPr>
        <p:txBody>
          <a:bodyPr wrap="square"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4</a:t>
            </a:r>
            <a:endParaRPr lang="en-US" sz="1300" dirty="0"/>
          </a:p>
        </p:txBody>
      </p:sp>
      <p:sp>
        <p:nvSpPr>
          <p:cNvPr id="24" name="Shape 22"/>
          <p:cNvSpPr/>
          <p:nvPr/>
        </p:nvSpPr>
        <p:spPr>
          <a:xfrm>
            <a:off x="822960" y="3419856"/>
            <a:ext cx="3657600" cy="667512"/>
          </a:xfrm>
          <a:prstGeom prst="roundRect">
            <a:avLst>
              <a:gd name="adj" fmla="val 10959"/>
            </a:avLst>
          </a:prstGeom>
          <a:solidFill>
            <a:srgbClr val="1A3A5C"/>
          </a:solidFill>
          <a:ln/>
        </p:spPr>
      </p:sp>
      <p:sp>
        <p:nvSpPr>
          <p:cNvPr id="25" name="Text 23"/>
          <p:cNvSpPr/>
          <p:nvPr/>
        </p:nvSpPr>
        <p:spPr>
          <a:xfrm>
            <a:off x="914400" y="3456432"/>
            <a:ext cx="3474720" cy="256032"/>
          </a:xfrm>
          <a:prstGeom prst="rect">
            <a:avLst/>
          </a:prstGeom>
          <a:noFill/>
          <a:ln/>
        </p:spPr>
        <p:txBody>
          <a:bodyPr wrap="square" rtlCol="0" anchor="ctr"/>
          <a:lstStyle/>
          <a:p>
            <a:pPr indent="0" marL="0">
              <a:buNone/>
            </a:pPr>
            <a:r>
              <a:rPr lang="en-US" sz="1200" b="1" dirty="0">
                <a:solidFill>
                  <a:srgbClr val="00B4D8"/>
                </a:solidFill>
                <a:latin typeface="Courier New" pitchFamily="34" charset="0"/>
                <a:ea typeface="Courier New" pitchFamily="34" charset="-122"/>
                <a:cs typeface="Courier New" pitchFamily="34" charset="-120"/>
              </a:rPr>
              <a:t>renderCart()</a:t>
            </a:r>
            <a:endParaRPr lang="en-US" sz="1200" dirty="0"/>
          </a:p>
        </p:txBody>
      </p:sp>
      <p:sp>
        <p:nvSpPr>
          <p:cNvPr id="26" name="Text 24"/>
          <p:cNvSpPr/>
          <p:nvPr/>
        </p:nvSpPr>
        <p:spPr>
          <a:xfrm>
            <a:off x="914400" y="3730752"/>
            <a:ext cx="3474720" cy="292608"/>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Tampilkan isi keranjang di offcanvas dengan qty &amp; subtotal</a:t>
            </a:r>
            <a:endParaRPr lang="en-US" sz="900" dirty="0"/>
          </a:p>
        </p:txBody>
      </p:sp>
      <p:sp>
        <p:nvSpPr>
          <p:cNvPr id="27" name="Shape 25"/>
          <p:cNvSpPr/>
          <p:nvPr/>
        </p:nvSpPr>
        <p:spPr>
          <a:xfrm>
            <a:off x="502920" y="3950208"/>
            <a:ext cx="0" cy="228600"/>
          </a:xfrm>
          <a:prstGeom prst="line">
            <a:avLst/>
          </a:prstGeom>
          <a:noFill/>
          <a:ln w="19050">
            <a:solidFill>
              <a:srgbClr val="00B4D8"/>
            </a:solidFill>
            <a:prstDash val="solid"/>
          </a:ln>
        </p:spPr>
      </p:sp>
      <p:sp>
        <p:nvSpPr>
          <p:cNvPr id="28" name="Shape 26"/>
          <p:cNvSpPr/>
          <p:nvPr/>
        </p:nvSpPr>
        <p:spPr>
          <a:xfrm>
            <a:off x="274320" y="4251960"/>
            <a:ext cx="457200" cy="457200"/>
          </a:xfrm>
          <a:prstGeom prst="ellipse">
            <a:avLst/>
          </a:prstGeom>
          <a:solidFill>
            <a:srgbClr val="00B4D8"/>
          </a:solidFill>
          <a:ln/>
        </p:spPr>
      </p:sp>
      <p:sp>
        <p:nvSpPr>
          <p:cNvPr id="29" name="Text 27"/>
          <p:cNvSpPr/>
          <p:nvPr/>
        </p:nvSpPr>
        <p:spPr>
          <a:xfrm>
            <a:off x="274320" y="4251960"/>
            <a:ext cx="457200" cy="457200"/>
          </a:xfrm>
          <a:prstGeom prst="rect">
            <a:avLst/>
          </a:prstGeom>
          <a:noFill/>
          <a:ln/>
        </p:spPr>
        <p:txBody>
          <a:bodyPr wrap="square"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5</a:t>
            </a:r>
            <a:endParaRPr lang="en-US" sz="1300" dirty="0"/>
          </a:p>
        </p:txBody>
      </p:sp>
      <p:sp>
        <p:nvSpPr>
          <p:cNvPr id="30" name="Shape 28"/>
          <p:cNvSpPr/>
          <p:nvPr/>
        </p:nvSpPr>
        <p:spPr>
          <a:xfrm>
            <a:off x="822960" y="4178808"/>
            <a:ext cx="3657600" cy="667512"/>
          </a:xfrm>
          <a:prstGeom prst="roundRect">
            <a:avLst>
              <a:gd name="adj" fmla="val 10959"/>
            </a:avLst>
          </a:prstGeom>
          <a:solidFill>
            <a:srgbClr val="1A3A5C"/>
          </a:solidFill>
          <a:ln/>
        </p:spPr>
      </p:sp>
      <p:sp>
        <p:nvSpPr>
          <p:cNvPr id="31" name="Text 29"/>
          <p:cNvSpPr/>
          <p:nvPr/>
        </p:nvSpPr>
        <p:spPr>
          <a:xfrm>
            <a:off x="914400" y="4215384"/>
            <a:ext cx="3474720" cy="256032"/>
          </a:xfrm>
          <a:prstGeom prst="rect">
            <a:avLst/>
          </a:prstGeom>
          <a:noFill/>
          <a:ln/>
        </p:spPr>
        <p:txBody>
          <a:bodyPr wrap="square" rtlCol="0" anchor="ctr"/>
          <a:lstStyle/>
          <a:p>
            <a:pPr indent="0" marL="0">
              <a:buNone/>
            </a:pPr>
            <a:r>
              <a:rPr lang="en-US" sz="1200" b="1" dirty="0">
                <a:solidFill>
                  <a:srgbClr val="00B4D8"/>
                </a:solidFill>
                <a:latin typeface="Courier New" pitchFamily="34" charset="0"/>
                <a:ea typeface="Courier New" pitchFamily="34" charset="-122"/>
                <a:cs typeface="Courier New" pitchFamily="34" charset="-120"/>
              </a:rPr>
              <a:t>calculateTotals()</a:t>
            </a:r>
            <a:endParaRPr lang="en-US" sz="1200" dirty="0"/>
          </a:p>
        </p:txBody>
      </p:sp>
      <p:sp>
        <p:nvSpPr>
          <p:cNvPr id="32" name="Text 30"/>
          <p:cNvSpPr/>
          <p:nvPr/>
        </p:nvSpPr>
        <p:spPr>
          <a:xfrm>
            <a:off x="914400" y="4489704"/>
            <a:ext cx="3474720" cy="292608"/>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Hitung subtotal → diskon 10% → DPP → PPN 10% → total</a:t>
            </a:r>
            <a:endParaRPr lang="en-US" sz="900" dirty="0"/>
          </a:p>
        </p:txBody>
      </p:sp>
      <p:sp>
        <p:nvSpPr>
          <p:cNvPr id="33" name="Shape 31"/>
          <p:cNvSpPr/>
          <p:nvPr/>
        </p:nvSpPr>
        <p:spPr>
          <a:xfrm>
            <a:off x="4937760" y="1143000"/>
            <a:ext cx="3931920" cy="2286000"/>
          </a:xfrm>
          <a:prstGeom prst="roundRect">
            <a:avLst>
              <a:gd name="adj" fmla="val 4800"/>
            </a:avLst>
          </a:prstGeom>
          <a:solidFill>
            <a:srgbClr val="1A3A5C"/>
          </a:solidFill>
          <a:ln/>
          <a:effectLst>
            <a:outerShdw sx="100000" sy="100000" kx="0" ky="0" algn="bl" rotWithShape="0" blurRad="101600" dist="38100" dir="2700000">
              <a:srgbClr val="000000">
                <a:alpha val="18000"/>
              </a:srgbClr>
            </a:outerShdw>
          </a:effectLst>
        </p:spPr>
      </p:sp>
      <p:sp>
        <p:nvSpPr>
          <p:cNvPr id="34" name="Text 32"/>
          <p:cNvSpPr/>
          <p:nvPr/>
        </p:nvSpPr>
        <p:spPr>
          <a:xfrm>
            <a:off x="5120640" y="1234440"/>
            <a:ext cx="3566160" cy="41148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 Rumus Kalkulasi</a:t>
            </a:r>
            <a:endParaRPr lang="en-US" sz="1400" dirty="0"/>
          </a:p>
        </p:txBody>
      </p:sp>
      <p:sp>
        <p:nvSpPr>
          <p:cNvPr id="35" name="Text 33"/>
          <p:cNvSpPr/>
          <p:nvPr/>
        </p:nvSpPr>
        <p:spPr>
          <a:xfrm>
            <a:off x="5120640" y="169164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Subtotal :</a:t>
            </a:r>
            <a:endParaRPr lang="en-US" sz="1000" dirty="0"/>
          </a:p>
        </p:txBody>
      </p:sp>
      <p:sp>
        <p:nvSpPr>
          <p:cNvPr id="36" name="Text 34"/>
          <p:cNvSpPr/>
          <p:nvPr/>
        </p:nvSpPr>
        <p:spPr>
          <a:xfrm>
            <a:off x="6355080" y="169164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Σ (price × qty)</a:t>
            </a:r>
            <a:endParaRPr lang="en-US" sz="1000" dirty="0"/>
          </a:p>
        </p:txBody>
      </p:sp>
      <p:sp>
        <p:nvSpPr>
          <p:cNvPr id="37" name="Text 35"/>
          <p:cNvSpPr/>
          <p:nvPr/>
        </p:nvSpPr>
        <p:spPr>
          <a:xfrm>
            <a:off x="5120640" y="196596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Diskon :</a:t>
            </a:r>
            <a:endParaRPr lang="en-US" sz="1000" dirty="0"/>
          </a:p>
        </p:txBody>
      </p:sp>
      <p:sp>
        <p:nvSpPr>
          <p:cNvPr id="38" name="Text 36"/>
          <p:cNvSpPr/>
          <p:nvPr/>
        </p:nvSpPr>
        <p:spPr>
          <a:xfrm>
            <a:off x="6355080" y="196596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Subtotal × 10%</a:t>
            </a:r>
            <a:endParaRPr lang="en-US" sz="1000" dirty="0"/>
          </a:p>
        </p:txBody>
      </p:sp>
      <p:sp>
        <p:nvSpPr>
          <p:cNvPr id="39" name="Text 37"/>
          <p:cNvSpPr/>
          <p:nvPr/>
        </p:nvSpPr>
        <p:spPr>
          <a:xfrm>
            <a:off x="5120640" y="224028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DPP :</a:t>
            </a:r>
            <a:endParaRPr lang="en-US" sz="1000" dirty="0"/>
          </a:p>
        </p:txBody>
      </p:sp>
      <p:sp>
        <p:nvSpPr>
          <p:cNvPr id="40" name="Text 38"/>
          <p:cNvSpPr/>
          <p:nvPr/>
        </p:nvSpPr>
        <p:spPr>
          <a:xfrm>
            <a:off x="6355080" y="224028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Subtotal − Diskon</a:t>
            </a:r>
            <a:endParaRPr lang="en-US" sz="1000" dirty="0"/>
          </a:p>
        </p:txBody>
      </p:sp>
      <p:sp>
        <p:nvSpPr>
          <p:cNvPr id="41" name="Text 39"/>
          <p:cNvSpPr/>
          <p:nvPr/>
        </p:nvSpPr>
        <p:spPr>
          <a:xfrm>
            <a:off x="5120640" y="251460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PPN :</a:t>
            </a:r>
            <a:endParaRPr lang="en-US" sz="1000" dirty="0"/>
          </a:p>
        </p:txBody>
      </p:sp>
      <p:sp>
        <p:nvSpPr>
          <p:cNvPr id="42" name="Text 40"/>
          <p:cNvSpPr/>
          <p:nvPr/>
        </p:nvSpPr>
        <p:spPr>
          <a:xfrm>
            <a:off x="6355080" y="251460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DPP × 10%</a:t>
            </a:r>
            <a:endParaRPr lang="en-US" sz="1000" dirty="0"/>
          </a:p>
        </p:txBody>
      </p:sp>
      <p:sp>
        <p:nvSpPr>
          <p:cNvPr id="43" name="Text 41"/>
          <p:cNvSpPr/>
          <p:nvPr/>
        </p:nvSpPr>
        <p:spPr>
          <a:xfrm>
            <a:off x="5120640" y="278892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Total :</a:t>
            </a:r>
            <a:endParaRPr lang="en-US" sz="1000" dirty="0"/>
          </a:p>
        </p:txBody>
      </p:sp>
      <p:sp>
        <p:nvSpPr>
          <p:cNvPr id="44" name="Text 42"/>
          <p:cNvSpPr/>
          <p:nvPr/>
        </p:nvSpPr>
        <p:spPr>
          <a:xfrm>
            <a:off x="6355080" y="278892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DPP + PPN</a:t>
            </a:r>
            <a:endParaRPr lang="en-US" sz="1000" dirty="0"/>
          </a:p>
        </p:txBody>
      </p:sp>
      <p:sp>
        <p:nvSpPr>
          <p:cNvPr id="45" name="Text 43"/>
          <p:cNvSpPr/>
          <p:nvPr/>
        </p:nvSpPr>
        <p:spPr>
          <a:xfrm>
            <a:off x="5120640" y="3063240"/>
            <a:ext cx="1188720" cy="23774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Kembalian :</a:t>
            </a:r>
            <a:endParaRPr lang="en-US" sz="1000" dirty="0"/>
          </a:p>
        </p:txBody>
      </p:sp>
      <p:sp>
        <p:nvSpPr>
          <p:cNvPr id="46" name="Text 44"/>
          <p:cNvSpPr/>
          <p:nvPr/>
        </p:nvSpPr>
        <p:spPr>
          <a:xfrm>
            <a:off x="6355080" y="3063240"/>
            <a:ext cx="2286000" cy="237744"/>
          </a:xfrm>
          <a:prstGeom prst="rect">
            <a:avLst/>
          </a:prstGeom>
          <a:noFill/>
          <a:ln/>
        </p:spPr>
        <p:txBody>
          <a:bodyPr wrap="square"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Bayar − Total</a:t>
            </a:r>
            <a:endParaRPr lang="en-US" sz="1000" dirty="0"/>
          </a:p>
        </p:txBody>
      </p:sp>
      <p:sp>
        <p:nvSpPr>
          <p:cNvPr id="47" name="Shape 45"/>
          <p:cNvSpPr/>
          <p:nvPr/>
        </p:nvSpPr>
        <p:spPr>
          <a:xfrm>
            <a:off x="4937760" y="3566160"/>
            <a:ext cx="3931920" cy="1325880"/>
          </a:xfrm>
          <a:prstGeom prst="roundRect">
            <a:avLst>
              <a:gd name="adj" fmla="val 8276"/>
            </a:avLst>
          </a:prstGeom>
          <a:solidFill>
            <a:srgbClr val="1A3A5C"/>
          </a:solidFill>
          <a:ln/>
          <a:effectLst>
            <a:outerShdw sx="100000" sy="100000" kx="0" ky="0" algn="bl" rotWithShape="0" blurRad="101600" dist="38100" dir="2700000">
              <a:srgbClr val="000000">
                <a:alpha val="18000"/>
              </a:srgbClr>
            </a:outerShdw>
          </a:effectLst>
        </p:spPr>
      </p:sp>
      <p:sp>
        <p:nvSpPr>
          <p:cNvPr id="48" name="Text 46"/>
          <p:cNvSpPr/>
          <p:nvPr/>
        </p:nvSpPr>
        <p:spPr>
          <a:xfrm>
            <a:off x="5120640" y="3657600"/>
            <a:ext cx="356616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 Persistensi Cart</a:t>
            </a:r>
            <a:endParaRPr lang="en-US" sz="1400" dirty="0"/>
          </a:p>
        </p:txBody>
      </p:sp>
      <p:sp>
        <p:nvSpPr>
          <p:cNvPr id="49" name="Text 47"/>
          <p:cNvSpPr/>
          <p:nvPr/>
        </p:nvSpPr>
        <p:spPr>
          <a:xfrm>
            <a:off x="5120640" y="4059936"/>
            <a:ext cx="3566160" cy="731520"/>
          </a:xfrm>
          <a:prstGeom prst="rect">
            <a:avLst/>
          </a:prstGeom>
          <a:noFill/>
          <a:ln/>
        </p:spPr>
        <p:txBody>
          <a:bodyPr wrap="square" rtlCol="0" anchor="ctr"/>
          <a:lstStyle/>
          <a:p>
            <a:pPr marL="342900" indent="-342900">
              <a:buSzPct val="100000"/>
              <a:buChar char="•"/>
            </a:pPr>
            <a:r>
              <a:rPr lang="en-US" sz="1000" dirty="0">
                <a:solidFill>
                  <a:srgbClr val="E8F4FD"/>
                </a:solidFill>
                <a:latin typeface="Calibri" pitchFamily="34" charset="0"/>
                <a:ea typeface="Calibri" pitchFamily="34" charset="-122"/>
                <a:cs typeface="Calibri" pitchFamily="34" charset="-120"/>
              </a:rPr>
              <a:t>cart{} di memory: { id: {nama, price, qty, subtotal} }</a:t>
            </a:r>
            <a:endParaRPr lang="en-US" sz="1000" dirty="0"/>
          </a:p>
          <a:p>
            <a:pPr marL="342900" indent="-342900">
              <a:buSzPct val="100000"/>
              <a:buChar char="•"/>
            </a:pPr>
            <a:r>
              <a:rPr lang="en-US" sz="1000" dirty="0">
                <a:solidFill>
                  <a:srgbClr val="E8F4FD"/>
                </a:solidFill>
                <a:latin typeface="Calibri" pitchFamily="34" charset="0"/>
                <a:ea typeface="Calibri" pitchFamily="34" charset="-122"/>
                <a:cs typeface="Calibri" pitchFamily="34" charset="-120"/>
              </a:rPr>
              <a:t>Disimpan ke localStorage key 'kasir_cart'</a:t>
            </a:r>
            <a:endParaRPr lang="en-US" sz="1000" dirty="0"/>
          </a:p>
          <a:p>
            <a:pPr marL="342900" indent="-342900">
              <a:buSzPct val="100000"/>
              <a:buChar char="•"/>
            </a:pPr>
            <a:r>
              <a:rPr lang="en-US" sz="1000" dirty="0">
                <a:solidFill>
                  <a:srgbClr val="E8F4FD"/>
                </a:solidFill>
                <a:latin typeface="Calibri" pitchFamily="34" charset="0"/>
                <a:ea typeface="Calibri" pitchFamily="34" charset="-122"/>
                <a:cs typeface="Calibri" pitchFamily="34" charset="-120"/>
              </a:rPr>
              <a:t>Di-load ulang saat halaman dibuka kembali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B981"/>
          </a:solidFill>
          <a:ln/>
        </p:spPr>
      </p:sp>
      <p:sp>
        <p:nvSpPr>
          <p:cNvPr id="3" name="Text 1"/>
          <p:cNvSpPr/>
          <p:nvPr/>
        </p:nvSpPr>
        <p:spPr>
          <a:xfrm>
            <a:off x="365760" y="91440"/>
            <a:ext cx="841248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ALUR LOGIKA — TAMBAH PRODUK</a:t>
            </a:r>
            <a:endParaRPr lang="en-US" sz="2200" dirty="0"/>
          </a:p>
        </p:txBody>
      </p:sp>
      <p:sp>
        <p:nvSpPr>
          <p:cNvPr id="4" name="Shape 2"/>
          <p:cNvSpPr/>
          <p:nvPr/>
        </p:nvSpPr>
        <p:spPr>
          <a:xfrm>
            <a:off x="274320" y="960120"/>
            <a:ext cx="4114800" cy="475488"/>
          </a:xfrm>
          <a:prstGeom prst="roundRect">
            <a:avLst>
              <a:gd name="adj" fmla="val 19231"/>
            </a:avLst>
          </a:prstGeom>
          <a:solidFill>
            <a:srgbClr val="0077B6"/>
          </a:solidFill>
          <a:ln/>
          <a:effectLst>
            <a:outerShdw sx="100000" sy="100000" kx="0" ky="0" algn="bl" rotWithShape="0" blurRad="50800" dist="25400" dir="2700000">
              <a:srgbClr val="000000">
                <a:alpha val="10000"/>
              </a:srgbClr>
            </a:outerShdw>
          </a:effectLst>
        </p:spPr>
      </p:sp>
      <p:sp>
        <p:nvSpPr>
          <p:cNvPr id="5" name="Text 3"/>
          <p:cNvSpPr/>
          <p:nvPr/>
        </p:nvSpPr>
        <p:spPr>
          <a:xfrm>
            <a:off x="411480" y="960120"/>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Auth Guard</a:t>
            </a:r>
            <a:endParaRPr lang="en-US" sz="1100" dirty="0"/>
          </a:p>
        </p:txBody>
      </p:sp>
      <p:sp>
        <p:nvSpPr>
          <p:cNvPr id="6" name="Text 4"/>
          <p:cNvSpPr/>
          <p:nvPr/>
        </p:nvSpPr>
        <p:spPr>
          <a:xfrm>
            <a:off x="1737360" y="960120"/>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Cek isLoggedIn() → redirect ke login jika belum login</a:t>
            </a:r>
            <a:endParaRPr lang="en-US" sz="1000" dirty="0"/>
          </a:p>
        </p:txBody>
      </p:sp>
      <p:sp>
        <p:nvSpPr>
          <p:cNvPr id="7" name="Shape 5"/>
          <p:cNvSpPr/>
          <p:nvPr/>
        </p:nvSpPr>
        <p:spPr>
          <a:xfrm>
            <a:off x="2331720" y="1435608"/>
            <a:ext cx="0" cy="82296"/>
          </a:xfrm>
          <a:prstGeom prst="line">
            <a:avLst/>
          </a:prstGeom>
          <a:noFill/>
          <a:ln w="19050">
            <a:solidFill>
              <a:srgbClr val="0077B6"/>
            </a:solidFill>
            <a:prstDash val="solid"/>
          </a:ln>
        </p:spPr>
      </p:sp>
      <p:sp>
        <p:nvSpPr>
          <p:cNvPr id="8" name="Shape 6"/>
          <p:cNvSpPr/>
          <p:nvPr/>
        </p:nvSpPr>
        <p:spPr>
          <a:xfrm>
            <a:off x="274320" y="1517904"/>
            <a:ext cx="4114800" cy="475488"/>
          </a:xfrm>
          <a:prstGeom prst="roundRect">
            <a:avLst>
              <a:gd name="adj" fmla="val 19231"/>
            </a:avLst>
          </a:prstGeom>
          <a:solidFill>
            <a:srgbClr val="0077B6"/>
          </a:solidFill>
          <a:ln/>
          <a:effectLst>
            <a:outerShdw sx="100000" sy="100000" kx="0" ky="0" algn="bl" rotWithShape="0" blurRad="50800" dist="25400" dir="2700000">
              <a:srgbClr val="000000">
                <a:alpha val="10000"/>
              </a:srgbClr>
            </a:outerShdw>
          </a:effectLst>
        </p:spPr>
      </p:sp>
      <p:sp>
        <p:nvSpPr>
          <p:cNvPr id="9" name="Text 7"/>
          <p:cNvSpPr/>
          <p:nvPr/>
        </p:nvSpPr>
        <p:spPr>
          <a:xfrm>
            <a:off x="411480" y="1517904"/>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Input Form</a:t>
            </a:r>
            <a:endParaRPr lang="en-US" sz="1100" dirty="0"/>
          </a:p>
        </p:txBody>
      </p:sp>
      <p:sp>
        <p:nvSpPr>
          <p:cNvPr id="10" name="Text 8"/>
          <p:cNvSpPr/>
          <p:nvPr/>
        </p:nvSpPr>
        <p:spPr>
          <a:xfrm>
            <a:off x="1737360" y="1517904"/>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Nama produk, harga, kategori, URL gambar (opsional)</a:t>
            </a:r>
            <a:endParaRPr lang="en-US" sz="1000" dirty="0"/>
          </a:p>
        </p:txBody>
      </p:sp>
      <p:sp>
        <p:nvSpPr>
          <p:cNvPr id="11" name="Shape 9"/>
          <p:cNvSpPr/>
          <p:nvPr/>
        </p:nvSpPr>
        <p:spPr>
          <a:xfrm>
            <a:off x="2331720" y="1993392"/>
            <a:ext cx="0" cy="82296"/>
          </a:xfrm>
          <a:prstGeom prst="line">
            <a:avLst/>
          </a:prstGeom>
          <a:noFill/>
          <a:ln w="19050">
            <a:solidFill>
              <a:srgbClr val="0077B6"/>
            </a:solidFill>
            <a:prstDash val="solid"/>
          </a:ln>
        </p:spPr>
      </p:sp>
      <p:sp>
        <p:nvSpPr>
          <p:cNvPr id="12" name="Shape 10"/>
          <p:cNvSpPr/>
          <p:nvPr/>
        </p:nvSpPr>
        <p:spPr>
          <a:xfrm>
            <a:off x="274320" y="2075688"/>
            <a:ext cx="4114800" cy="475488"/>
          </a:xfrm>
          <a:prstGeom prst="roundRect">
            <a:avLst>
              <a:gd name="adj" fmla="val 19231"/>
            </a:avLst>
          </a:prstGeom>
          <a:solidFill>
            <a:srgbClr val="F59E0B"/>
          </a:solidFill>
          <a:ln/>
          <a:effectLst>
            <a:outerShdw sx="100000" sy="100000" kx="0" ky="0" algn="bl" rotWithShape="0" blurRad="50800" dist="25400" dir="2700000">
              <a:srgbClr val="000000">
                <a:alpha val="10000"/>
              </a:srgbClr>
            </a:outerShdw>
          </a:effectLst>
        </p:spPr>
      </p:sp>
      <p:sp>
        <p:nvSpPr>
          <p:cNvPr id="13" name="Text 11"/>
          <p:cNvSpPr/>
          <p:nvPr/>
        </p:nvSpPr>
        <p:spPr>
          <a:xfrm>
            <a:off x="411480" y="2075688"/>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Validasi</a:t>
            </a:r>
            <a:endParaRPr lang="en-US" sz="1100" dirty="0"/>
          </a:p>
        </p:txBody>
      </p:sp>
      <p:sp>
        <p:nvSpPr>
          <p:cNvPr id="14" name="Text 12"/>
          <p:cNvSpPr/>
          <p:nvPr/>
        </p:nvSpPr>
        <p:spPr>
          <a:xfrm>
            <a:off x="1737360" y="2075688"/>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Nama min 2 char · Harga &gt; 0 · Kategori wajib diisi</a:t>
            </a:r>
            <a:endParaRPr lang="en-US" sz="1000" dirty="0"/>
          </a:p>
        </p:txBody>
      </p:sp>
      <p:sp>
        <p:nvSpPr>
          <p:cNvPr id="15" name="Shape 13"/>
          <p:cNvSpPr/>
          <p:nvPr/>
        </p:nvSpPr>
        <p:spPr>
          <a:xfrm>
            <a:off x="2331720" y="2551176"/>
            <a:ext cx="0" cy="82296"/>
          </a:xfrm>
          <a:prstGeom prst="line">
            <a:avLst/>
          </a:prstGeom>
          <a:noFill/>
          <a:ln w="19050">
            <a:solidFill>
              <a:srgbClr val="0077B6"/>
            </a:solidFill>
            <a:prstDash val="solid"/>
          </a:ln>
        </p:spPr>
      </p:sp>
      <p:sp>
        <p:nvSpPr>
          <p:cNvPr id="16" name="Shape 14"/>
          <p:cNvSpPr/>
          <p:nvPr/>
        </p:nvSpPr>
        <p:spPr>
          <a:xfrm>
            <a:off x="274320" y="2633472"/>
            <a:ext cx="4114800" cy="475488"/>
          </a:xfrm>
          <a:prstGeom prst="roundRect">
            <a:avLst>
              <a:gd name="adj" fmla="val 19231"/>
            </a:avLst>
          </a:prstGeom>
          <a:solidFill>
            <a:srgbClr val="F59E0B"/>
          </a:solidFill>
          <a:ln/>
          <a:effectLst>
            <a:outerShdw sx="100000" sy="100000" kx="0" ky="0" algn="bl" rotWithShape="0" blurRad="50800" dist="25400" dir="2700000">
              <a:srgbClr val="000000">
                <a:alpha val="10000"/>
              </a:srgbClr>
            </a:outerShdw>
          </a:effectLst>
        </p:spPr>
      </p:sp>
      <p:sp>
        <p:nvSpPr>
          <p:cNvPr id="17" name="Text 15"/>
          <p:cNvSpPr/>
          <p:nvPr/>
        </p:nvSpPr>
        <p:spPr>
          <a:xfrm>
            <a:off x="411480" y="2633472"/>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Cek Duplikat</a:t>
            </a:r>
            <a:endParaRPr lang="en-US" sz="1100" dirty="0"/>
          </a:p>
        </p:txBody>
      </p:sp>
      <p:sp>
        <p:nvSpPr>
          <p:cNvPr id="18" name="Text 16"/>
          <p:cNvSpPr/>
          <p:nvPr/>
        </p:nvSpPr>
        <p:spPr>
          <a:xfrm>
            <a:off x="1737360" y="2633472"/>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Cek nama+kategori tidak ada di kasir_custom_products</a:t>
            </a:r>
            <a:endParaRPr lang="en-US" sz="1000" dirty="0"/>
          </a:p>
        </p:txBody>
      </p:sp>
      <p:sp>
        <p:nvSpPr>
          <p:cNvPr id="19" name="Shape 17"/>
          <p:cNvSpPr/>
          <p:nvPr/>
        </p:nvSpPr>
        <p:spPr>
          <a:xfrm>
            <a:off x="2331720" y="3108960"/>
            <a:ext cx="0" cy="82296"/>
          </a:xfrm>
          <a:prstGeom prst="line">
            <a:avLst/>
          </a:prstGeom>
          <a:noFill/>
          <a:ln w="19050">
            <a:solidFill>
              <a:srgbClr val="0077B6"/>
            </a:solidFill>
            <a:prstDash val="solid"/>
          </a:ln>
        </p:spPr>
      </p:sp>
      <p:sp>
        <p:nvSpPr>
          <p:cNvPr id="20" name="Shape 18"/>
          <p:cNvSpPr/>
          <p:nvPr/>
        </p:nvSpPr>
        <p:spPr>
          <a:xfrm>
            <a:off x="274320" y="3191256"/>
            <a:ext cx="4114800" cy="475488"/>
          </a:xfrm>
          <a:prstGeom prst="roundRect">
            <a:avLst>
              <a:gd name="adj" fmla="val 19231"/>
            </a:avLst>
          </a:prstGeom>
          <a:solidFill>
            <a:srgbClr val="0F1B2D"/>
          </a:solidFill>
          <a:ln/>
          <a:effectLst>
            <a:outerShdw sx="100000" sy="100000" kx="0" ky="0" algn="bl" rotWithShape="0" blurRad="50800" dist="25400" dir="2700000">
              <a:srgbClr val="000000">
                <a:alpha val="10000"/>
              </a:srgbClr>
            </a:outerShdw>
          </a:effectLst>
        </p:spPr>
      </p:sp>
      <p:sp>
        <p:nvSpPr>
          <p:cNvPr id="21" name="Text 19"/>
          <p:cNvSpPr/>
          <p:nvPr/>
        </p:nvSpPr>
        <p:spPr>
          <a:xfrm>
            <a:off x="411480" y="3191256"/>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generateId()</a:t>
            </a:r>
            <a:endParaRPr lang="en-US" sz="1100" dirty="0"/>
          </a:p>
        </p:txBody>
      </p:sp>
      <p:sp>
        <p:nvSpPr>
          <p:cNvPr id="22" name="Text 20"/>
          <p:cNvSpPr/>
          <p:nvPr/>
        </p:nvSpPr>
        <p:spPr>
          <a:xfrm>
            <a:off x="1737360" y="3191256"/>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ID unik: 'custom_' + timestamp + random</a:t>
            </a:r>
            <a:endParaRPr lang="en-US" sz="1000" dirty="0"/>
          </a:p>
        </p:txBody>
      </p:sp>
      <p:sp>
        <p:nvSpPr>
          <p:cNvPr id="23" name="Shape 21"/>
          <p:cNvSpPr/>
          <p:nvPr/>
        </p:nvSpPr>
        <p:spPr>
          <a:xfrm>
            <a:off x="2331720" y="3666744"/>
            <a:ext cx="0" cy="82296"/>
          </a:xfrm>
          <a:prstGeom prst="line">
            <a:avLst/>
          </a:prstGeom>
          <a:noFill/>
          <a:ln w="19050">
            <a:solidFill>
              <a:srgbClr val="0077B6"/>
            </a:solidFill>
            <a:prstDash val="solid"/>
          </a:ln>
        </p:spPr>
      </p:sp>
      <p:sp>
        <p:nvSpPr>
          <p:cNvPr id="24" name="Shape 22"/>
          <p:cNvSpPr/>
          <p:nvPr/>
        </p:nvSpPr>
        <p:spPr>
          <a:xfrm>
            <a:off x="274320" y="3749040"/>
            <a:ext cx="4114800" cy="475488"/>
          </a:xfrm>
          <a:prstGeom prst="roundRect">
            <a:avLst>
              <a:gd name="adj" fmla="val 19231"/>
            </a:avLst>
          </a:prstGeom>
          <a:solidFill>
            <a:srgbClr val="10B981"/>
          </a:solidFill>
          <a:ln/>
          <a:effectLst>
            <a:outerShdw sx="100000" sy="100000" kx="0" ky="0" algn="bl" rotWithShape="0" blurRad="50800" dist="25400" dir="2700000">
              <a:srgbClr val="000000">
                <a:alpha val="10000"/>
              </a:srgbClr>
            </a:outerShdw>
          </a:effectLst>
        </p:spPr>
      </p:sp>
      <p:sp>
        <p:nvSpPr>
          <p:cNvPr id="25" name="Text 23"/>
          <p:cNvSpPr/>
          <p:nvPr/>
        </p:nvSpPr>
        <p:spPr>
          <a:xfrm>
            <a:off x="411480" y="3749040"/>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saveCustomProducts()</a:t>
            </a:r>
            <a:endParaRPr lang="en-US" sz="1100" dirty="0"/>
          </a:p>
        </p:txBody>
      </p:sp>
      <p:sp>
        <p:nvSpPr>
          <p:cNvPr id="26" name="Text 24"/>
          <p:cNvSpPr/>
          <p:nvPr/>
        </p:nvSpPr>
        <p:spPr>
          <a:xfrm>
            <a:off x="1737360" y="3749040"/>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Push ke array, simpan ke localStorage</a:t>
            </a:r>
            <a:endParaRPr lang="en-US" sz="1000" dirty="0"/>
          </a:p>
        </p:txBody>
      </p:sp>
      <p:sp>
        <p:nvSpPr>
          <p:cNvPr id="27" name="Shape 25"/>
          <p:cNvSpPr/>
          <p:nvPr/>
        </p:nvSpPr>
        <p:spPr>
          <a:xfrm>
            <a:off x="2331720" y="4224528"/>
            <a:ext cx="0" cy="82296"/>
          </a:xfrm>
          <a:prstGeom prst="line">
            <a:avLst/>
          </a:prstGeom>
          <a:noFill/>
          <a:ln w="19050">
            <a:solidFill>
              <a:srgbClr val="0077B6"/>
            </a:solidFill>
            <a:prstDash val="solid"/>
          </a:ln>
        </p:spPr>
      </p:sp>
      <p:sp>
        <p:nvSpPr>
          <p:cNvPr id="28" name="Shape 26"/>
          <p:cNvSpPr/>
          <p:nvPr/>
        </p:nvSpPr>
        <p:spPr>
          <a:xfrm>
            <a:off x="274320" y="4306824"/>
            <a:ext cx="4114800" cy="475488"/>
          </a:xfrm>
          <a:prstGeom prst="roundRect">
            <a:avLst>
              <a:gd name="adj" fmla="val 19231"/>
            </a:avLst>
          </a:prstGeom>
          <a:solidFill>
            <a:srgbClr val="10B981"/>
          </a:solidFill>
          <a:ln/>
          <a:effectLst>
            <a:outerShdw sx="100000" sy="100000" kx="0" ky="0" algn="bl" rotWithShape="0" blurRad="50800" dist="25400" dir="2700000">
              <a:srgbClr val="000000">
                <a:alpha val="10000"/>
              </a:srgbClr>
            </a:outerShdw>
          </a:effectLst>
        </p:spPr>
      </p:sp>
      <p:sp>
        <p:nvSpPr>
          <p:cNvPr id="29" name="Text 27"/>
          <p:cNvSpPr/>
          <p:nvPr/>
        </p:nvSpPr>
        <p:spPr>
          <a:xfrm>
            <a:off x="411480" y="4306824"/>
            <a:ext cx="137160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renderProductTable()</a:t>
            </a:r>
            <a:endParaRPr lang="en-US" sz="1100" dirty="0"/>
          </a:p>
        </p:txBody>
      </p:sp>
      <p:sp>
        <p:nvSpPr>
          <p:cNvPr id="30" name="Text 28"/>
          <p:cNvSpPr/>
          <p:nvPr/>
        </p:nvSpPr>
        <p:spPr>
          <a:xfrm>
            <a:off x="1737360" y="4306824"/>
            <a:ext cx="2560320" cy="47548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Tampilkan tabel produk + toast notifikasi sukses</a:t>
            </a:r>
            <a:endParaRPr lang="en-US" sz="1000" dirty="0"/>
          </a:p>
        </p:txBody>
      </p:sp>
      <p:sp>
        <p:nvSpPr>
          <p:cNvPr id="31" name="Shape 29"/>
          <p:cNvSpPr/>
          <p:nvPr/>
        </p:nvSpPr>
        <p:spPr>
          <a:xfrm>
            <a:off x="4754880" y="960120"/>
            <a:ext cx="4114800" cy="3886200"/>
          </a:xfrm>
          <a:prstGeom prst="roundRect">
            <a:avLst>
              <a:gd name="adj" fmla="val 2824"/>
            </a:avLst>
          </a:prstGeom>
          <a:solidFill>
            <a:srgbClr val="1E2D3D"/>
          </a:solidFill>
          <a:ln/>
          <a:effectLst>
            <a:outerShdw sx="100000" sy="100000" kx="0" ky="0" algn="bl" rotWithShape="0" blurRad="101600" dist="38100" dir="2700000">
              <a:srgbClr val="000000">
                <a:alpha val="18000"/>
              </a:srgbClr>
            </a:outerShdw>
          </a:effectLst>
        </p:spPr>
      </p:sp>
      <p:sp>
        <p:nvSpPr>
          <p:cNvPr id="32" name="Text 30"/>
          <p:cNvSpPr/>
          <p:nvPr/>
        </p:nvSpPr>
        <p:spPr>
          <a:xfrm>
            <a:off x="4892040" y="1051560"/>
            <a:ext cx="3840480" cy="36576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addProduct.js — key logic</a:t>
            </a:r>
            <a:endParaRPr lang="en-US" sz="1200" dirty="0"/>
          </a:p>
        </p:txBody>
      </p:sp>
      <p:sp>
        <p:nvSpPr>
          <p:cNvPr id="33" name="Text 31"/>
          <p:cNvSpPr/>
          <p:nvPr/>
        </p:nvSpPr>
        <p:spPr>
          <a:xfrm>
            <a:off x="4937760" y="1481328"/>
            <a:ext cx="3749040" cy="182880"/>
          </a:xfrm>
          <a:prstGeom prst="rect">
            <a:avLst/>
          </a:prstGeom>
          <a:noFill/>
          <a:ln/>
        </p:spPr>
        <p:txBody>
          <a:bodyPr wrap="square" rtlCol="0" anchor="ctr"/>
          <a:lstStyle/>
          <a:p>
            <a:pPr indent="0" marL="0">
              <a:buNone/>
            </a:pPr>
            <a:r>
              <a:rPr lang="en-US" sz="900" dirty="0">
                <a:solidFill>
                  <a:srgbClr val="569CD6"/>
                </a:solidFill>
                <a:latin typeface="Courier New" pitchFamily="34" charset="0"/>
                <a:ea typeface="Courier New" pitchFamily="34" charset="-122"/>
                <a:cs typeface="Courier New" pitchFamily="34" charset="-120"/>
              </a:rPr>
              <a:t>function generateId() {</a:t>
            </a:r>
            <a:endParaRPr lang="en-US" sz="900" dirty="0"/>
          </a:p>
        </p:txBody>
      </p:sp>
      <p:sp>
        <p:nvSpPr>
          <p:cNvPr id="34" name="Text 32"/>
          <p:cNvSpPr/>
          <p:nvPr/>
        </p:nvSpPr>
        <p:spPr>
          <a:xfrm>
            <a:off x="4937760" y="166420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return 'custom_'</a:t>
            </a:r>
            <a:endParaRPr lang="en-US" sz="900" dirty="0"/>
          </a:p>
        </p:txBody>
      </p:sp>
      <p:sp>
        <p:nvSpPr>
          <p:cNvPr id="35" name="Text 33"/>
          <p:cNvSpPr/>
          <p:nvPr/>
        </p:nvSpPr>
        <p:spPr>
          <a:xfrm>
            <a:off x="4937760" y="184708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 Date.now()</a:t>
            </a:r>
            <a:endParaRPr lang="en-US" sz="900" dirty="0"/>
          </a:p>
        </p:txBody>
      </p:sp>
      <p:sp>
        <p:nvSpPr>
          <p:cNvPr id="36" name="Text 34"/>
          <p:cNvSpPr/>
          <p:nvPr/>
        </p:nvSpPr>
        <p:spPr>
          <a:xfrm>
            <a:off x="4937760" y="202996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 '_' + Math.random();</a:t>
            </a:r>
            <a:endParaRPr lang="en-US" sz="900" dirty="0"/>
          </a:p>
        </p:txBody>
      </p:sp>
      <p:sp>
        <p:nvSpPr>
          <p:cNvPr id="37" name="Text 35"/>
          <p:cNvSpPr/>
          <p:nvPr/>
        </p:nvSpPr>
        <p:spPr>
          <a:xfrm>
            <a:off x="4937760" y="221284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38" name="Text 36"/>
          <p:cNvSpPr/>
          <p:nvPr/>
        </p:nvSpPr>
        <p:spPr>
          <a:xfrm>
            <a:off x="4937760" y="2395728"/>
            <a:ext cx="3749040" cy="182880"/>
          </a:xfrm>
          <a:prstGeom prst="rect">
            <a:avLst/>
          </a:prstGeom>
          <a:noFill/>
          <a:ln/>
        </p:spPr>
        <p:txBody>
          <a:bodyPr wrap="square" rtlCol="0" anchor="ctr"/>
          <a:lstStyle/>
          <a:p>
            <a:pPr indent="0" marL="0">
              <a:buNone/>
            </a:pPr>
            <a:endParaRPr lang="en-US" sz="900" dirty="0"/>
          </a:p>
        </p:txBody>
      </p:sp>
      <p:sp>
        <p:nvSpPr>
          <p:cNvPr id="39" name="Text 37"/>
          <p:cNvSpPr/>
          <p:nvPr/>
        </p:nvSpPr>
        <p:spPr>
          <a:xfrm>
            <a:off x="4937760" y="2578608"/>
            <a:ext cx="3749040" cy="182880"/>
          </a:xfrm>
          <a:prstGeom prst="rect">
            <a:avLst/>
          </a:prstGeom>
          <a:noFill/>
          <a:ln/>
        </p:spPr>
        <p:txBody>
          <a:bodyPr wrap="square"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Cek duplikat nama + kategori</a:t>
            </a:r>
            <a:endParaRPr lang="en-US" sz="900" dirty="0"/>
          </a:p>
        </p:txBody>
      </p:sp>
      <p:sp>
        <p:nvSpPr>
          <p:cNvPr id="40" name="Text 38"/>
          <p:cNvSpPr/>
          <p:nvPr/>
        </p:nvSpPr>
        <p:spPr>
          <a:xfrm>
            <a:off x="4937760" y="2761488"/>
            <a:ext cx="3749040" cy="182880"/>
          </a:xfrm>
          <a:prstGeom prst="rect">
            <a:avLst/>
          </a:prstGeom>
          <a:noFill/>
          <a:ln/>
        </p:spPr>
        <p:txBody>
          <a:bodyPr wrap="square" rtlCol="0" anchor="ctr"/>
          <a:lstStyle/>
          <a:p>
            <a:pPr indent="0" marL="0">
              <a:buNone/>
            </a:pPr>
            <a:r>
              <a:rPr lang="en-US" sz="900" dirty="0">
                <a:solidFill>
                  <a:srgbClr val="569CD6"/>
                </a:solidFill>
                <a:latin typeface="Courier New" pitchFamily="34" charset="0"/>
                <a:ea typeface="Courier New" pitchFamily="34" charset="-122"/>
                <a:cs typeface="Courier New" pitchFamily="34" charset="-120"/>
              </a:rPr>
              <a:t>const isDuplicate = products</a:t>
            </a:r>
            <a:endParaRPr lang="en-US" sz="900" dirty="0"/>
          </a:p>
        </p:txBody>
      </p:sp>
      <p:sp>
        <p:nvSpPr>
          <p:cNvPr id="41" name="Text 39"/>
          <p:cNvSpPr/>
          <p:nvPr/>
        </p:nvSpPr>
        <p:spPr>
          <a:xfrm>
            <a:off x="4937760" y="294436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.some(p =&gt;</a:t>
            </a:r>
            <a:endParaRPr lang="en-US" sz="900" dirty="0"/>
          </a:p>
        </p:txBody>
      </p:sp>
      <p:sp>
        <p:nvSpPr>
          <p:cNvPr id="42" name="Text 40"/>
          <p:cNvSpPr/>
          <p:nvPr/>
        </p:nvSpPr>
        <p:spPr>
          <a:xfrm>
            <a:off x="4937760" y="312724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p.nama === nama &amp;&amp;</a:t>
            </a:r>
            <a:endParaRPr lang="en-US" sz="900" dirty="0"/>
          </a:p>
        </p:txBody>
      </p:sp>
      <p:sp>
        <p:nvSpPr>
          <p:cNvPr id="43" name="Text 41"/>
          <p:cNvSpPr/>
          <p:nvPr/>
        </p:nvSpPr>
        <p:spPr>
          <a:xfrm>
            <a:off x="4937760" y="331012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p.category === category</a:t>
            </a:r>
            <a:endParaRPr lang="en-US" sz="900" dirty="0"/>
          </a:p>
        </p:txBody>
      </p:sp>
      <p:sp>
        <p:nvSpPr>
          <p:cNvPr id="44" name="Text 42"/>
          <p:cNvSpPr/>
          <p:nvPr/>
        </p:nvSpPr>
        <p:spPr>
          <a:xfrm>
            <a:off x="4937760" y="349300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45" name="Text 43"/>
          <p:cNvSpPr/>
          <p:nvPr/>
        </p:nvSpPr>
        <p:spPr>
          <a:xfrm>
            <a:off x="4937760" y="3675888"/>
            <a:ext cx="3749040" cy="182880"/>
          </a:xfrm>
          <a:prstGeom prst="rect">
            <a:avLst/>
          </a:prstGeom>
          <a:noFill/>
          <a:ln/>
        </p:spPr>
        <p:txBody>
          <a:bodyPr wrap="square" rtlCol="0" anchor="ctr"/>
          <a:lstStyle/>
          <a:p>
            <a:pPr indent="0" marL="0">
              <a:buNone/>
            </a:pPr>
            <a:endParaRPr lang="en-US" sz="900" dirty="0"/>
          </a:p>
        </p:txBody>
      </p:sp>
      <p:sp>
        <p:nvSpPr>
          <p:cNvPr id="46" name="Text 44"/>
          <p:cNvSpPr/>
          <p:nvPr/>
        </p:nvSpPr>
        <p:spPr>
          <a:xfrm>
            <a:off x="4937760" y="3858768"/>
            <a:ext cx="3749040" cy="182880"/>
          </a:xfrm>
          <a:prstGeom prst="rect">
            <a:avLst/>
          </a:prstGeom>
          <a:noFill/>
          <a:ln/>
        </p:spPr>
        <p:txBody>
          <a:bodyPr wrap="square"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Simpan &amp; render</a:t>
            </a:r>
            <a:endParaRPr lang="en-US" sz="900" dirty="0"/>
          </a:p>
        </p:txBody>
      </p:sp>
      <p:sp>
        <p:nvSpPr>
          <p:cNvPr id="47" name="Text 45"/>
          <p:cNvSpPr/>
          <p:nvPr/>
        </p:nvSpPr>
        <p:spPr>
          <a:xfrm>
            <a:off x="4937760" y="404164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products.push(newProduct);</a:t>
            </a:r>
            <a:endParaRPr lang="en-US" sz="900" dirty="0"/>
          </a:p>
        </p:txBody>
      </p:sp>
      <p:sp>
        <p:nvSpPr>
          <p:cNvPr id="48" name="Text 46"/>
          <p:cNvSpPr/>
          <p:nvPr/>
        </p:nvSpPr>
        <p:spPr>
          <a:xfrm>
            <a:off x="4937760" y="422452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saveCustomProducts(products);</a:t>
            </a:r>
            <a:endParaRPr lang="en-US" sz="900" dirty="0"/>
          </a:p>
        </p:txBody>
      </p:sp>
      <p:sp>
        <p:nvSpPr>
          <p:cNvPr id="49" name="Text 47"/>
          <p:cNvSpPr/>
          <p:nvPr/>
        </p:nvSpPr>
        <p:spPr>
          <a:xfrm>
            <a:off x="4937760" y="4407408"/>
            <a:ext cx="3749040" cy="182880"/>
          </a:xfrm>
          <a:prstGeom prst="rect">
            <a:avLst/>
          </a:prstGeom>
          <a:noFill/>
          <a:ln/>
        </p:spPr>
        <p:txBody>
          <a:bodyPr wrap="square"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renderProductTable();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HASIL RUNNING — HALAMAN LOGIN</a:t>
            </a:r>
            <a:endParaRPr lang="en-US" sz="2200" dirty="0"/>
          </a:p>
        </p:txBody>
      </p:sp>
      <p:sp>
        <p:nvSpPr>
          <p:cNvPr id="3" name="Shape 1"/>
          <p:cNvSpPr/>
          <p:nvPr/>
        </p:nvSpPr>
        <p:spPr>
          <a:xfrm>
            <a:off x="457200" y="914400"/>
            <a:ext cx="8229600" cy="3931920"/>
          </a:xfrm>
          <a:prstGeom prst="roundRect">
            <a:avLst>
              <a:gd name="adj" fmla="val 4186"/>
            </a:avLst>
          </a:prstGeom>
          <a:solidFill>
            <a:srgbClr val="0D1B2A"/>
          </a:solidFill>
          <a:ln/>
          <a:effectLst>
            <a:outerShdw sx="100000" sy="100000" kx="0" ky="0" algn="bl" rotWithShape="0" blurRad="101600" dist="38100" dir="2700000">
              <a:srgbClr val="000000">
                <a:alpha val="18000"/>
              </a:srgbClr>
            </a:outerShdw>
          </a:effectLst>
        </p:spPr>
      </p:sp>
      <p:sp>
        <p:nvSpPr>
          <p:cNvPr id="4" name="Shape 2"/>
          <p:cNvSpPr/>
          <p:nvPr/>
        </p:nvSpPr>
        <p:spPr>
          <a:xfrm>
            <a:off x="548640" y="1005840"/>
            <a:ext cx="3840480" cy="3749040"/>
          </a:xfrm>
          <a:prstGeom prst="roundRect">
            <a:avLst>
              <a:gd name="adj" fmla="val 3659"/>
            </a:avLst>
          </a:prstGeom>
          <a:solidFill>
            <a:srgbClr val="1A3A5C"/>
          </a:solidFill>
          <a:ln/>
        </p:spPr>
      </p:sp>
      <p:sp>
        <p:nvSpPr>
          <p:cNvPr id="5" name="Text 3"/>
          <p:cNvSpPr/>
          <p:nvPr/>
        </p:nvSpPr>
        <p:spPr>
          <a:xfrm>
            <a:off x="731520" y="1371600"/>
            <a:ext cx="3474720" cy="54864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MASUK</a:t>
            </a:r>
            <a:endParaRPr lang="en-US" sz="2400" dirty="0"/>
          </a:p>
        </p:txBody>
      </p:sp>
      <p:sp>
        <p:nvSpPr>
          <p:cNvPr id="6" name="Shape 4"/>
          <p:cNvSpPr/>
          <p:nvPr/>
        </p:nvSpPr>
        <p:spPr>
          <a:xfrm>
            <a:off x="822960" y="2011680"/>
            <a:ext cx="3291840" cy="502920"/>
          </a:xfrm>
          <a:prstGeom prst="roundRect">
            <a:avLst>
              <a:gd name="adj" fmla="val 14545"/>
            </a:avLst>
          </a:prstGeom>
          <a:solidFill>
            <a:srgbClr val="1E3A5F"/>
          </a:solidFill>
          <a:ln/>
        </p:spPr>
      </p:sp>
      <p:sp>
        <p:nvSpPr>
          <p:cNvPr id="7" name="Text 5"/>
          <p:cNvSpPr/>
          <p:nvPr/>
        </p:nvSpPr>
        <p:spPr>
          <a:xfrm>
            <a:off x="868680" y="2029968"/>
            <a:ext cx="914400" cy="228600"/>
          </a:xfrm>
          <a:prstGeom prst="rect">
            <a:avLst/>
          </a:prstGeom>
          <a:noFill/>
          <a:ln/>
        </p:spPr>
        <p:txBody>
          <a:bodyPr wrap="square" rtlCol="0" anchor="ctr"/>
          <a:lstStyle/>
          <a:p>
            <a:pPr indent="0" marL="0">
              <a:buNone/>
            </a:pPr>
            <a:r>
              <a:rPr lang="en-US" sz="900" dirty="0">
                <a:solidFill>
                  <a:srgbClr val="00B4D8"/>
                </a:solidFill>
                <a:latin typeface="Calibri" pitchFamily="34" charset="0"/>
                <a:ea typeface="Calibri" pitchFamily="34" charset="-122"/>
                <a:cs typeface="Calibri" pitchFamily="34" charset="-120"/>
              </a:rPr>
              <a:t>Email</a:t>
            </a:r>
            <a:endParaRPr lang="en-US" sz="900" dirty="0"/>
          </a:p>
        </p:txBody>
      </p:sp>
      <p:sp>
        <p:nvSpPr>
          <p:cNvPr id="8" name="Text 6"/>
          <p:cNvSpPr/>
          <p:nvPr/>
        </p:nvSpPr>
        <p:spPr>
          <a:xfrm>
            <a:off x="868680" y="2231136"/>
            <a:ext cx="3108960" cy="219456"/>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zhaenx@yeswehack.ninja</a:t>
            </a:r>
            <a:endParaRPr lang="en-US" sz="1000" dirty="0"/>
          </a:p>
        </p:txBody>
      </p:sp>
      <p:sp>
        <p:nvSpPr>
          <p:cNvPr id="9" name="Shape 7"/>
          <p:cNvSpPr/>
          <p:nvPr/>
        </p:nvSpPr>
        <p:spPr>
          <a:xfrm>
            <a:off x="822960" y="2633472"/>
            <a:ext cx="3291840" cy="502920"/>
          </a:xfrm>
          <a:prstGeom prst="roundRect">
            <a:avLst>
              <a:gd name="adj" fmla="val 14545"/>
            </a:avLst>
          </a:prstGeom>
          <a:solidFill>
            <a:srgbClr val="1E3A5F"/>
          </a:solidFill>
          <a:ln/>
        </p:spPr>
      </p:sp>
      <p:sp>
        <p:nvSpPr>
          <p:cNvPr id="10" name="Text 8"/>
          <p:cNvSpPr/>
          <p:nvPr/>
        </p:nvSpPr>
        <p:spPr>
          <a:xfrm>
            <a:off x="868680" y="2651760"/>
            <a:ext cx="1097280" cy="228600"/>
          </a:xfrm>
          <a:prstGeom prst="rect">
            <a:avLst/>
          </a:prstGeom>
          <a:noFill/>
          <a:ln/>
        </p:spPr>
        <p:txBody>
          <a:bodyPr wrap="square" rtlCol="0" anchor="ctr"/>
          <a:lstStyle/>
          <a:p>
            <a:pPr indent="0" marL="0">
              <a:buNone/>
            </a:pPr>
            <a:r>
              <a:rPr lang="en-US" sz="900" dirty="0">
                <a:solidFill>
                  <a:srgbClr val="00B4D8"/>
                </a:solidFill>
                <a:latin typeface="Calibri" pitchFamily="34" charset="0"/>
                <a:ea typeface="Calibri" pitchFamily="34" charset="-122"/>
                <a:cs typeface="Calibri" pitchFamily="34" charset="-120"/>
              </a:rPr>
              <a:t>Password</a:t>
            </a:r>
            <a:endParaRPr lang="en-US" sz="900" dirty="0"/>
          </a:p>
        </p:txBody>
      </p:sp>
      <p:sp>
        <p:nvSpPr>
          <p:cNvPr id="11" name="Text 9"/>
          <p:cNvSpPr/>
          <p:nvPr/>
        </p:nvSpPr>
        <p:spPr>
          <a:xfrm>
            <a:off x="868680" y="2852928"/>
            <a:ext cx="3108960" cy="21945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1280160" y="3291840"/>
            <a:ext cx="2377440" cy="502920"/>
          </a:xfrm>
          <a:prstGeom prst="roundRect">
            <a:avLst>
              <a:gd name="adj" fmla="val 18182"/>
            </a:avLst>
          </a:prstGeom>
          <a:solidFill>
            <a:srgbClr val="00B4D8"/>
          </a:solidFill>
          <a:ln/>
          <a:effectLst>
            <a:outerShdw sx="100000" sy="100000" kx="0" ky="0" algn="bl" rotWithShape="0" blurRad="50800" dist="25400" dir="2700000">
              <a:srgbClr val="000000">
                <a:alpha val="10000"/>
              </a:srgbClr>
            </a:outerShdw>
          </a:effectLst>
        </p:spPr>
      </p:sp>
      <p:sp>
        <p:nvSpPr>
          <p:cNvPr id="13" name="Text 11"/>
          <p:cNvSpPr/>
          <p:nvPr/>
        </p:nvSpPr>
        <p:spPr>
          <a:xfrm>
            <a:off x="1280160" y="3291840"/>
            <a:ext cx="2377440" cy="502920"/>
          </a:xfrm>
          <a:prstGeom prst="rect">
            <a:avLst/>
          </a:prstGeom>
          <a:noFill/>
          <a:ln/>
        </p:spPr>
        <p:txBody>
          <a:bodyPr wrap="square"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LOGIN</a:t>
            </a:r>
            <a:endParaRPr lang="en-US" sz="1400" dirty="0"/>
          </a:p>
        </p:txBody>
      </p:sp>
      <p:sp>
        <p:nvSpPr>
          <p:cNvPr id="14" name="Shape 12"/>
          <p:cNvSpPr/>
          <p:nvPr/>
        </p:nvSpPr>
        <p:spPr>
          <a:xfrm>
            <a:off x="4572000" y="1005840"/>
            <a:ext cx="3840480" cy="3749040"/>
          </a:xfrm>
          <a:prstGeom prst="roundRect">
            <a:avLst>
              <a:gd name="adj" fmla="val 3659"/>
            </a:avLst>
          </a:prstGeom>
          <a:solidFill>
            <a:srgbClr val="071A2E"/>
          </a:solidFill>
          <a:ln/>
        </p:spPr>
      </p:sp>
      <p:sp>
        <p:nvSpPr>
          <p:cNvPr id="15" name="Text 13"/>
          <p:cNvSpPr/>
          <p:nvPr/>
        </p:nvSpPr>
        <p:spPr>
          <a:xfrm>
            <a:off x="4663440" y="1417320"/>
            <a:ext cx="365760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WELCOME BACK...!</a:t>
            </a:r>
            <a:endParaRPr lang="en-US" sz="1600" dirty="0"/>
          </a:p>
        </p:txBody>
      </p:sp>
      <p:sp>
        <p:nvSpPr>
          <p:cNvPr id="16" name="Text 14"/>
          <p:cNvSpPr/>
          <p:nvPr/>
        </p:nvSpPr>
        <p:spPr>
          <a:xfrm>
            <a:off x="4663440" y="1874520"/>
            <a:ext cx="365760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#ENJOY WITH ME..! #ZHAENX404</a:t>
            </a:r>
            <a:endParaRPr lang="en-US" sz="1000" dirty="0"/>
          </a:p>
        </p:txBody>
      </p:sp>
      <p:sp>
        <p:nvSpPr>
          <p:cNvPr id="17" name="Shape 15"/>
          <p:cNvSpPr/>
          <p:nvPr/>
        </p:nvSpPr>
        <p:spPr>
          <a:xfrm>
            <a:off x="4709160" y="2286000"/>
            <a:ext cx="3566160" cy="822960"/>
          </a:xfrm>
          <a:prstGeom prst="roundRect">
            <a:avLst>
              <a:gd name="adj" fmla="val 8889"/>
            </a:avLst>
          </a:prstGeom>
          <a:solidFill>
            <a:srgbClr val="1A3A5C"/>
          </a:solidFill>
          <a:ln/>
        </p:spPr>
      </p:sp>
      <p:sp>
        <p:nvSpPr>
          <p:cNvPr id="18" name="Text 16"/>
          <p:cNvSpPr/>
          <p:nvPr/>
        </p:nvSpPr>
        <p:spPr>
          <a:xfrm>
            <a:off x="4800600" y="2331720"/>
            <a:ext cx="3383280" cy="731520"/>
          </a:xfrm>
          <a:prstGeom prst="rect">
            <a:avLst/>
          </a:prstGeom>
          <a:noFill/>
          <a:ln/>
        </p:spPr>
        <p:txBody>
          <a:bodyPr wrap="square" rtlCol="0" anchor="ctr"/>
          <a:lstStyle/>
          <a:p>
            <a:pPr algn="ctr" indent="0" marL="0">
              <a:buNone/>
            </a:pPr>
            <a:r>
              <a:rPr lang="en-US" sz="1000" i="1" dirty="0">
                <a:solidFill>
                  <a:srgbClr val="E8F4FD"/>
                </a:solidFill>
                <a:latin typeface="Calibri" pitchFamily="34" charset="0"/>
                <a:ea typeface="Calibri" pitchFamily="34" charset="-122"/>
                <a:cs typeface="Calibri" pitchFamily="34" charset="-120"/>
              </a:rPr>
              <a:t>"Jangan takut gagal. Takutlah untuk tidak mencoba."</a:t>
            </a:r>
            <a:endParaRPr lang="en-US" sz="1000" dirty="0"/>
          </a:p>
        </p:txBody>
      </p:sp>
      <p:sp>
        <p:nvSpPr>
          <p:cNvPr id="19" name="Shape 17"/>
          <p:cNvSpPr/>
          <p:nvPr/>
        </p:nvSpPr>
        <p:spPr>
          <a:xfrm>
            <a:off x="4892040" y="3246120"/>
            <a:ext cx="3200400" cy="411480"/>
          </a:xfrm>
          <a:prstGeom prst="roundRect">
            <a:avLst>
              <a:gd name="adj" fmla="val 17778"/>
            </a:avLst>
          </a:prstGeom>
          <a:solidFill>
            <a:srgbClr val="FFFFFF"/>
          </a:solidFill>
          <a:ln/>
          <a:effectLst>
            <a:outerShdw sx="100000" sy="100000" kx="0" ky="0" algn="bl" rotWithShape="0" blurRad="50800" dist="25400" dir="2700000">
              <a:srgbClr val="000000">
                <a:alpha val="10000"/>
              </a:srgbClr>
            </a:outerShdw>
          </a:effectLst>
        </p:spPr>
      </p:sp>
      <p:sp>
        <p:nvSpPr>
          <p:cNvPr id="20" name="Text 18"/>
          <p:cNvSpPr/>
          <p:nvPr/>
        </p:nvSpPr>
        <p:spPr>
          <a:xfrm>
            <a:off x="4892040" y="3246120"/>
            <a:ext cx="3200400" cy="41148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G  Continue with Google</a:t>
            </a:r>
            <a:endParaRPr lang="en-US" sz="1000" dirty="0"/>
          </a:p>
        </p:txBody>
      </p:sp>
      <p:sp>
        <p:nvSpPr>
          <p:cNvPr id="21" name="Shape 19"/>
          <p:cNvSpPr/>
          <p:nvPr/>
        </p:nvSpPr>
        <p:spPr>
          <a:xfrm>
            <a:off x="4892040" y="3730752"/>
            <a:ext cx="3200400" cy="411480"/>
          </a:xfrm>
          <a:prstGeom prst="roundRect">
            <a:avLst>
              <a:gd name="adj" fmla="val 17778"/>
            </a:avLst>
          </a:prstGeom>
          <a:solidFill>
            <a:srgbClr val="3B5998"/>
          </a:solidFill>
          <a:ln/>
        </p:spPr>
      </p:sp>
      <p:sp>
        <p:nvSpPr>
          <p:cNvPr id="22" name="Text 20"/>
          <p:cNvSpPr/>
          <p:nvPr/>
        </p:nvSpPr>
        <p:spPr>
          <a:xfrm>
            <a:off x="4892040" y="3730752"/>
            <a:ext cx="320040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  Continue with Facebook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sp>
        <p:nvSpPr>
          <p:cNvPr id="3" name="Text 1"/>
          <p:cNvSpPr/>
          <p:nvPr/>
        </p:nvSpPr>
        <p:spPr>
          <a:xfrm>
            <a:off x="365760" y="91440"/>
            <a:ext cx="841248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HASIL RUNNING — DASHBOARD KASIR</a:t>
            </a:r>
            <a:endParaRPr lang="en-US" sz="2200" dirty="0"/>
          </a:p>
        </p:txBody>
      </p:sp>
      <p:sp>
        <p:nvSpPr>
          <p:cNvPr id="4" name="Shape 2"/>
          <p:cNvSpPr/>
          <p:nvPr/>
        </p:nvSpPr>
        <p:spPr>
          <a:xfrm>
            <a:off x="274320" y="914400"/>
            <a:ext cx="8595360" cy="502920"/>
          </a:xfrm>
          <a:prstGeom prst="rect">
            <a:avLst/>
          </a:prstGeom>
          <a:solidFill>
            <a:srgbClr val="0F1B2D"/>
          </a:solidFill>
          <a:ln/>
        </p:spPr>
      </p:sp>
      <p:sp>
        <p:nvSpPr>
          <p:cNvPr id="5" name="Text 3"/>
          <p:cNvSpPr/>
          <p:nvPr/>
        </p:nvSpPr>
        <p:spPr>
          <a:xfrm>
            <a:off x="457200" y="914400"/>
            <a:ext cx="4572000" cy="5029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BSI   📚 KDK   Kelompok 5</a:t>
            </a:r>
            <a:endParaRPr lang="en-US" sz="1100" dirty="0"/>
          </a:p>
        </p:txBody>
      </p:sp>
      <p:sp>
        <p:nvSpPr>
          <p:cNvPr id="6" name="Shape 4"/>
          <p:cNvSpPr/>
          <p:nvPr/>
        </p:nvSpPr>
        <p:spPr>
          <a:xfrm>
            <a:off x="7315200" y="978408"/>
            <a:ext cx="1371600" cy="347472"/>
          </a:xfrm>
          <a:prstGeom prst="roundRect">
            <a:avLst>
              <a:gd name="adj" fmla="val 15789"/>
            </a:avLst>
          </a:prstGeom>
          <a:solidFill>
            <a:srgbClr val="DC2626"/>
          </a:solidFill>
          <a:ln/>
        </p:spPr>
      </p:sp>
      <p:sp>
        <p:nvSpPr>
          <p:cNvPr id="7" name="Text 5"/>
          <p:cNvSpPr/>
          <p:nvPr/>
        </p:nvSpPr>
        <p:spPr>
          <a:xfrm>
            <a:off x="7315200" y="978408"/>
            <a:ext cx="13716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LOGOUT</a:t>
            </a:r>
            <a:endParaRPr lang="en-US" sz="1000" dirty="0"/>
          </a:p>
        </p:txBody>
      </p:sp>
      <p:sp>
        <p:nvSpPr>
          <p:cNvPr id="8" name="Text 6"/>
          <p:cNvSpPr/>
          <p:nvPr/>
        </p:nvSpPr>
        <p:spPr>
          <a:xfrm>
            <a:off x="457200" y="1554480"/>
            <a:ext cx="8229600" cy="365760"/>
          </a:xfrm>
          <a:prstGeom prst="rect">
            <a:avLst/>
          </a:prstGeom>
          <a:noFill/>
          <a:ln/>
        </p:spPr>
        <p:txBody>
          <a:bodyPr wrap="square" rtlCol="0" anchor="ctr"/>
          <a:lstStyle/>
          <a:p>
            <a:pPr algn="ctr" indent="0" marL="0">
              <a:buNone/>
            </a:pPr>
            <a:r>
              <a:rPr lang="en-US" sz="1600" b="1" dirty="0">
                <a:solidFill>
                  <a:srgbClr val="0F1B2D"/>
                </a:solidFill>
                <a:latin typeface="Calibri" pitchFamily="34" charset="0"/>
                <a:ea typeface="Calibri" pitchFamily="34" charset="-122"/>
                <a:cs typeface="Calibri" pitchFamily="34" charset="-120"/>
              </a:rPr>
              <a:t>🍳  Makanan</a:t>
            </a:r>
            <a:endParaRPr lang="en-US" sz="1600" dirty="0"/>
          </a:p>
        </p:txBody>
      </p:sp>
      <p:sp>
        <p:nvSpPr>
          <p:cNvPr id="9" name="Shape 7"/>
          <p:cNvSpPr/>
          <p:nvPr/>
        </p:nvSpPr>
        <p:spPr>
          <a:xfrm>
            <a:off x="457200" y="2011680"/>
            <a:ext cx="2651760" cy="2286000"/>
          </a:xfrm>
          <a:prstGeom prst="roundRect">
            <a:avLst>
              <a:gd name="adj" fmla="val 4800"/>
            </a:avLst>
          </a:prstGeom>
          <a:solidFill>
            <a:srgbClr val="FFFFFF"/>
          </a:solidFill>
          <a:ln/>
          <a:effectLst>
            <a:outerShdw sx="100000" sy="100000" kx="0" ky="0" algn="bl" rotWithShape="0" blurRad="50800" dist="25400" dir="2700000">
              <a:srgbClr val="000000">
                <a:alpha val="10000"/>
              </a:srgbClr>
            </a:outerShdw>
          </a:effectLst>
        </p:spPr>
      </p:sp>
      <p:sp>
        <p:nvSpPr>
          <p:cNvPr id="10" name="Shape 8"/>
          <p:cNvSpPr/>
          <p:nvPr/>
        </p:nvSpPr>
        <p:spPr>
          <a:xfrm>
            <a:off x="594360" y="2148840"/>
            <a:ext cx="2377440" cy="1188720"/>
          </a:xfrm>
          <a:prstGeom prst="roundRect">
            <a:avLst>
              <a:gd name="adj" fmla="val 6154"/>
            </a:avLst>
          </a:prstGeom>
          <a:solidFill>
            <a:srgbClr val="E0F0FF"/>
          </a:solidFill>
          <a:ln/>
        </p:spPr>
      </p:sp>
      <p:sp>
        <p:nvSpPr>
          <p:cNvPr id="11" name="Text 9"/>
          <p:cNvSpPr/>
          <p:nvPr/>
        </p:nvSpPr>
        <p:spPr>
          <a:xfrm>
            <a:off x="594360" y="2148840"/>
            <a:ext cx="2377440" cy="11887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2" name="Text 10"/>
          <p:cNvSpPr/>
          <p:nvPr/>
        </p:nvSpPr>
        <p:spPr>
          <a:xfrm>
            <a:off x="457200" y="3401568"/>
            <a:ext cx="2651760" cy="32004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 Nasi Goreng ~</a:t>
            </a:r>
            <a:endParaRPr lang="en-US" sz="1100" dirty="0"/>
          </a:p>
        </p:txBody>
      </p:sp>
      <p:sp>
        <p:nvSpPr>
          <p:cNvPr id="13" name="Text 11"/>
          <p:cNvSpPr/>
          <p:nvPr/>
        </p:nvSpPr>
        <p:spPr>
          <a:xfrm>
            <a:off x="457200" y="3694176"/>
            <a:ext cx="2651760" cy="274320"/>
          </a:xfrm>
          <a:prstGeom prst="rect">
            <a:avLst/>
          </a:prstGeom>
          <a:noFill/>
          <a:ln/>
        </p:spPr>
        <p:txBody>
          <a:bodyPr wrap="square" rtlCol="0" anchor="ctr"/>
          <a:lstStyle/>
          <a:p>
            <a:pPr algn="ctr" indent="0" marL="0">
              <a:buNone/>
            </a:pPr>
            <a:r>
              <a:rPr lang="en-US" sz="1100" dirty="0">
                <a:solidFill>
                  <a:srgbClr val="0077B6"/>
                </a:solidFill>
                <a:latin typeface="Calibri" pitchFamily="34" charset="0"/>
                <a:ea typeface="Calibri" pitchFamily="34" charset="-122"/>
                <a:cs typeface="Calibri" pitchFamily="34" charset="-120"/>
              </a:rPr>
              <a:t>Rp 15.000</a:t>
            </a:r>
            <a:endParaRPr lang="en-US" sz="1100" dirty="0"/>
          </a:p>
        </p:txBody>
      </p:sp>
      <p:sp>
        <p:nvSpPr>
          <p:cNvPr id="14" name="Shape 12"/>
          <p:cNvSpPr/>
          <p:nvPr/>
        </p:nvSpPr>
        <p:spPr>
          <a:xfrm>
            <a:off x="960120" y="4005072"/>
            <a:ext cx="1645920" cy="256032"/>
          </a:xfrm>
          <a:prstGeom prst="roundRect">
            <a:avLst>
              <a:gd name="adj" fmla="val 21429"/>
            </a:avLst>
          </a:prstGeom>
          <a:solidFill>
            <a:srgbClr val="0077B6"/>
          </a:solidFill>
          <a:ln/>
        </p:spPr>
      </p:sp>
      <p:sp>
        <p:nvSpPr>
          <p:cNvPr id="15" name="Text 13"/>
          <p:cNvSpPr/>
          <p:nvPr/>
        </p:nvSpPr>
        <p:spPr>
          <a:xfrm>
            <a:off x="960120" y="4005072"/>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 to cart</a:t>
            </a:r>
            <a:endParaRPr lang="en-US" sz="900" dirty="0"/>
          </a:p>
        </p:txBody>
      </p:sp>
      <p:sp>
        <p:nvSpPr>
          <p:cNvPr id="16" name="Shape 14"/>
          <p:cNvSpPr/>
          <p:nvPr/>
        </p:nvSpPr>
        <p:spPr>
          <a:xfrm>
            <a:off x="3291840" y="2011680"/>
            <a:ext cx="2651760" cy="2286000"/>
          </a:xfrm>
          <a:prstGeom prst="roundRect">
            <a:avLst>
              <a:gd name="adj" fmla="val 4800"/>
            </a:avLst>
          </a:prstGeom>
          <a:solidFill>
            <a:srgbClr val="FFFFFF"/>
          </a:solidFill>
          <a:ln/>
          <a:effectLst>
            <a:outerShdw sx="100000" sy="100000" kx="0" ky="0" algn="bl" rotWithShape="0" blurRad="50800" dist="25400" dir="2700000">
              <a:srgbClr val="000000">
                <a:alpha val="10000"/>
              </a:srgbClr>
            </a:outerShdw>
          </a:effectLst>
        </p:spPr>
      </p:sp>
      <p:sp>
        <p:nvSpPr>
          <p:cNvPr id="17" name="Shape 15"/>
          <p:cNvSpPr/>
          <p:nvPr/>
        </p:nvSpPr>
        <p:spPr>
          <a:xfrm>
            <a:off x="3429000" y="2148840"/>
            <a:ext cx="2377440" cy="1188720"/>
          </a:xfrm>
          <a:prstGeom prst="roundRect">
            <a:avLst>
              <a:gd name="adj" fmla="val 6154"/>
            </a:avLst>
          </a:prstGeom>
          <a:solidFill>
            <a:srgbClr val="E0F0FF"/>
          </a:solidFill>
          <a:ln/>
        </p:spPr>
      </p:sp>
      <p:sp>
        <p:nvSpPr>
          <p:cNvPr id="18" name="Text 16"/>
          <p:cNvSpPr/>
          <p:nvPr/>
        </p:nvSpPr>
        <p:spPr>
          <a:xfrm>
            <a:off x="3429000" y="2148840"/>
            <a:ext cx="2377440" cy="11887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9" name="Text 17"/>
          <p:cNvSpPr/>
          <p:nvPr/>
        </p:nvSpPr>
        <p:spPr>
          <a:xfrm>
            <a:off x="3291840" y="3401568"/>
            <a:ext cx="2651760" cy="32004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 Ayam Bakar ~</a:t>
            </a:r>
            <a:endParaRPr lang="en-US" sz="1100" dirty="0"/>
          </a:p>
        </p:txBody>
      </p:sp>
      <p:sp>
        <p:nvSpPr>
          <p:cNvPr id="20" name="Text 18"/>
          <p:cNvSpPr/>
          <p:nvPr/>
        </p:nvSpPr>
        <p:spPr>
          <a:xfrm>
            <a:off x="3291840" y="3694176"/>
            <a:ext cx="2651760" cy="274320"/>
          </a:xfrm>
          <a:prstGeom prst="rect">
            <a:avLst/>
          </a:prstGeom>
          <a:noFill/>
          <a:ln/>
        </p:spPr>
        <p:txBody>
          <a:bodyPr wrap="square" rtlCol="0" anchor="ctr"/>
          <a:lstStyle/>
          <a:p>
            <a:pPr algn="ctr" indent="0" marL="0">
              <a:buNone/>
            </a:pPr>
            <a:r>
              <a:rPr lang="en-US" sz="1100" dirty="0">
                <a:solidFill>
                  <a:srgbClr val="0077B6"/>
                </a:solidFill>
                <a:latin typeface="Calibri" pitchFamily="34" charset="0"/>
                <a:ea typeface="Calibri" pitchFamily="34" charset="-122"/>
                <a:cs typeface="Calibri" pitchFamily="34" charset="-120"/>
              </a:rPr>
              <a:t>Rp 22.000</a:t>
            </a:r>
            <a:endParaRPr lang="en-US" sz="1100" dirty="0"/>
          </a:p>
        </p:txBody>
      </p:sp>
      <p:sp>
        <p:nvSpPr>
          <p:cNvPr id="21" name="Shape 19"/>
          <p:cNvSpPr/>
          <p:nvPr/>
        </p:nvSpPr>
        <p:spPr>
          <a:xfrm>
            <a:off x="3794760" y="4005072"/>
            <a:ext cx="1645920" cy="256032"/>
          </a:xfrm>
          <a:prstGeom prst="roundRect">
            <a:avLst>
              <a:gd name="adj" fmla="val 21429"/>
            </a:avLst>
          </a:prstGeom>
          <a:solidFill>
            <a:srgbClr val="0077B6"/>
          </a:solidFill>
          <a:ln/>
        </p:spPr>
      </p:sp>
      <p:sp>
        <p:nvSpPr>
          <p:cNvPr id="22" name="Text 20"/>
          <p:cNvSpPr/>
          <p:nvPr/>
        </p:nvSpPr>
        <p:spPr>
          <a:xfrm>
            <a:off x="3794760" y="4005072"/>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 to cart</a:t>
            </a:r>
            <a:endParaRPr lang="en-US" sz="900" dirty="0"/>
          </a:p>
        </p:txBody>
      </p:sp>
      <p:sp>
        <p:nvSpPr>
          <p:cNvPr id="23" name="Shape 21"/>
          <p:cNvSpPr/>
          <p:nvPr/>
        </p:nvSpPr>
        <p:spPr>
          <a:xfrm>
            <a:off x="6126480" y="2011680"/>
            <a:ext cx="2651760" cy="2286000"/>
          </a:xfrm>
          <a:prstGeom prst="roundRect">
            <a:avLst>
              <a:gd name="adj" fmla="val 4800"/>
            </a:avLst>
          </a:prstGeom>
          <a:solidFill>
            <a:srgbClr val="FFFFFF"/>
          </a:solidFill>
          <a:ln/>
          <a:effectLst>
            <a:outerShdw sx="100000" sy="100000" kx="0" ky="0" algn="bl" rotWithShape="0" blurRad="50800" dist="25400" dir="2700000">
              <a:srgbClr val="000000">
                <a:alpha val="10000"/>
              </a:srgbClr>
            </a:outerShdw>
          </a:effectLst>
        </p:spPr>
      </p:sp>
      <p:sp>
        <p:nvSpPr>
          <p:cNvPr id="24" name="Shape 22"/>
          <p:cNvSpPr/>
          <p:nvPr/>
        </p:nvSpPr>
        <p:spPr>
          <a:xfrm>
            <a:off x="6263640" y="2148840"/>
            <a:ext cx="2377440" cy="1188720"/>
          </a:xfrm>
          <a:prstGeom prst="roundRect">
            <a:avLst>
              <a:gd name="adj" fmla="val 6154"/>
            </a:avLst>
          </a:prstGeom>
          <a:solidFill>
            <a:srgbClr val="E0F0FF"/>
          </a:solidFill>
          <a:ln/>
        </p:spPr>
      </p:sp>
      <p:sp>
        <p:nvSpPr>
          <p:cNvPr id="25" name="Text 23"/>
          <p:cNvSpPr/>
          <p:nvPr/>
        </p:nvSpPr>
        <p:spPr>
          <a:xfrm>
            <a:off x="6263640" y="2148840"/>
            <a:ext cx="2377440" cy="11887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6" name="Text 24"/>
          <p:cNvSpPr/>
          <p:nvPr/>
        </p:nvSpPr>
        <p:spPr>
          <a:xfrm>
            <a:off x="6126480" y="3401568"/>
            <a:ext cx="2651760" cy="32004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 Mie Goreng ~</a:t>
            </a:r>
            <a:endParaRPr lang="en-US" sz="1100" dirty="0"/>
          </a:p>
        </p:txBody>
      </p:sp>
      <p:sp>
        <p:nvSpPr>
          <p:cNvPr id="27" name="Text 25"/>
          <p:cNvSpPr/>
          <p:nvPr/>
        </p:nvSpPr>
        <p:spPr>
          <a:xfrm>
            <a:off x="6126480" y="3694176"/>
            <a:ext cx="2651760" cy="274320"/>
          </a:xfrm>
          <a:prstGeom prst="rect">
            <a:avLst/>
          </a:prstGeom>
          <a:noFill/>
          <a:ln/>
        </p:spPr>
        <p:txBody>
          <a:bodyPr wrap="square" rtlCol="0" anchor="ctr"/>
          <a:lstStyle/>
          <a:p>
            <a:pPr algn="ctr" indent="0" marL="0">
              <a:buNone/>
            </a:pPr>
            <a:r>
              <a:rPr lang="en-US" sz="1100" dirty="0">
                <a:solidFill>
                  <a:srgbClr val="0077B6"/>
                </a:solidFill>
                <a:latin typeface="Calibri" pitchFamily="34" charset="0"/>
                <a:ea typeface="Calibri" pitchFamily="34" charset="-122"/>
                <a:cs typeface="Calibri" pitchFamily="34" charset="-120"/>
              </a:rPr>
              <a:t>Rp 12.000</a:t>
            </a:r>
            <a:endParaRPr lang="en-US" sz="1100" dirty="0"/>
          </a:p>
        </p:txBody>
      </p:sp>
      <p:sp>
        <p:nvSpPr>
          <p:cNvPr id="28" name="Shape 26"/>
          <p:cNvSpPr/>
          <p:nvPr/>
        </p:nvSpPr>
        <p:spPr>
          <a:xfrm>
            <a:off x="6629400" y="4005072"/>
            <a:ext cx="1645920" cy="256032"/>
          </a:xfrm>
          <a:prstGeom prst="roundRect">
            <a:avLst>
              <a:gd name="adj" fmla="val 21429"/>
            </a:avLst>
          </a:prstGeom>
          <a:solidFill>
            <a:srgbClr val="0077B6"/>
          </a:solidFill>
          <a:ln/>
        </p:spPr>
      </p:sp>
      <p:sp>
        <p:nvSpPr>
          <p:cNvPr id="29" name="Text 27"/>
          <p:cNvSpPr/>
          <p:nvPr/>
        </p:nvSpPr>
        <p:spPr>
          <a:xfrm>
            <a:off x="6629400" y="4005072"/>
            <a:ext cx="16459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 to cart</a:t>
            </a:r>
            <a:endParaRPr lang="en-US" sz="900" dirty="0"/>
          </a:p>
        </p:txBody>
      </p:sp>
      <p:sp>
        <p:nvSpPr>
          <p:cNvPr id="30" name="Shape 28"/>
          <p:cNvSpPr/>
          <p:nvPr/>
        </p:nvSpPr>
        <p:spPr>
          <a:xfrm>
            <a:off x="6217920" y="2011680"/>
            <a:ext cx="2606040" cy="2286000"/>
          </a:xfrm>
          <a:prstGeom prst="roundRect">
            <a:avLst>
              <a:gd name="adj" fmla="val 4800"/>
            </a:avLst>
          </a:prstGeom>
          <a:solidFill>
            <a:srgbClr val="F0F9FF"/>
          </a:solidFill>
          <a:ln/>
          <a:effectLst>
            <a:outerShdw sx="100000" sy="100000" kx="0" ky="0" algn="bl" rotWithShape="0" blurRad="50800" dist="25400" dir="2700000">
              <a:srgbClr val="000000">
                <a:alpha val="10000"/>
              </a:srgbClr>
            </a:outerShdw>
          </a:effectLst>
        </p:spPr>
      </p:sp>
      <p:sp>
        <p:nvSpPr>
          <p:cNvPr id="31" name="Text 29"/>
          <p:cNvSpPr/>
          <p:nvPr/>
        </p:nvSpPr>
        <p:spPr>
          <a:xfrm>
            <a:off x="6309360" y="2103120"/>
            <a:ext cx="2423160" cy="411480"/>
          </a:xfrm>
          <a:prstGeom prst="rect">
            <a:avLst/>
          </a:prstGeom>
          <a:noFill/>
          <a:ln/>
        </p:spPr>
        <p:txBody>
          <a:bodyPr wrap="square"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 Keranjang</a:t>
            </a:r>
            <a:endParaRPr lang="en-US" sz="1300" dirty="0"/>
          </a:p>
        </p:txBody>
      </p:sp>
      <p:sp>
        <p:nvSpPr>
          <p:cNvPr id="32" name="Text 30"/>
          <p:cNvSpPr/>
          <p:nvPr/>
        </p:nvSpPr>
        <p:spPr>
          <a:xfrm>
            <a:off x="6309360" y="2560320"/>
            <a:ext cx="2423160" cy="27432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1 × Nasi Goreng</a:t>
            </a:r>
            <a:endParaRPr lang="en-US" sz="1000" dirty="0"/>
          </a:p>
        </p:txBody>
      </p:sp>
      <p:sp>
        <p:nvSpPr>
          <p:cNvPr id="33" name="Text 31"/>
          <p:cNvSpPr/>
          <p:nvPr/>
        </p:nvSpPr>
        <p:spPr>
          <a:xfrm>
            <a:off x="7223760" y="2560320"/>
            <a:ext cx="1463040" cy="274320"/>
          </a:xfrm>
          <a:prstGeom prst="rect">
            <a:avLst/>
          </a:prstGeom>
          <a:noFill/>
          <a:ln/>
        </p:spPr>
        <p:txBody>
          <a:bodyPr wrap="square" rtlCol="0" anchor="ctr"/>
          <a:lstStyle/>
          <a:p>
            <a:pPr algn="r" indent="0" marL="0">
              <a:buNone/>
            </a:pPr>
            <a:r>
              <a:rPr lang="en-US" sz="1000" dirty="0">
                <a:solidFill>
                  <a:srgbClr val="0077B6"/>
                </a:solidFill>
                <a:latin typeface="Calibri" pitchFamily="34" charset="0"/>
                <a:ea typeface="Calibri" pitchFamily="34" charset="-122"/>
                <a:cs typeface="Calibri" pitchFamily="34" charset="-120"/>
              </a:rPr>
              <a:t>Rp 15.000</a:t>
            </a:r>
            <a:endParaRPr lang="en-US" sz="1000" dirty="0"/>
          </a:p>
        </p:txBody>
      </p:sp>
      <p:sp>
        <p:nvSpPr>
          <p:cNvPr id="34" name="Text 32"/>
          <p:cNvSpPr/>
          <p:nvPr/>
        </p:nvSpPr>
        <p:spPr>
          <a:xfrm>
            <a:off x="6309360" y="2971800"/>
            <a:ext cx="1188720" cy="237744"/>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Subtotal</a:t>
            </a:r>
            <a:endParaRPr lang="en-US" sz="1000" dirty="0"/>
          </a:p>
        </p:txBody>
      </p:sp>
      <p:sp>
        <p:nvSpPr>
          <p:cNvPr id="35" name="Text 33"/>
          <p:cNvSpPr/>
          <p:nvPr/>
        </p:nvSpPr>
        <p:spPr>
          <a:xfrm>
            <a:off x="7406640" y="2971800"/>
            <a:ext cx="1280160" cy="237744"/>
          </a:xfrm>
          <a:prstGeom prst="rect">
            <a:avLst/>
          </a:prstGeom>
          <a:noFill/>
          <a:ln/>
        </p:spPr>
        <p:txBody>
          <a:bodyPr wrap="square" rtlCol="0" anchor="ctr"/>
          <a:lstStyle/>
          <a:p>
            <a:pPr algn="r" indent="0" marL="0">
              <a:buNone/>
            </a:pPr>
            <a:r>
              <a:rPr lang="en-US" sz="1000" dirty="0">
                <a:solidFill>
                  <a:srgbClr val="334155"/>
                </a:solidFill>
                <a:latin typeface="Calibri" pitchFamily="34" charset="0"/>
                <a:ea typeface="Calibri" pitchFamily="34" charset="-122"/>
                <a:cs typeface="Calibri" pitchFamily="34" charset="-120"/>
              </a:rPr>
              <a:t>Rp 15.000</a:t>
            </a:r>
            <a:endParaRPr lang="en-US" sz="1000" dirty="0"/>
          </a:p>
        </p:txBody>
      </p:sp>
      <p:sp>
        <p:nvSpPr>
          <p:cNvPr id="36" name="Text 34"/>
          <p:cNvSpPr/>
          <p:nvPr/>
        </p:nvSpPr>
        <p:spPr>
          <a:xfrm>
            <a:off x="6309360" y="3227832"/>
            <a:ext cx="1188720" cy="237744"/>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Diskon</a:t>
            </a:r>
            <a:endParaRPr lang="en-US" sz="1000" dirty="0"/>
          </a:p>
        </p:txBody>
      </p:sp>
      <p:sp>
        <p:nvSpPr>
          <p:cNvPr id="37" name="Text 35"/>
          <p:cNvSpPr/>
          <p:nvPr/>
        </p:nvSpPr>
        <p:spPr>
          <a:xfrm>
            <a:off x="7406640" y="3227832"/>
            <a:ext cx="1280160" cy="237744"/>
          </a:xfrm>
          <a:prstGeom prst="rect">
            <a:avLst/>
          </a:prstGeom>
          <a:noFill/>
          <a:ln/>
        </p:spPr>
        <p:txBody>
          <a:bodyPr wrap="square" rtlCol="0" anchor="ctr"/>
          <a:lstStyle/>
          <a:p>
            <a:pPr algn="r" indent="0" marL="0">
              <a:buNone/>
            </a:pPr>
            <a:r>
              <a:rPr lang="en-US" sz="1000" dirty="0">
                <a:solidFill>
                  <a:srgbClr val="334155"/>
                </a:solidFill>
                <a:latin typeface="Calibri" pitchFamily="34" charset="0"/>
                <a:ea typeface="Calibri" pitchFamily="34" charset="-122"/>
                <a:cs typeface="Calibri" pitchFamily="34" charset="-120"/>
              </a:rPr>
              <a:t>Rp 1.500</a:t>
            </a:r>
            <a:endParaRPr lang="en-US" sz="1000" dirty="0"/>
          </a:p>
        </p:txBody>
      </p:sp>
      <p:sp>
        <p:nvSpPr>
          <p:cNvPr id="38" name="Text 36"/>
          <p:cNvSpPr/>
          <p:nvPr/>
        </p:nvSpPr>
        <p:spPr>
          <a:xfrm>
            <a:off x="6309360" y="3483864"/>
            <a:ext cx="1188720" cy="237744"/>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PPN</a:t>
            </a:r>
            <a:endParaRPr lang="en-US" sz="1000" dirty="0"/>
          </a:p>
        </p:txBody>
      </p:sp>
      <p:sp>
        <p:nvSpPr>
          <p:cNvPr id="39" name="Text 37"/>
          <p:cNvSpPr/>
          <p:nvPr/>
        </p:nvSpPr>
        <p:spPr>
          <a:xfrm>
            <a:off x="7406640" y="3483864"/>
            <a:ext cx="1280160" cy="237744"/>
          </a:xfrm>
          <a:prstGeom prst="rect">
            <a:avLst/>
          </a:prstGeom>
          <a:noFill/>
          <a:ln/>
        </p:spPr>
        <p:txBody>
          <a:bodyPr wrap="square" rtlCol="0" anchor="ctr"/>
          <a:lstStyle/>
          <a:p>
            <a:pPr algn="r" indent="0" marL="0">
              <a:buNone/>
            </a:pPr>
            <a:r>
              <a:rPr lang="en-US" sz="1000" dirty="0">
                <a:solidFill>
                  <a:srgbClr val="334155"/>
                </a:solidFill>
                <a:latin typeface="Calibri" pitchFamily="34" charset="0"/>
                <a:ea typeface="Calibri" pitchFamily="34" charset="-122"/>
                <a:cs typeface="Calibri" pitchFamily="34" charset="-120"/>
              </a:rPr>
              <a:t>Rp 1.350</a:t>
            </a:r>
            <a:endParaRPr lang="en-US" sz="1000" dirty="0"/>
          </a:p>
        </p:txBody>
      </p:sp>
      <p:sp>
        <p:nvSpPr>
          <p:cNvPr id="40" name="Text 38"/>
          <p:cNvSpPr/>
          <p:nvPr/>
        </p:nvSpPr>
        <p:spPr>
          <a:xfrm>
            <a:off x="6309360" y="3739896"/>
            <a:ext cx="1188720" cy="237744"/>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Total</a:t>
            </a:r>
            <a:endParaRPr lang="en-US" sz="1000" dirty="0"/>
          </a:p>
        </p:txBody>
      </p:sp>
      <p:sp>
        <p:nvSpPr>
          <p:cNvPr id="41" name="Text 39"/>
          <p:cNvSpPr/>
          <p:nvPr/>
        </p:nvSpPr>
        <p:spPr>
          <a:xfrm>
            <a:off x="7406640" y="3739896"/>
            <a:ext cx="1280160" cy="237744"/>
          </a:xfrm>
          <a:prstGeom prst="rect">
            <a:avLst/>
          </a:prstGeom>
          <a:noFill/>
          <a:ln/>
        </p:spPr>
        <p:txBody>
          <a:bodyPr wrap="square" rtlCol="0" anchor="ctr"/>
          <a:lstStyle/>
          <a:p>
            <a:pPr algn="r" indent="0" marL="0">
              <a:buNone/>
            </a:pPr>
            <a:r>
              <a:rPr lang="en-US" sz="1000" b="1" dirty="0">
                <a:solidFill>
                  <a:srgbClr val="0F1B2D"/>
                </a:solidFill>
                <a:latin typeface="Calibri" pitchFamily="34" charset="0"/>
                <a:ea typeface="Calibri" pitchFamily="34" charset="-122"/>
                <a:cs typeface="Calibri" pitchFamily="34" charset="-120"/>
              </a:rPr>
              <a:t>Rp 14.850</a:t>
            </a:r>
            <a:endParaRPr lang="en-US" sz="1000" dirty="0"/>
          </a:p>
        </p:txBody>
      </p:sp>
      <p:sp>
        <p:nvSpPr>
          <p:cNvPr id="42" name="Shape 40"/>
          <p:cNvSpPr/>
          <p:nvPr/>
        </p:nvSpPr>
        <p:spPr>
          <a:xfrm>
            <a:off x="6492240" y="4005072"/>
            <a:ext cx="2103120" cy="256032"/>
          </a:xfrm>
          <a:prstGeom prst="roundRect">
            <a:avLst>
              <a:gd name="adj" fmla="val 21429"/>
            </a:avLst>
          </a:prstGeom>
          <a:solidFill>
            <a:srgbClr val="10B981"/>
          </a:solidFill>
          <a:ln/>
        </p:spPr>
      </p:sp>
      <p:sp>
        <p:nvSpPr>
          <p:cNvPr id="43" name="Text 41"/>
          <p:cNvSpPr/>
          <p:nvPr/>
        </p:nvSpPr>
        <p:spPr>
          <a:xfrm>
            <a:off x="6492240" y="4005072"/>
            <a:ext cx="21031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Proses Pembayaran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HASIL RUNNING — ADD PRODUK &amp; STRUK PDF</a:t>
            </a:r>
            <a:endParaRPr lang="en-US" sz="2000" dirty="0"/>
          </a:p>
        </p:txBody>
      </p:sp>
      <p:sp>
        <p:nvSpPr>
          <p:cNvPr id="3" name="Shape 1"/>
          <p:cNvSpPr/>
          <p:nvPr/>
        </p:nvSpPr>
        <p:spPr>
          <a:xfrm>
            <a:off x="274320" y="914400"/>
            <a:ext cx="4389120" cy="3977640"/>
          </a:xfrm>
          <a:prstGeom prst="roundRect">
            <a:avLst>
              <a:gd name="adj" fmla="val 3448"/>
            </a:avLst>
          </a:prstGeom>
          <a:solidFill>
            <a:srgbClr val="1A3A5C"/>
          </a:solidFill>
          <a:ln/>
          <a:effectLst>
            <a:outerShdw sx="100000" sy="100000" kx="0" ky="0" algn="bl" rotWithShape="0" blurRad="101600" dist="38100" dir="2700000">
              <a:srgbClr val="000000">
                <a:alpha val="18000"/>
              </a:srgbClr>
            </a:outerShdw>
          </a:effectLst>
        </p:spPr>
      </p:sp>
      <p:sp>
        <p:nvSpPr>
          <p:cNvPr id="4" name="Text 2"/>
          <p:cNvSpPr/>
          <p:nvPr/>
        </p:nvSpPr>
        <p:spPr>
          <a:xfrm>
            <a:off x="457200" y="1005840"/>
            <a:ext cx="4023360" cy="411480"/>
          </a:xfrm>
          <a:prstGeom prst="rect">
            <a:avLst/>
          </a:prstGeom>
          <a:noFill/>
          <a:ln/>
        </p:spPr>
        <p:txBody>
          <a:bodyPr wrap="square" rtlCol="0" anchor="ctr"/>
          <a:lstStyle/>
          <a:p>
            <a:pPr indent="0" marL="0">
              <a:buNone/>
            </a:pPr>
            <a:r>
              <a:rPr lang="en-US" sz="1500" b="1" dirty="0">
                <a:solidFill>
                  <a:srgbClr val="00B4D8"/>
                </a:solidFill>
                <a:latin typeface="Calibri" pitchFamily="34" charset="0"/>
                <a:ea typeface="Calibri" pitchFamily="34" charset="-122"/>
                <a:cs typeface="Calibri" pitchFamily="34" charset="-120"/>
              </a:rPr>
              <a:t>➕ Tambah Produk</a:t>
            </a:r>
            <a:endParaRPr lang="en-US" sz="1500" dirty="0"/>
          </a:p>
        </p:txBody>
      </p:sp>
      <p:sp>
        <p:nvSpPr>
          <p:cNvPr id="5" name="Text 3"/>
          <p:cNvSpPr/>
          <p:nvPr/>
        </p:nvSpPr>
        <p:spPr>
          <a:xfrm>
            <a:off x="457200" y="1508760"/>
            <a:ext cx="40233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Nama Produk *</a:t>
            </a:r>
            <a:endParaRPr lang="en-US" sz="1000" dirty="0"/>
          </a:p>
        </p:txBody>
      </p:sp>
      <p:sp>
        <p:nvSpPr>
          <p:cNvPr id="6" name="Shape 4"/>
          <p:cNvSpPr/>
          <p:nvPr/>
        </p:nvSpPr>
        <p:spPr>
          <a:xfrm>
            <a:off x="457200" y="1755648"/>
            <a:ext cx="4023360" cy="274320"/>
          </a:xfrm>
          <a:prstGeom prst="roundRect">
            <a:avLst>
              <a:gd name="adj" fmla="val 20000"/>
            </a:avLst>
          </a:prstGeom>
          <a:solidFill>
            <a:srgbClr val="1E3A5F"/>
          </a:solidFill>
          <a:ln/>
        </p:spPr>
      </p:sp>
      <p:sp>
        <p:nvSpPr>
          <p:cNvPr id="7" name="Text 5"/>
          <p:cNvSpPr/>
          <p:nvPr/>
        </p:nvSpPr>
        <p:spPr>
          <a:xfrm>
            <a:off x="548640" y="1755648"/>
            <a:ext cx="384048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Es Teh Manis</a:t>
            </a:r>
            <a:endParaRPr lang="en-US" sz="1000" dirty="0"/>
          </a:p>
        </p:txBody>
      </p:sp>
      <p:sp>
        <p:nvSpPr>
          <p:cNvPr id="8" name="Text 6"/>
          <p:cNvSpPr/>
          <p:nvPr/>
        </p:nvSpPr>
        <p:spPr>
          <a:xfrm>
            <a:off x="457200" y="2075688"/>
            <a:ext cx="40233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Harga (Rp) *</a:t>
            </a:r>
            <a:endParaRPr lang="en-US" sz="1000" dirty="0"/>
          </a:p>
        </p:txBody>
      </p:sp>
      <p:sp>
        <p:nvSpPr>
          <p:cNvPr id="9" name="Shape 7"/>
          <p:cNvSpPr/>
          <p:nvPr/>
        </p:nvSpPr>
        <p:spPr>
          <a:xfrm>
            <a:off x="457200" y="2322576"/>
            <a:ext cx="4023360" cy="274320"/>
          </a:xfrm>
          <a:prstGeom prst="roundRect">
            <a:avLst>
              <a:gd name="adj" fmla="val 20000"/>
            </a:avLst>
          </a:prstGeom>
          <a:solidFill>
            <a:srgbClr val="1E3A5F"/>
          </a:solidFill>
          <a:ln/>
        </p:spPr>
      </p:sp>
      <p:sp>
        <p:nvSpPr>
          <p:cNvPr id="10" name="Text 8"/>
          <p:cNvSpPr/>
          <p:nvPr/>
        </p:nvSpPr>
        <p:spPr>
          <a:xfrm>
            <a:off x="548640" y="2322576"/>
            <a:ext cx="384048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5000</a:t>
            </a:r>
            <a:endParaRPr lang="en-US" sz="1000" dirty="0"/>
          </a:p>
        </p:txBody>
      </p:sp>
      <p:sp>
        <p:nvSpPr>
          <p:cNvPr id="11" name="Text 9"/>
          <p:cNvSpPr/>
          <p:nvPr/>
        </p:nvSpPr>
        <p:spPr>
          <a:xfrm>
            <a:off x="457200" y="2642616"/>
            <a:ext cx="40233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Kategori *</a:t>
            </a:r>
            <a:endParaRPr lang="en-US" sz="1000" dirty="0"/>
          </a:p>
        </p:txBody>
      </p:sp>
      <p:sp>
        <p:nvSpPr>
          <p:cNvPr id="12" name="Shape 10"/>
          <p:cNvSpPr/>
          <p:nvPr/>
        </p:nvSpPr>
        <p:spPr>
          <a:xfrm>
            <a:off x="457200" y="2889504"/>
            <a:ext cx="4023360" cy="274320"/>
          </a:xfrm>
          <a:prstGeom prst="roundRect">
            <a:avLst>
              <a:gd name="adj" fmla="val 20000"/>
            </a:avLst>
          </a:prstGeom>
          <a:solidFill>
            <a:srgbClr val="1E3A5F"/>
          </a:solidFill>
          <a:ln/>
        </p:spPr>
      </p:sp>
      <p:sp>
        <p:nvSpPr>
          <p:cNvPr id="13" name="Text 11"/>
          <p:cNvSpPr/>
          <p:nvPr/>
        </p:nvSpPr>
        <p:spPr>
          <a:xfrm>
            <a:off x="548640" y="2889504"/>
            <a:ext cx="384048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Minuman ▾</a:t>
            </a:r>
            <a:endParaRPr lang="en-US" sz="1000" dirty="0"/>
          </a:p>
        </p:txBody>
      </p:sp>
      <p:sp>
        <p:nvSpPr>
          <p:cNvPr id="14" name="Text 12"/>
          <p:cNvSpPr/>
          <p:nvPr/>
        </p:nvSpPr>
        <p:spPr>
          <a:xfrm>
            <a:off x="457200" y="3209544"/>
            <a:ext cx="402336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Image URL</a:t>
            </a:r>
            <a:endParaRPr lang="en-US" sz="1000" dirty="0"/>
          </a:p>
        </p:txBody>
      </p:sp>
      <p:sp>
        <p:nvSpPr>
          <p:cNvPr id="15" name="Shape 13"/>
          <p:cNvSpPr/>
          <p:nvPr/>
        </p:nvSpPr>
        <p:spPr>
          <a:xfrm>
            <a:off x="457200" y="3456432"/>
            <a:ext cx="4023360" cy="274320"/>
          </a:xfrm>
          <a:prstGeom prst="roundRect">
            <a:avLst>
              <a:gd name="adj" fmla="val 20000"/>
            </a:avLst>
          </a:prstGeom>
          <a:solidFill>
            <a:srgbClr val="1E3A5F"/>
          </a:solidFill>
          <a:ln/>
        </p:spPr>
      </p:sp>
      <p:sp>
        <p:nvSpPr>
          <p:cNvPr id="16" name="Text 14"/>
          <p:cNvSpPr/>
          <p:nvPr/>
        </p:nvSpPr>
        <p:spPr>
          <a:xfrm>
            <a:off x="548640" y="3456432"/>
            <a:ext cx="384048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https://example.com/es-teh.jpg</a:t>
            </a:r>
            <a:endParaRPr lang="en-US" sz="1000" dirty="0"/>
          </a:p>
        </p:txBody>
      </p:sp>
      <p:sp>
        <p:nvSpPr>
          <p:cNvPr id="17" name="Shape 15"/>
          <p:cNvSpPr/>
          <p:nvPr/>
        </p:nvSpPr>
        <p:spPr>
          <a:xfrm>
            <a:off x="1097280" y="3767328"/>
            <a:ext cx="2560320" cy="365760"/>
          </a:xfrm>
          <a:prstGeom prst="roundRect">
            <a:avLst>
              <a:gd name="adj" fmla="val 25000"/>
            </a:avLst>
          </a:prstGeom>
          <a:solidFill>
            <a:srgbClr val="10B981"/>
          </a:solidFill>
          <a:ln/>
          <a:effectLst>
            <a:outerShdw sx="100000" sy="100000" kx="0" ky="0" algn="bl" rotWithShape="0" blurRad="50800" dist="25400" dir="2700000">
              <a:srgbClr val="000000">
                <a:alpha val="10000"/>
              </a:srgbClr>
            </a:outerShdw>
          </a:effectLst>
        </p:spPr>
      </p:sp>
      <p:sp>
        <p:nvSpPr>
          <p:cNvPr id="18" name="Text 16"/>
          <p:cNvSpPr/>
          <p:nvPr/>
        </p:nvSpPr>
        <p:spPr>
          <a:xfrm>
            <a:off x="1097280" y="3767328"/>
            <a:ext cx="25603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Tambah Produk</a:t>
            </a:r>
            <a:endParaRPr lang="en-US" sz="1200" dirty="0"/>
          </a:p>
        </p:txBody>
      </p:sp>
      <p:sp>
        <p:nvSpPr>
          <p:cNvPr id="19" name="Shape 17"/>
          <p:cNvSpPr/>
          <p:nvPr/>
        </p:nvSpPr>
        <p:spPr>
          <a:xfrm>
            <a:off x="457200" y="4206240"/>
            <a:ext cx="4023360" cy="502920"/>
          </a:xfrm>
          <a:prstGeom prst="roundRect">
            <a:avLst>
              <a:gd name="adj" fmla="val 18182"/>
            </a:avLst>
          </a:prstGeom>
          <a:solidFill>
            <a:srgbClr val="10B981"/>
          </a:solidFill>
          <a:ln/>
          <a:effectLst>
            <a:outerShdw sx="100000" sy="100000" kx="0" ky="0" algn="bl" rotWithShape="0" blurRad="50800" dist="25400" dir="2700000">
              <a:srgbClr val="000000">
                <a:alpha val="10000"/>
              </a:srgbClr>
            </a:outerShdw>
          </a:effectLst>
        </p:spPr>
      </p:sp>
      <p:sp>
        <p:nvSpPr>
          <p:cNvPr id="20" name="Text 18"/>
          <p:cNvSpPr/>
          <p:nvPr/>
        </p:nvSpPr>
        <p:spPr>
          <a:xfrm>
            <a:off x="548640" y="4206240"/>
            <a:ext cx="3840480" cy="5029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Produk "Es Teh Manis" berhasil ditambahkan!</a:t>
            </a:r>
            <a:endParaRPr lang="en-US" sz="1000" dirty="0"/>
          </a:p>
        </p:txBody>
      </p:sp>
      <p:sp>
        <p:nvSpPr>
          <p:cNvPr id="21" name="Shape 19"/>
          <p:cNvSpPr/>
          <p:nvPr/>
        </p:nvSpPr>
        <p:spPr>
          <a:xfrm>
            <a:off x="4846320" y="914400"/>
            <a:ext cx="4023360" cy="3977640"/>
          </a:xfrm>
          <a:prstGeom prst="roundRect">
            <a:avLst>
              <a:gd name="adj" fmla="val 3448"/>
            </a:avLst>
          </a:prstGeom>
          <a:solidFill>
            <a:srgbClr val="FFFFFF"/>
          </a:solidFill>
          <a:ln/>
          <a:effectLst>
            <a:outerShdw sx="100000" sy="100000" kx="0" ky="0" algn="bl" rotWithShape="0" blurRad="101600" dist="38100" dir="2700000">
              <a:srgbClr val="000000">
                <a:alpha val="18000"/>
              </a:srgbClr>
            </a:outerShdw>
          </a:effectLst>
        </p:spPr>
      </p:sp>
      <p:sp>
        <p:nvSpPr>
          <p:cNvPr id="22" name="Text 20"/>
          <p:cNvSpPr/>
          <p:nvPr/>
        </p:nvSpPr>
        <p:spPr>
          <a:xfrm>
            <a:off x="4846320" y="1005840"/>
            <a:ext cx="4023360" cy="365760"/>
          </a:xfrm>
          <a:prstGeom prst="rect">
            <a:avLst/>
          </a:prstGeom>
          <a:noFill/>
          <a:ln/>
        </p:spPr>
        <p:txBody>
          <a:bodyPr wrap="square"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RESTORAN KELOMPOK 5</a:t>
            </a:r>
            <a:endParaRPr lang="en-US" sz="1200" dirty="0"/>
          </a:p>
        </p:txBody>
      </p:sp>
      <p:sp>
        <p:nvSpPr>
          <p:cNvPr id="23" name="Text 21"/>
          <p:cNvSpPr/>
          <p:nvPr/>
        </p:nvSpPr>
        <p:spPr>
          <a:xfrm>
            <a:off x="4846320" y="1353312"/>
            <a:ext cx="4023360" cy="22860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Cikarang Square, Jl. Cibarusah Raya No.168</a:t>
            </a:r>
            <a:endParaRPr lang="en-US" sz="800" dirty="0"/>
          </a:p>
        </p:txBody>
      </p:sp>
      <p:sp>
        <p:nvSpPr>
          <p:cNvPr id="24" name="Text 22"/>
          <p:cNvSpPr/>
          <p:nvPr/>
        </p:nvSpPr>
        <p:spPr>
          <a:xfrm>
            <a:off x="4846320" y="1554480"/>
            <a:ext cx="4023360" cy="228600"/>
          </a:xfrm>
          <a:prstGeom prst="rect">
            <a:avLst/>
          </a:prstGeom>
          <a:noFill/>
          <a:ln/>
        </p:spPr>
        <p:txBody>
          <a:bodyPr wrap="square"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26/06/2025  14:32:00</a:t>
            </a:r>
            <a:endParaRPr lang="en-US" sz="800" dirty="0"/>
          </a:p>
        </p:txBody>
      </p:sp>
      <p:sp>
        <p:nvSpPr>
          <p:cNvPr id="25" name="Shape 23"/>
          <p:cNvSpPr/>
          <p:nvPr/>
        </p:nvSpPr>
        <p:spPr>
          <a:xfrm>
            <a:off x="4937760" y="1801368"/>
            <a:ext cx="3840480" cy="0"/>
          </a:xfrm>
          <a:prstGeom prst="line">
            <a:avLst/>
          </a:prstGeom>
          <a:noFill/>
          <a:ln w="12700">
            <a:solidFill>
              <a:srgbClr val="CCCCCC"/>
            </a:solidFill>
            <a:prstDash val="solid"/>
          </a:ln>
        </p:spPr>
      </p:sp>
      <p:sp>
        <p:nvSpPr>
          <p:cNvPr id="26" name="Text 24"/>
          <p:cNvSpPr/>
          <p:nvPr/>
        </p:nvSpPr>
        <p:spPr>
          <a:xfrm>
            <a:off x="4983480" y="1874520"/>
            <a:ext cx="3749040" cy="228600"/>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Customer : Budi Santoso</a:t>
            </a:r>
            <a:endParaRPr lang="en-US" sz="900" dirty="0"/>
          </a:p>
        </p:txBody>
      </p:sp>
      <p:sp>
        <p:nvSpPr>
          <p:cNvPr id="27" name="Text 25"/>
          <p:cNvSpPr/>
          <p:nvPr/>
        </p:nvSpPr>
        <p:spPr>
          <a:xfrm>
            <a:off x="4983480" y="2084832"/>
            <a:ext cx="1828800" cy="228600"/>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No. Meja : 5</a:t>
            </a:r>
            <a:endParaRPr lang="en-US" sz="900" dirty="0"/>
          </a:p>
        </p:txBody>
      </p:sp>
      <p:sp>
        <p:nvSpPr>
          <p:cNvPr id="28" name="Text 26"/>
          <p:cNvSpPr/>
          <p:nvPr/>
        </p:nvSpPr>
        <p:spPr>
          <a:xfrm>
            <a:off x="6766560" y="2084832"/>
            <a:ext cx="1965960" cy="228600"/>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No. Antrian : A12</a:t>
            </a:r>
            <a:endParaRPr lang="en-US" sz="900" dirty="0"/>
          </a:p>
        </p:txBody>
      </p:sp>
      <p:sp>
        <p:nvSpPr>
          <p:cNvPr id="29" name="Shape 27"/>
          <p:cNvSpPr/>
          <p:nvPr/>
        </p:nvSpPr>
        <p:spPr>
          <a:xfrm>
            <a:off x="4937760" y="2340864"/>
            <a:ext cx="3840480" cy="0"/>
          </a:xfrm>
          <a:prstGeom prst="line">
            <a:avLst/>
          </a:prstGeom>
          <a:noFill/>
          <a:ln w="6350">
            <a:solidFill>
              <a:srgbClr val="CCCCCC"/>
            </a:solidFill>
            <a:prstDash val="solid"/>
          </a:ln>
        </p:spPr>
      </p:sp>
      <p:sp>
        <p:nvSpPr>
          <p:cNvPr id="30" name="Text 28"/>
          <p:cNvSpPr/>
          <p:nvPr/>
        </p:nvSpPr>
        <p:spPr>
          <a:xfrm>
            <a:off x="4983480" y="2423160"/>
            <a:ext cx="2743200" cy="228600"/>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Nasi Goreng  1×15.000</a:t>
            </a:r>
            <a:endParaRPr lang="en-US" sz="900" dirty="0"/>
          </a:p>
        </p:txBody>
      </p:sp>
      <p:sp>
        <p:nvSpPr>
          <p:cNvPr id="31" name="Text 29"/>
          <p:cNvSpPr/>
          <p:nvPr/>
        </p:nvSpPr>
        <p:spPr>
          <a:xfrm>
            <a:off x="7772400" y="2423160"/>
            <a:ext cx="1005840" cy="228600"/>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15.000</a:t>
            </a:r>
            <a:endParaRPr lang="en-US" sz="900" dirty="0"/>
          </a:p>
        </p:txBody>
      </p:sp>
      <p:sp>
        <p:nvSpPr>
          <p:cNvPr id="32" name="Text 30"/>
          <p:cNvSpPr/>
          <p:nvPr/>
        </p:nvSpPr>
        <p:spPr>
          <a:xfrm>
            <a:off x="4983480" y="2679192"/>
            <a:ext cx="2743200" cy="228600"/>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Ayam Bakar  1×22.000</a:t>
            </a:r>
            <a:endParaRPr lang="en-US" sz="900" dirty="0"/>
          </a:p>
        </p:txBody>
      </p:sp>
      <p:sp>
        <p:nvSpPr>
          <p:cNvPr id="33" name="Text 31"/>
          <p:cNvSpPr/>
          <p:nvPr/>
        </p:nvSpPr>
        <p:spPr>
          <a:xfrm>
            <a:off x="7772400" y="2679192"/>
            <a:ext cx="1005840" cy="228600"/>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22.000</a:t>
            </a:r>
            <a:endParaRPr lang="en-US" sz="900" dirty="0"/>
          </a:p>
        </p:txBody>
      </p:sp>
      <p:sp>
        <p:nvSpPr>
          <p:cNvPr id="34" name="Text 32"/>
          <p:cNvSpPr/>
          <p:nvPr/>
        </p:nvSpPr>
        <p:spPr>
          <a:xfrm>
            <a:off x="4983480" y="2935224"/>
            <a:ext cx="2743200" cy="228600"/>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Es Teh Manis 2×5.000</a:t>
            </a:r>
            <a:endParaRPr lang="en-US" sz="900" dirty="0"/>
          </a:p>
        </p:txBody>
      </p:sp>
      <p:sp>
        <p:nvSpPr>
          <p:cNvPr id="35" name="Text 33"/>
          <p:cNvSpPr/>
          <p:nvPr/>
        </p:nvSpPr>
        <p:spPr>
          <a:xfrm>
            <a:off x="7772400" y="2935224"/>
            <a:ext cx="1005840" cy="228600"/>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10.000</a:t>
            </a:r>
            <a:endParaRPr lang="en-US" sz="900" dirty="0"/>
          </a:p>
        </p:txBody>
      </p:sp>
      <p:sp>
        <p:nvSpPr>
          <p:cNvPr id="36" name="Shape 34"/>
          <p:cNvSpPr/>
          <p:nvPr/>
        </p:nvSpPr>
        <p:spPr>
          <a:xfrm>
            <a:off x="4937760" y="3218688"/>
            <a:ext cx="3840480" cy="0"/>
          </a:xfrm>
          <a:prstGeom prst="line">
            <a:avLst/>
          </a:prstGeom>
          <a:noFill/>
          <a:ln w="6350">
            <a:solidFill>
              <a:srgbClr val="CCCCCC"/>
            </a:solidFill>
            <a:prstDash val="solid"/>
          </a:ln>
        </p:spPr>
      </p:sp>
      <p:sp>
        <p:nvSpPr>
          <p:cNvPr id="37" name="Text 35"/>
          <p:cNvSpPr/>
          <p:nvPr/>
        </p:nvSpPr>
        <p:spPr>
          <a:xfrm>
            <a:off x="4983480" y="3291840"/>
            <a:ext cx="2011680" cy="219456"/>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Subtotal</a:t>
            </a:r>
            <a:endParaRPr lang="en-US" sz="900" dirty="0"/>
          </a:p>
        </p:txBody>
      </p:sp>
      <p:sp>
        <p:nvSpPr>
          <p:cNvPr id="38" name="Text 36"/>
          <p:cNvSpPr/>
          <p:nvPr/>
        </p:nvSpPr>
        <p:spPr>
          <a:xfrm>
            <a:off x="7772400" y="3291840"/>
            <a:ext cx="1005840" cy="219456"/>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47.000</a:t>
            </a:r>
            <a:endParaRPr lang="en-US" sz="900" dirty="0"/>
          </a:p>
        </p:txBody>
      </p:sp>
      <p:sp>
        <p:nvSpPr>
          <p:cNvPr id="39" name="Text 37"/>
          <p:cNvSpPr/>
          <p:nvPr/>
        </p:nvSpPr>
        <p:spPr>
          <a:xfrm>
            <a:off x="4983480" y="3529584"/>
            <a:ext cx="2011680" cy="219456"/>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Diskon 10%</a:t>
            </a:r>
            <a:endParaRPr lang="en-US" sz="900" dirty="0"/>
          </a:p>
        </p:txBody>
      </p:sp>
      <p:sp>
        <p:nvSpPr>
          <p:cNvPr id="40" name="Text 38"/>
          <p:cNvSpPr/>
          <p:nvPr/>
        </p:nvSpPr>
        <p:spPr>
          <a:xfrm>
            <a:off x="7772400" y="3529584"/>
            <a:ext cx="1005840" cy="219456"/>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4.700</a:t>
            </a:r>
            <a:endParaRPr lang="en-US" sz="900" dirty="0"/>
          </a:p>
        </p:txBody>
      </p:sp>
      <p:sp>
        <p:nvSpPr>
          <p:cNvPr id="41" name="Text 39"/>
          <p:cNvSpPr/>
          <p:nvPr/>
        </p:nvSpPr>
        <p:spPr>
          <a:xfrm>
            <a:off x="4983480" y="3767328"/>
            <a:ext cx="2011680" cy="219456"/>
          </a:xfrm>
          <a:prstGeom prst="rect">
            <a:avLst/>
          </a:prstGeom>
          <a:noFill/>
          <a:ln/>
        </p:spPr>
        <p:txBody>
          <a:bodyPr wrap="square" rtlCol="0" anchor="ctr"/>
          <a:lstStyle/>
          <a:p>
            <a:pPr indent="0" marL="0">
              <a:buNone/>
            </a:pPr>
            <a:r>
              <a:rPr lang="en-US" sz="900" dirty="0">
                <a:solidFill>
                  <a:srgbClr val="0F1B2D"/>
                </a:solidFill>
                <a:latin typeface="Calibri" pitchFamily="34" charset="0"/>
                <a:ea typeface="Calibri" pitchFamily="34" charset="-122"/>
                <a:cs typeface="Calibri" pitchFamily="34" charset="-120"/>
              </a:rPr>
              <a:t>PPN 10%</a:t>
            </a:r>
            <a:endParaRPr lang="en-US" sz="900" dirty="0"/>
          </a:p>
        </p:txBody>
      </p:sp>
      <p:sp>
        <p:nvSpPr>
          <p:cNvPr id="42" name="Text 40"/>
          <p:cNvSpPr/>
          <p:nvPr/>
        </p:nvSpPr>
        <p:spPr>
          <a:xfrm>
            <a:off x="7772400" y="3767328"/>
            <a:ext cx="1005840" cy="219456"/>
          </a:xfrm>
          <a:prstGeom prst="rect">
            <a:avLst/>
          </a:prstGeom>
          <a:noFill/>
          <a:ln/>
        </p:spPr>
        <p:txBody>
          <a:bodyPr wrap="square" rtlCol="0" anchor="ctr"/>
          <a:lstStyle/>
          <a:p>
            <a:pPr algn="r" indent="0" marL="0">
              <a:buNone/>
            </a:pPr>
            <a:r>
              <a:rPr lang="en-US" sz="900" dirty="0">
                <a:solidFill>
                  <a:srgbClr val="0F1B2D"/>
                </a:solidFill>
                <a:latin typeface="Calibri" pitchFamily="34" charset="0"/>
                <a:ea typeface="Calibri" pitchFamily="34" charset="-122"/>
                <a:cs typeface="Calibri" pitchFamily="34" charset="-120"/>
              </a:rPr>
              <a:t>Rp 4.230</a:t>
            </a:r>
            <a:endParaRPr lang="en-US" sz="900" dirty="0"/>
          </a:p>
        </p:txBody>
      </p:sp>
      <p:sp>
        <p:nvSpPr>
          <p:cNvPr id="43" name="Text 41"/>
          <p:cNvSpPr/>
          <p:nvPr/>
        </p:nvSpPr>
        <p:spPr>
          <a:xfrm>
            <a:off x="4983480" y="4005072"/>
            <a:ext cx="2011680" cy="219456"/>
          </a:xfrm>
          <a:prstGeom prst="rect">
            <a:avLst/>
          </a:prstGeom>
          <a:noFill/>
          <a:ln/>
        </p:spPr>
        <p:txBody>
          <a:bodyPr wrap="square" rtlCol="0" anchor="ctr"/>
          <a:lstStyle/>
          <a:p>
            <a:pPr indent="0" marL="0">
              <a:buNone/>
            </a:pPr>
            <a:r>
              <a:rPr lang="en-US" sz="1000" b="1" dirty="0">
                <a:solidFill>
                  <a:srgbClr val="0F1B2D"/>
                </a:solidFill>
                <a:latin typeface="Calibri" pitchFamily="34" charset="0"/>
                <a:ea typeface="Calibri" pitchFamily="34" charset="-122"/>
                <a:cs typeface="Calibri" pitchFamily="34" charset="-120"/>
              </a:rPr>
              <a:t>TOTAL</a:t>
            </a:r>
            <a:endParaRPr lang="en-US" sz="1000" dirty="0"/>
          </a:p>
        </p:txBody>
      </p:sp>
      <p:sp>
        <p:nvSpPr>
          <p:cNvPr id="44" name="Text 42"/>
          <p:cNvSpPr/>
          <p:nvPr/>
        </p:nvSpPr>
        <p:spPr>
          <a:xfrm>
            <a:off x="7772400" y="4005072"/>
            <a:ext cx="1005840" cy="219456"/>
          </a:xfrm>
          <a:prstGeom prst="rect">
            <a:avLst/>
          </a:prstGeom>
          <a:noFill/>
          <a:ln/>
        </p:spPr>
        <p:txBody>
          <a:bodyPr wrap="square" rtlCol="0" anchor="ctr"/>
          <a:lstStyle/>
          <a:p>
            <a:pPr algn="r" indent="0" marL="0">
              <a:buNone/>
            </a:pPr>
            <a:r>
              <a:rPr lang="en-US" sz="1000" b="1" dirty="0">
                <a:solidFill>
                  <a:srgbClr val="0F1B2D"/>
                </a:solidFill>
                <a:latin typeface="Calibri" pitchFamily="34" charset="0"/>
                <a:ea typeface="Calibri" pitchFamily="34" charset="-122"/>
                <a:cs typeface="Calibri" pitchFamily="34" charset="-120"/>
              </a:rPr>
              <a:t>Rp 46.530</a:t>
            </a:r>
            <a:endParaRPr lang="en-US" sz="1000" dirty="0"/>
          </a:p>
        </p:txBody>
      </p:sp>
      <p:sp>
        <p:nvSpPr>
          <p:cNvPr id="45" name="Shape 43"/>
          <p:cNvSpPr/>
          <p:nvPr/>
        </p:nvSpPr>
        <p:spPr>
          <a:xfrm>
            <a:off x="4937760" y="4251960"/>
            <a:ext cx="3840480" cy="0"/>
          </a:xfrm>
          <a:prstGeom prst="line">
            <a:avLst/>
          </a:prstGeom>
          <a:noFill/>
          <a:ln w="12700">
            <a:solidFill>
              <a:srgbClr val="CCCCCC"/>
            </a:solidFill>
            <a:prstDash val="solid"/>
          </a:ln>
        </p:spPr>
      </p:sp>
      <p:sp>
        <p:nvSpPr>
          <p:cNvPr id="46" name="Text 44"/>
          <p:cNvSpPr/>
          <p:nvPr/>
        </p:nvSpPr>
        <p:spPr>
          <a:xfrm>
            <a:off x="4846320" y="4315968"/>
            <a:ext cx="4023360" cy="320040"/>
          </a:xfrm>
          <a:prstGeom prst="rect">
            <a:avLst/>
          </a:prstGeom>
          <a:noFill/>
          <a:ln/>
        </p:spPr>
        <p:txBody>
          <a:bodyPr wrap="square" rtlCol="0" anchor="ctr"/>
          <a:lstStyle/>
          <a:p>
            <a:pPr algn="ctr" indent="0" marL="0">
              <a:buNone/>
            </a:pPr>
            <a:r>
              <a:rPr lang="en-US" sz="1100" b="1" dirty="0">
                <a:solidFill>
                  <a:srgbClr val="0F1B2D"/>
                </a:solidFill>
                <a:latin typeface="Calibri" pitchFamily="34" charset="0"/>
                <a:ea typeface="Calibri" pitchFamily="34" charset="-122"/>
                <a:cs typeface="Calibri" pitchFamily="34" charset="-120"/>
              </a:rPr>
              <a:t>TERIMA KASIH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4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77B6"/>
          </a:solidFill>
          <a:ln/>
        </p:spPr>
      </p:sp>
      <p:sp>
        <p:nvSpPr>
          <p:cNvPr id="3" name="Text 1"/>
          <p:cNvSpPr/>
          <p:nvPr/>
        </p:nvSpPr>
        <p:spPr>
          <a:xfrm>
            <a:off x="365760" y="91440"/>
            <a:ext cx="841248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TEKNOLOGI &amp; LIBRARY YANG DIGUNAKAN</a:t>
            </a:r>
            <a:endParaRPr lang="en-US" sz="2200" dirty="0"/>
          </a:p>
        </p:txBody>
      </p:sp>
      <p:sp>
        <p:nvSpPr>
          <p:cNvPr id="4" name="Shape 2"/>
          <p:cNvSpPr/>
          <p:nvPr/>
        </p:nvSpPr>
        <p:spPr>
          <a:xfrm>
            <a:off x="228600" y="960120"/>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5" name="Shape 3"/>
          <p:cNvSpPr/>
          <p:nvPr/>
        </p:nvSpPr>
        <p:spPr>
          <a:xfrm>
            <a:off x="320040" y="1088136"/>
            <a:ext cx="274320" cy="347472"/>
          </a:xfrm>
          <a:prstGeom prst="roundRect">
            <a:avLst>
              <a:gd name="adj" fmla="val 13333"/>
            </a:avLst>
          </a:prstGeom>
          <a:solidFill>
            <a:srgbClr val="E44D26"/>
          </a:solidFill>
          <a:ln/>
        </p:spPr>
      </p:sp>
      <p:sp>
        <p:nvSpPr>
          <p:cNvPr id="6" name="Text 4"/>
          <p:cNvSpPr/>
          <p:nvPr/>
        </p:nvSpPr>
        <p:spPr>
          <a:xfrm>
            <a:off x="685800" y="1005840"/>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HTML5 &amp; CSS3</a:t>
            </a:r>
            <a:endParaRPr lang="en-US" sz="1200" dirty="0"/>
          </a:p>
        </p:txBody>
      </p:sp>
      <p:sp>
        <p:nvSpPr>
          <p:cNvPr id="7" name="Text 5"/>
          <p:cNvSpPr/>
          <p:nvPr/>
        </p:nvSpPr>
        <p:spPr>
          <a:xfrm>
            <a:off x="685800" y="1289304"/>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Struktur &amp; styling halaman</a:t>
            </a:r>
            <a:endParaRPr lang="en-US" sz="1000" dirty="0"/>
          </a:p>
        </p:txBody>
      </p:sp>
      <p:sp>
        <p:nvSpPr>
          <p:cNvPr id="8" name="Shape 6"/>
          <p:cNvSpPr/>
          <p:nvPr/>
        </p:nvSpPr>
        <p:spPr>
          <a:xfrm>
            <a:off x="3383280" y="1069848"/>
            <a:ext cx="914400" cy="256032"/>
          </a:xfrm>
          <a:prstGeom prst="roundRect">
            <a:avLst>
              <a:gd name="adj" fmla="val 21429"/>
            </a:avLst>
          </a:prstGeom>
          <a:solidFill>
            <a:srgbClr val="E44D26">
              <a:alpha val="15000"/>
            </a:srgbClr>
          </a:solidFill>
          <a:ln/>
        </p:spPr>
      </p:sp>
      <p:sp>
        <p:nvSpPr>
          <p:cNvPr id="9" name="Text 7"/>
          <p:cNvSpPr/>
          <p:nvPr/>
        </p:nvSpPr>
        <p:spPr>
          <a:xfrm>
            <a:off x="3383280" y="1069848"/>
            <a:ext cx="914400" cy="256032"/>
          </a:xfrm>
          <a:prstGeom prst="rect">
            <a:avLst/>
          </a:prstGeom>
          <a:noFill/>
          <a:ln/>
        </p:spPr>
        <p:txBody>
          <a:bodyPr wrap="square" rtlCol="0" anchor="ctr"/>
          <a:lstStyle/>
          <a:p>
            <a:pPr algn="ctr" indent="0" marL="0">
              <a:buNone/>
            </a:pPr>
            <a:r>
              <a:rPr lang="en-US" sz="800" b="1" dirty="0">
                <a:solidFill>
                  <a:srgbClr val="E44D26"/>
                </a:solidFill>
                <a:latin typeface="Calibri" pitchFamily="34" charset="0"/>
                <a:ea typeface="Calibri" pitchFamily="34" charset="-122"/>
                <a:cs typeface="Calibri" pitchFamily="34" charset="-120"/>
              </a:rPr>
              <a:t>Markup</a:t>
            </a:r>
            <a:endParaRPr lang="en-US" sz="800" dirty="0"/>
          </a:p>
        </p:txBody>
      </p:sp>
      <p:sp>
        <p:nvSpPr>
          <p:cNvPr id="10" name="Shape 8"/>
          <p:cNvSpPr/>
          <p:nvPr/>
        </p:nvSpPr>
        <p:spPr>
          <a:xfrm>
            <a:off x="4846320" y="960120"/>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11" name="Shape 9"/>
          <p:cNvSpPr/>
          <p:nvPr/>
        </p:nvSpPr>
        <p:spPr>
          <a:xfrm>
            <a:off x="4937760" y="1088136"/>
            <a:ext cx="274320" cy="347472"/>
          </a:xfrm>
          <a:prstGeom prst="roundRect">
            <a:avLst>
              <a:gd name="adj" fmla="val 13333"/>
            </a:avLst>
          </a:prstGeom>
          <a:solidFill>
            <a:srgbClr val="F7DF1E"/>
          </a:solidFill>
          <a:ln/>
        </p:spPr>
      </p:sp>
      <p:sp>
        <p:nvSpPr>
          <p:cNvPr id="12" name="Text 10"/>
          <p:cNvSpPr/>
          <p:nvPr/>
        </p:nvSpPr>
        <p:spPr>
          <a:xfrm>
            <a:off x="5303520" y="1005840"/>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Vanilla JS (ES6+)</a:t>
            </a:r>
            <a:endParaRPr lang="en-US" sz="1200" dirty="0"/>
          </a:p>
        </p:txBody>
      </p:sp>
      <p:sp>
        <p:nvSpPr>
          <p:cNvPr id="13" name="Text 11"/>
          <p:cNvSpPr/>
          <p:nvPr/>
        </p:nvSpPr>
        <p:spPr>
          <a:xfrm>
            <a:off x="5303520" y="1289304"/>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Logic: cart, auth, PDF, form validation</a:t>
            </a:r>
            <a:endParaRPr lang="en-US" sz="1000" dirty="0"/>
          </a:p>
        </p:txBody>
      </p:sp>
      <p:sp>
        <p:nvSpPr>
          <p:cNvPr id="14" name="Shape 12"/>
          <p:cNvSpPr/>
          <p:nvPr/>
        </p:nvSpPr>
        <p:spPr>
          <a:xfrm>
            <a:off x="8001000" y="1069848"/>
            <a:ext cx="914400" cy="256032"/>
          </a:xfrm>
          <a:prstGeom prst="roundRect">
            <a:avLst>
              <a:gd name="adj" fmla="val 21429"/>
            </a:avLst>
          </a:prstGeom>
          <a:solidFill>
            <a:srgbClr val="F7DF1E">
              <a:alpha val="15000"/>
            </a:srgbClr>
          </a:solidFill>
          <a:ln/>
        </p:spPr>
      </p:sp>
      <p:sp>
        <p:nvSpPr>
          <p:cNvPr id="15" name="Text 13"/>
          <p:cNvSpPr/>
          <p:nvPr/>
        </p:nvSpPr>
        <p:spPr>
          <a:xfrm>
            <a:off x="8001000" y="1069848"/>
            <a:ext cx="914400" cy="256032"/>
          </a:xfrm>
          <a:prstGeom prst="rect">
            <a:avLst/>
          </a:prstGeom>
          <a:noFill/>
          <a:ln/>
        </p:spPr>
        <p:txBody>
          <a:bodyPr wrap="square" rtlCol="0" anchor="ctr"/>
          <a:lstStyle/>
          <a:p>
            <a:pPr algn="ctr" indent="0" marL="0">
              <a:buNone/>
            </a:pPr>
            <a:r>
              <a:rPr lang="en-US" sz="800" b="1" dirty="0">
                <a:solidFill>
                  <a:srgbClr val="F7DF1E"/>
                </a:solidFill>
                <a:latin typeface="Calibri" pitchFamily="34" charset="0"/>
                <a:ea typeface="Calibri" pitchFamily="34" charset="-122"/>
                <a:cs typeface="Calibri" pitchFamily="34" charset="-120"/>
              </a:rPr>
              <a:t>Core</a:t>
            </a:r>
            <a:endParaRPr lang="en-US" sz="800" dirty="0"/>
          </a:p>
        </p:txBody>
      </p:sp>
      <p:sp>
        <p:nvSpPr>
          <p:cNvPr id="16" name="Shape 14"/>
          <p:cNvSpPr/>
          <p:nvPr/>
        </p:nvSpPr>
        <p:spPr>
          <a:xfrm>
            <a:off x="228600" y="1682496"/>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17" name="Shape 15"/>
          <p:cNvSpPr/>
          <p:nvPr/>
        </p:nvSpPr>
        <p:spPr>
          <a:xfrm>
            <a:off x="320040" y="1810512"/>
            <a:ext cx="274320" cy="347472"/>
          </a:xfrm>
          <a:prstGeom prst="roundRect">
            <a:avLst>
              <a:gd name="adj" fmla="val 13333"/>
            </a:avLst>
          </a:prstGeom>
          <a:solidFill>
            <a:srgbClr val="7952B3"/>
          </a:solidFill>
          <a:ln/>
        </p:spPr>
      </p:sp>
      <p:sp>
        <p:nvSpPr>
          <p:cNvPr id="18" name="Text 16"/>
          <p:cNvSpPr/>
          <p:nvPr/>
        </p:nvSpPr>
        <p:spPr>
          <a:xfrm>
            <a:off x="685800" y="1728216"/>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Bootstrap 5.3</a:t>
            </a:r>
            <a:endParaRPr lang="en-US" sz="1200" dirty="0"/>
          </a:p>
        </p:txBody>
      </p:sp>
      <p:sp>
        <p:nvSpPr>
          <p:cNvPr id="19" name="Text 17"/>
          <p:cNvSpPr/>
          <p:nvPr/>
        </p:nvSpPr>
        <p:spPr>
          <a:xfrm>
            <a:off x="685800" y="2011680"/>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Komponen UI &amp; layout responsif</a:t>
            </a:r>
            <a:endParaRPr lang="en-US" sz="1000" dirty="0"/>
          </a:p>
        </p:txBody>
      </p:sp>
      <p:sp>
        <p:nvSpPr>
          <p:cNvPr id="20" name="Shape 18"/>
          <p:cNvSpPr/>
          <p:nvPr/>
        </p:nvSpPr>
        <p:spPr>
          <a:xfrm>
            <a:off x="3383280" y="1792224"/>
            <a:ext cx="914400" cy="256032"/>
          </a:xfrm>
          <a:prstGeom prst="roundRect">
            <a:avLst>
              <a:gd name="adj" fmla="val 21429"/>
            </a:avLst>
          </a:prstGeom>
          <a:solidFill>
            <a:srgbClr val="7952B3">
              <a:alpha val="15000"/>
            </a:srgbClr>
          </a:solidFill>
          <a:ln/>
        </p:spPr>
      </p:sp>
      <p:sp>
        <p:nvSpPr>
          <p:cNvPr id="21" name="Text 19"/>
          <p:cNvSpPr/>
          <p:nvPr/>
        </p:nvSpPr>
        <p:spPr>
          <a:xfrm>
            <a:off x="3383280" y="1792224"/>
            <a:ext cx="914400" cy="256032"/>
          </a:xfrm>
          <a:prstGeom prst="rect">
            <a:avLst/>
          </a:prstGeom>
          <a:noFill/>
          <a:ln/>
        </p:spPr>
        <p:txBody>
          <a:bodyPr wrap="square" rtlCol="0" anchor="ctr"/>
          <a:lstStyle/>
          <a:p>
            <a:pPr algn="ctr" indent="0" marL="0">
              <a:buNone/>
            </a:pPr>
            <a:r>
              <a:rPr lang="en-US" sz="800" b="1" dirty="0">
                <a:solidFill>
                  <a:srgbClr val="7952B3"/>
                </a:solidFill>
                <a:latin typeface="Calibri" pitchFamily="34" charset="0"/>
                <a:ea typeface="Calibri" pitchFamily="34" charset="-122"/>
                <a:cs typeface="Calibri" pitchFamily="34" charset="-120"/>
              </a:rPr>
              <a:t>UI Framework</a:t>
            </a:r>
            <a:endParaRPr lang="en-US" sz="800" dirty="0"/>
          </a:p>
        </p:txBody>
      </p:sp>
      <p:sp>
        <p:nvSpPr>
          <p:cNvPr id="22" name="Shape 20"/>
          <p:cNvSpPr/>
          <p:nvPr/>
        </p:nvSpPr>
        <p:spPr>
          <a:xfrm>
            <a:off x="4846320" y="1682496"/>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23" name="Shape 21"/>
          <p:cNvSpPr/>
          <p:nvPr/>
        </p:nvSpPr>
        <p:spPr>
          <a:xfrm>
            <a:off x="4937760" y="1810512"/>
            <a:ext cx="274320" cy="347472"/>
          </a:xfrm>
          <a:prstGeom prst="roundRect">
            <a:avLst>
              <a:gd name="adj" fmla="val 13333"/>
            </a:avLst>
          </a:prstGeom>
          <a:solidFill>
            <a:srgbClr val="7952B3"/>
          </a:solidFill>
          <a:ln/>
        </p:spPr>
      </p:sp>
      <p:sp>
        <p:nvSpPr>
          <p:cNvPr id="24" name="Text 22"/>
          <p:cNvSpPr/>
          <p:nvPr/>
        </p:nvSpPr>
        <p:spPr>
          <a:xfrm>
            <a:off x="5303520" y="1728216"/>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Bootstrap Icons</a:t>
            </a:r>
            <a:endParaRPr lang="en-US" sz="1200" dirty="0"/>
          </a:p>
        </p:txBody>
      </p:sp>
      <p:sp>
        <p:nvSpPr>
          <p:cNvPr id="25" name="Text 23"/>
          <p:cNvSpPr/>
          <p:nvPr/>
        </p:nvSpPr>
        <p:spPr>
          <a:xfrm>
            <a:off x="5303520" y="2011680"/>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1300+ ikon SVG</a:t>
            </a:r>
            <a:endParaRPr lang="en-US" sz="1000" dirty="0"/>
          </a:p>
        </p:txBody>
      </p:sp>
      <p:sp>
        <p:nvSpPr>
          <p:cNvPr id="26" name="Shape 24"/>
          <p:cNvSpPr/>
          <p:nvPr/>
        </p:nvSpPr>
        <p:spPr>
          <a:xfrm>
            <a:off x="8001000" y="1792224"/>
            <a:ext cx="914400" cy="256032"/>
          </a:xfrm>
          <a:prstGeom prst="roundRect">
            <a:avLst>
              <a:gd name="adj" fmla="val 21429"/>
            </a:avLst>
          </a:prstGeom>
          <a:solidFill>
            <a:srgbClr val="7952B3">
              <a:alpha val="15000"/>
            </a:srgbClr>
          </a:solidFill>
          <a:ln/>
        </p:spPr>
      </p:sp>
      <p:sp>
        <p:nvSpPr>
          <p:cNvPr id="27" name="Text 25"/>
          <p:cNvSpPr/>
          <p:nvPr/>
        </p:nvSpPr>
        <p:spPr>
          <a:xfrm>
            <a:off x="8001000" y="1792224"/>
            <a:ext cx="914400" cy="256032"/>
          </a:xfrm>
          <a:prstGeom prst="rect">
            <a:avLst/>
          </a:prstGeom>
          <a:noFill/>
          <a:ln/>
        </p:spPr>
        <p:txBody>
          <a:bodyPr wrap="square" rtlCol="0" anchor="ctr"/>
          <a:lstStyle/>
          <a:p>
            <a:pPr algn="ctr" indent="0" marL="0">
              <a:buNone/>
            </a:pPr>
            <a:r>
              <a:rPr lang="en-US" sz="800" b="1" dirty="0">
                <a:solidFill>
                  <a:srgbClr val="7952B3"/>
                </a:solidFill>
                <a:latin typeface="Calibri" pitchFamily="34" charset="0"/>
                <a:ea typeface="Calibri" pitchFamily="34" charset="-122"/>
                <a:cs typeface="Calibri" pitchFamily="34" charset="-120"/>
              </a:rPr>
              <a:t>Icons</a:t>
            </a:r>
            <a:endParaRPr lang="en-US" sz="800" dirty="0"/>
          </a:p>
        </p:txBody>
      </p:sp>
      <p:sp>
        <p:nvSpPr>
          <p:cNvPr id="28" name="Shape 26"/>
          <p:cNvSpPr/>
          <p:nvPr/>
        </p:nvSpPr>
        <p:spPr>
          <a:xfrm>
            <a:off x="228600" y="2404872"/>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29" name="Shape 27"/>
          <p:cNvSpPr/>
          <p:nvPr/>
        </p:nvSpPr>
        <p:spPr>
          <a:xfrm>
            <a:off x="320040" y="2532888"/>
            <a:ext cx="274320" cy="347472"/>
          </a:xfrm>
          <a:prstGeom prst="roundRect">
            <a:avLst>
              <a:gd name="adj" fmla="val 13333"/>
            </a:avLst>
          </a:prstGeom>
          <a:solidFill>
            <a:srgbClr val="E05C5C"/>
          </a:solidFill>
          <a:ln/>
        </p:spPr>
      </p:sp>
      <p:sp>
        <p:nvSpPr>
          <p:cNvPr id="30" name="Text 28"/>
          <p:cNvSpPr/>
          <p:nvPr/>
        </p:nvSpPr>
        <p:spPr>
          <a:xfrm>
            <a:off x="685800" y="2450592"/>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jsPDF</a:t>
            </a:r>
            <a:endParaRPr lang="en-US" sz="1200" dirty="0"/>
          </a:p>
        </p:txBody>
      </p:sp>
      <p:sp>
        <p:nvSpPr>
          <p:cNvPr id="31" name="Text 29"/>
          <p:cNvSpPr/>
          <p:nvPr/>
        </p:nvSpPr>
        <p:spPr>
          <a:xfrm>
            <a:off x="685800" y="2734056"/>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Generate PDF struk di browser</a:t>
            </a:r>
            <a:endParaRPr lang="en-US" sz="1000" dirty="0"/>
          </a:p>
        </p:txBody>
      </p:sp>
      <p:sp>
        <p:nvSpPr>
          <p:cNvPr id="32" name="Shape 30"/>
          <p:cNvSpPr/>
          <p:nvPr/>
        </p:nvSpPr>
        <p:spPr>
          <a:xfrm>
            <a:off x="3383280" y="2514600"/>
            <a:ext cx="914400" cy="256032"/>
          </a:xfrm>
          <a:prstGeom prst="roundRect">
            <a:avLst>
              <a:gd name="adj" fmla="val 21429"/>
            </a:avLst>
          </a:prstGeom>
          <a:solidFill>
            <a:srgbClr val="E05C5C">
              <a:alpha val="15000"/>
            </a:srgbClr>
          </a:solidFill>
          <a:ln/>
        </p:spPr>
      </p:sp>
      <p:sp>
        <p:nvSpPr>
          <p:cNvPr id="33" name="Text 31"/>
          <p:cNvSpPr/>
          <p:nvPr/>
        </p:nvSpPr>
        <p:spPr>
          <a:xfrm>
            <a:off x="3383280" y="2514600"/>
            <a:ext cx="914400" cy="256032"/>
          </a:xfrm>
          <a:prstGeom prst="rect">
            <a:avLst/>
          </a:prstGeom>
          <a:noFill/>
          <a:ln/>
        </p:spPr>
        <p:txBody>
          <a:bodyPr wrap="square" rtlCol="0" anchor="ctr"/>
          <a:lstStyle/>
          <a:p>
            <a:pPr algn="ctr" indent="0" marL="0">
              <a:buNone/>
            </a:pPr>
            <a:r>
              <a:rPr lang="en-US" sz="800" b="1" dirty="0">
                <a:solidFill>
                  <a:srgbClr val="E05C5C"/>
                </a:solidFill>
                <a:latin typeface="Calibri" pitchFamily="34" charset="0"/>
                <a:ea typeface="Calibri" pitchFamily="34" charset="-122"/>
                <a:cs typeface="Calibri" pitchFamily="34" charset="-120"/>
              </a:rPr>
              <a:t>Library</a:t>
            </a:r>
            <a:endParaRPr lang="en-US" sz="800" dirty="0"/>
          </a:p>
        </p:txBody>
      </p:sp>
      <p:sp>
        <p:nvSpPr>
          <p:cNvPr id="34" name="Shape 32"/>
          <p:cNvSpPr/>
          <p:nvPr/>
        </p:nvSpPr>
        <p:spPr>
          <a:xfrm>
            <a:off x="4846320" y="2404872"/>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35" name="Shape 33"/>
          <p:cNvSpPr/>
          <p:nvPr/>
        </p:nvSpPr>
        <p:spPr>
          <a:xfrm>
            <a:off x="4937760" y="2532888"/>
            <a:ext cx="274320" cy="347472"/>
          </a:xfrm>
          <a:prstGeom prst="roundRect">
            <a:avLst>
              <a:gd name="adj" fmla="val 13333"/>
            </a:avLst>
          </a:prstGeom>
          <a:solidFill>
            <a:srgbClr val="0D7377"/>
          </a:solidFill>
          <a:ln/>
        </p:spPr>
      </p:sp>
      <p:sp>
        <p:nvSpPr>
          <p:cNvPr id="36" name="Text 34"/>
          <p:cNvSpPr/>
          <p:nvPr/>
        </p:nvSpPr>
        <p:spPr>
          <a:xfrm>
            <a:off x="5303520" y="2450592"/>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ScrollReveal.js</a:t>
            </a:r>
            <a:endParaRPr lang="en-US" sz="1200" dirty="0"/>
          </a:p>
        </p:txBody>
      </p:sp>
      <p:sp>
        <p:nvSpPr>
          <p:cNvPr id="37" name="Text 35"/>
          <p:cNvSpPr/>
          <p:nvPr/>
        </p:nvSpPr>
        <p:spPr>
          <a:xfrm>
            <a:off x="5303520" y="2734056"/>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Animasi scroll reveal elemen</a:t>
            </a:r>
            <a:endParaRPr lang="en-US" sz="1000" dirty="0"/>
          </a:p>
        </p:txBody>
      </p:sp>
      <p:sp>
        <p:nvSpPr>
          <p:cNvPr id="38" name="Shape 36"/>
          <p:cNvSpPr/>
          <p:nvPr/>
        </p:nvSpPr>
        <p:spPr>
          <a:xfrm>
            <a:off x="8001000" y="2514600"/>
            <a:ext cx="914400" cy="256032"/>
          </a:xfrm>
          <a:prstGeom prst="roundRect">
            <a:avLst>
              <a:gd name="adj" fmla="val 21429"/>
            </a:avLst>
          </a:prstGeom>
          <a:solidFill>
            <a:srgbClr val="0D7377">
              <a:alpha val="15000"/>
            </a:srgbClr>
          </a:solidFill>
          <a:ln/>
        </p:spPr>
      </p:sp>
      <p:sp>
        <p:nvSpPr>
          <p:cNvPr id="39" name="Text 37"/>
          <p:cNvSpPr/>
          <p:nvPr/>
        </p:nvSpPr>
        <p:spPr>
          <a:xfrm>
            <a:off x="8001000" y="2514600"/>
            <a:ext cx="914400" cy="256032"/>
          </a:xfrm>
          <a:prstGeom prst="rect">
            <a:avLst/>
          </a:prstGeom>
          <a:noFill/>
          <a:ln/>
        </p:spPr>
        <p:txBody>
          <a:bodyPr wrap="square" rtlCol="0" anchor="ctr"/>
          <a:lstStyle/>
          <a:p>
            <a:pPr algn="ctr" indent="0" marL="0">
              <a:buNone/>
            </a:pPr>
            <a:r>
              <a:rPr lang="en-US" sz="800" b="1" dirty="0">
                <a:solidFill>
                  <a:srgbClr val="0D7377"/>
                </a:solidFill>
                <a:latin typeface="Calibri" pitchFamily="34" charset="0"/>
                <a:ea typeface="Calibri" pitchFamily="34" charset="-122"/>
                <a:cs typeface="Calibri" pitchFamily="34" charset="-120"/>
              </a:rPr>
              <a:t>Library</a:t>
            </a:r>
            <a:endParaRPr lang="en-US" sz="800" dirty="0"/>
          </a:p>
        </p:txBody>
      </p:sp>
      <p:sp>
        <p:nvSpPr>
          <p:cNvPr id="40" name="Shape 38"/>
          <p:cNvSpPr/>
          <p:nvPr/>
        </p:nvSpPr>
        <p:spPr>
          <a:xfrm>
            <a:off x="228600" y="3127248"/>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41" name="Shape 39"/>
          <p:cNvSpPr/>
          <p:nvPr/>
        </p:nvSpPr>
        <p:spPr>
          <a:xfrm>
            <a:off x="320040" y="3255264"/>
            <a:ext cx="274320" cy="347472"/>
          </a:xfrm>
          <a:prstGeom prst="roundRect">
            <a:avLst>
              <a:gd name="adj" fmla="val 13333"/>
            </a:avLst>
          </a:prstGeom>
          <a:solidFill>
            <a:srgbClr val="059669"/>
          </a:solidFill>
          <a:ln/>
        </p:spPr>
      </p:sp>
      <p:sp>
        <p:nvSpPr>
          <p:cNvPr id="42" name="Text 40"/>
          <p:cNvSpPr/>
          <p:nvPr/>
        </p:nvSpPr>
        <p:spPr>
          <a:xfrm>
            <a:off x="685800" y="3172968"/>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localStorage</a:t>
            </a:r>
            <a:endParaRPr lang="en-US" sz="1200" dirty="0"/>
          </a:p>
        </p:txBody>
      </p:sp>
      <p:sp>
        <p:nvSpPr>
          <p:cNvPr id="43" name="Text 41"/>
          <p:cNvSpPr/>
          <p:nvPr/>
        </p:nvSpPr>
        <p:spPr>
          <a:xfrm>
            <a:off x="685800" y="3456432"/>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Persistensi cart, auth, produk custom</a:t>
            </a:r>
            <a:endParaRPr lang="en-US" sz="1000" dirty="0"/>
          </a:p>
        </p:txBody>
      </p:sp>
      <p:sp>
        <p:nvSpPr>
          <p:cNvPr id="44" name="Shape 42"/>
          <p:cNvSpPr/>
          <p:nvPr/>
        </p:nvSpPr>
        <p:spPr>
          <a:xfrm>
            <a:off x="3383280" y="3236976"/>
            <a:ext cx="914400" cy="256032"/>
          </a:xfrm>
          <a:prstGeom prst="roundRect">
            <a:avLst>
              <a:gd name="adj" fmla="val 21429"/>
            </a:avLst>
          </a:prstGeom>
          <a:solidFill>
            <a:srgbClr val="059669">
              <a:alpha val="15000"/>
            </a:srgbClr>
          </a:solidFill>
          <a:ln/>
        </p:spPr>
      </p:sp>
      <p:sp>
        <p:nvSpPr>
          <p:cNvPr id="45" name="Text 43"/>
          <p:cNvSpPr/>
          <p:nvPr/>
        </p:nvSpPr>
        <p:spPr>
          <a:xfrm>
            <a:off x="3383280" y="3236976"/>
            <a:ext cx="914400" cy="256032"/>
          </a:xfrm>
          <a:prstGeom prst="rect">
            <a:avLst/>
          </a:prstGeom>
          <a:noFill/>
          <a:ln/>
        </p:spPr>
        <p:txBody>
          <a:bodyPr wrap="square"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Web API</a:t>
            </a:r>
            <a:endParaRPr lang="en-US" sz="800" dirty="0"/>
          </a:p>
        </p:txBody>
      </p:sp>
      <p:sp>
        <p:nvSpPr>
          <p:cNvPr id="46" name="Shape 44"/>
          <p:cNvSpPr/>
          <p:nvPr/>
        </p:nvSpPr>
        <p:spPr>
          <a:xfrm>
            <a:off x="4846320" y="3127248"/>
            <a:ext cx="4160520" cy="612648"/>
          </a:xfrm>
          <a:prstGeom prst="roundRect">
            <a:avLst>
              <a:gd name="adj" fmla="val 14925"/>
            </a:avLst>
          </a:prstGeom>
          <a:solidFill>
            <a:srgbClr val="FFFFFF"/>
          </a:solidFill>
          <a:ln/>
          <a:effectLst>
            <a:outerShdw sx="100000" sy="100000" kx="0" ky="0" algn="bl" rotWithShape="0" blurRad="50800" dist="25400" dir="2700000">
              <a:srgbClr val="000000">
                <a:alpha val="10000"/>
              </a:srgbClr>
            </a:outerShdw>
          </a:effectLst>
        </p:spPr>
      </p:sp>
      <p:sp>
        <p:nvSpPr>
          <p:cNvPr id="47" name="Shape 45"/>
          <p:cNvSpPr/>
          <p:nvPr/>
        </p:nvSpPr>
        <p:spPr>
          <a:xfrm>
            <a:off x="4937760" y="3255264"/>
            <a:ext cx="274320" cy="347472"/>
          </a:xfrm>
          <a:prstGeom prst="roundRect">
            <a:avLst>
              <a:gd name="adj" fmla="val 13333"/>
            </a:avLst>
          </a:prstGeom>
          <a:solidFill>
            <a:srgbClr val="D97706"/>
          </a:solidFill>
          <a:ln/>
        </p:spPr>
      </p:sp>
      <p:sp>
        <p:nvSpPr>
          <p:cNvPr id="48" name="Text 46"/>
          <p:cNvSpPr/>
          <p:nvPr/>
        </p:nvSpPr>
        <p:spPr>
          <a:xfrm>
            <a:off x="5303520" y="3172968"/>
            <a:ext cx="3017520" cy="274320"/>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Cookie API</a:t>
            </a:r>
            <a:endParaRPr lang="en-US" sz="1200" dirty="0"/>
          </a:p>
        </p:txBody>
      </p:sp>
      <p:sp>
        <p:nvSpPr>
          <p:cNvPr id="49" name="Text 47"/>
          <p:cNvSpPr/>
          <p:nvPr/>
        </p:nvSpPr>
        <p:spPr>
          <a:xfrm>
            <a:off x="5303520" y="3456432"/>
            <a:ext cx="3017520" cy="237744"/>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Token autentikasi sesi 1 hari</a:t>
            </a:r>
            <a:endParaRPr lang="en-US" sz="1000" dirty="0"/>
          </a:p>
        </p:txBody>
      </p:sp>
      <p:sp>
        <p:nvSpPr>
          <p:cNvPr id="50" name="Shape 48"/>
          <p:cNvSpPr/>
          <p:nvPr/>
        </p:nvSpPr>
        <p:spPr>
          <a:xfrm>
            <a:off x="8001000" y="3236976"/>
            <a:ext cx="914400" cy="256032"/>
          </a:xfrm>
          <a:prstGeom prst="roundRect">
            <a:avLst>
              <a:gd name="adj" fmla="val 21429"/>
            </a:avLst>
          </a:prstGeom>
          <a:solidFill>
            <a:srgbClr val="D97706">
              <a:alpha val="15000"/>
            </a:srgbClr>
          </a:solidFill>
          <a:ln/>
        </p:spPr>
      </p:sp>
      <p:sp>
        <p:nvSpPr>
          <p:cNvPr id="51" name="Text 49"/>
          <p:cNvSpPr/>
          <p:nvPr/>
        </p:nvSpPr>
        <p:spPr>
          <a:xfrm>
            <a:off x="8001000" y="3236976"/>
            <a:ext cx="914400" cy="256032"/>
          </a:xfrm>
          <a:prstGeom prst="rect">
            <a:avLst/>
          </a:prstGeom>
          <a:noFill/>
          <a:ln/>
        </p:spPr>
        <p:txBody>
          <a:bodyPr wrap="square"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Web API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00B4D8">
              <a:alpha val="18000"/>
            </a:srgbClr>
          </a:solidFill>
          <a:ln/>
        </p:spPr>
      </p:sp>
      <p:sp>
        <p:nvSpPr>
          <p:cNvPr id="3" name="Shape 1"/>
          <p:cNvSpPr/>
          <p:nvPr/>
        </p:nvSpPr>
        <p:spPr>
          <a:xfrm>
            <a:off x="7315200" y="3200400"/>
            <a:ext cx="2743200" cy="2743200"/>
          </a:xfrm>
          <a:prstGeom prst="ellipse">
            <a:avLst/>
          </a:prstGeom>
          <a:solidFill>
            <a:srgbClr val="0077B6">
              <a:alpha val="22000"/>
            </a:srgbClr>
          </a:solidFill>
          <a:ln/>
        </p:spPr>
      </p:sp>
      <p:sp>
        <p:nvSpPr>
          <p:cNvPr id="4" name="Text 2"/>
          <p:cNvSpPr/>
          <p:nvPr/>
        </p:nvSpPr>
        <p:spPr>
          <a:xfrm>
            <a:off x="457200" y="457200"/>
            <a:ext cx="8229600" cy="640080"/>
          </a:xfrm>
          <a:prstGeom prst="rect">
            <a:avLst/>
          </a:prstGeom>
          <a:noFill/>
          <a:ln/>
        </p:spPr>
        <p:txBody>
          <a:bodyPr wrap="square" rtlCol="0" anchor="ctr"/>
          <a:lstStyle/>
          <a:p>
            <a:pPr algn="ctr" indent="0" marL="0">
              <a:buNone/>
            </a:pPr>
            <a:r>
              <a:rPr lang="en-US" sz="3000" b="1" spc="400" kern="0" dirty="0">
                <a:solidFill>
                  <a:srgbClr val="FFFFFF"/>
                </a:solidFill>
                <a:latin typeface="Calibri" pitchFamily="34" charset="0"/>
                <a:ea typeface="Calibri" pitchFamily="34" charset="-122"/>
                <a:cs typeface="Calibri" pitchFamily="34" charset="-120"/>
              </a:rPr>
              <a:t>KESIMPULAN</a:t>
            </a:r>
            <a:endParaRPr lang="en-US" sz="3000" dirty="0"/>
          </a:p>
        </p:txBody>
      </p:sp>
      <p:sp>
        <p:nvSpPr>
          <p:cNvPr id="5" name="Text 3"/>
          <p:cNvSpPr/>
          <p:nvPr/>
        </p:nvSpPr>
        <p:spPr>
          <a:xfrm>
            <a:off x="457200" y="1051560"/>
            <a:ext cx="8229600" cy="365760"/>
          </a:xfrm>
          <a:prstGeom prst="rect">
            <a:avLst/>
          </a:prstGeom>
          <a:noFill/>
          <a:ln/>
        </p:spPr>
        <p:txBody>
          <a:bodyPr wrap="square"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Kasir Web Apps — Kelompok 5</a:t>
            </a:r>
            <a:endParaRPr lang="en-US" sz="1400" dirty="0"/>
          </a:p>
        </p:txBody>
      </p:sp>
      <p:sp>
        <p:nvSpPr>
          <p:cNvPr id="6" name="Shape 4"/>
          <p:cNvSpPr/>
          <p:nvPr/>
        </p:nvSpPr>
        <p:spPr>
          <a:xfrm>
            <a:off x="731520" y="1554480"/>
            <a:ext cx="7680960" cy="457200"/>
          </a:xfrm>
          <a:prstGeom prst="roundRect">
            <a:avLst>
              <a:gd name="adj" fmla="val 20000"/>
            </a:avLst>
          </a:prstGeom>
          <a:solidFill>
            <a:srgbClr val="1A3A5C"/>
          </a:solidFill>
          <a:ln/>
        </p:spPr>
      </p:sp>
      <p:sp>
        <p:nvSpPr>
          <p:cNvPr id="7" name="Text 5"/>
          <p:cNvSpPr/>
          <p:nvPr/>
        </p:nvSpPr>
        <p:spPr>
          <a:xfrm>
            <a:off x="822960" y="1554480"/>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371600" y="1554480"/>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Aplikasi kasir restoran FULL-STACK di browser, tanpa server backend.</a:t>
            </a:r>
            <a:endParaRPr lang="en-US" sz="1200" dirty="0"/>
          </a:p>
        </p:txBody>
      </p:sp>
      <p:sp>
        <p:nvSpPr>
          <p:cNvPr id="9" name="Shape 7"/>
          <p:cNvSpPr/>
          <p:nvPr/>
        </p:nvSpPr>
        <p:spPr>
          <a:xfrm>
            <a:off x="731520" y="2093976"/>
            <a:ext cx="7680960" cy="457200"/>
          </a:xfrm>
          <a:prstGeom prst="roundRect">
            <a:avLst>
              <a:gd name="adj" fmla="val 20000"/>
            </a:avLst>
          </a:prstGeom>
          <a:solidFill>
            <a:srgbClr val="142840"/>
          </a:solidFill>
          <a:ln/>
        </p:spPr>
      </p:sp>
      <p:sp>
        <p:nvSpPr>
          <p:cNvPr id="10" name="Text 8"/>
          <p:cNvSpPr/>
          <p:nvPr/>
        </p:nvSpPr>
        <p:spPr>
          <a:xfrm>
            <a:off x="822960" y="2093976"/>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371600" y="2093976"/>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Sistem autentikasi ganda (localStorage + Cookie) untuk keamanan state login.</a:t>
            </a:r>
            <a:endParaRPr lang="en-US" sz="1200" dirty="0"/>
          </a:p>
        </p:txBody>
      </p:sp>
      <p:sp>
        <p:nvSpPr>
          <p:cNvPr id="12" name="Shape 10"/>
          <p:cNvSpPr/>
          <p:nvPr/>
        </p:nvSpPr>
        <p:spPr>
          <a:xfrm>
            <a:off x="731520" y="2633472"/>
            <a:ext cx="7680960" cy="457200"/>
          </a:xfrm>
          <a:prstGeom prst="roundRect">
            <a:avLst>
              <a:gd name="adj" fmla="val 20000"/>
            </a:avLst>
          </a:prstGeom>
          <a:solidFill>
            <a:srgbClr val="1A3A5C"/>
          </a:solidFill>
          <a:ln/>
        </p:spPr>
      </p:sp>
      <p:sp>
        <p:nvSpPr>
          <p:cNvPr id="13" name="Text 11"/>
          <p:cNvSpPr/>
          <p:nvPr/>
        </p:nvSpPr>
        <p:spPr>
          <a:xfrm>
            <a:off x="822960" y="2633472"/>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371600" y="2633472"/>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Keranjang belanja persisten dengan kalkulasi otomatis diskon 10% + PPN 10%.</a:t>
            </a:r>
            <a:endParaRPr lang="en-US" sz="1200" dirty="0"/>
          </a:p>
        </p:txBody>
      </p:sp>
      <p:sp>
        <p:nvSpPr>
          <p:cNvPr id="15" name="Shape 13"/>
          <p:cNvSpPr/>
          <p:nvPr/>
        </p:nvSpPr>
        <p:spPr>
          <a:xfrm>
            <a:off x="731520" y="3172968"/>
            <a:ext cx="7680960" cy="457200"/>
          </a:xfrm>
          <a:prstGeom prst="roundRect">
            <a:avLst>
              <a:gd name="adj" fmla="val 20000"/>
            </a:avLst>
          </a:prstGeom>
          <a:solidFill>
            <a:srgbClr val="142840"/>
          </a:solidFill>
          <a:ln/>
        </p:spPr>
      </p:sp>
      <p:sp>
        <p:nvSpPr>
          <p:cNvPr id="16" name="Text 14"/>
          <p:cNvSpPr/>
          <p:nvPr/>
        </p:nvSpPr>
        <p:spPr>
          <a:xfrm>
            <a:off x="822960" y="3172968"/>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71600" y="3172968"/>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Struk PDF langsung dari browser menggunakan jsPDF — siap cetak.</a:t>
            </a:r>
            <a:endParaRPr lang="en-US" sz="1200" dirty="0"/>
          </a:p>
        </p:txBody>
      </p:sp>
      <p:sp>
        <p:nvSpPr>
          <p:cNvPr id="18" name="Shape 16"/>
          <p:cNvSpPr/>
          <p:nvPr/>
        </p:nvSpPr>
        <p:spPr>
          <a:xfrm>
            <a:off x="731520" y="3712464"/>
            <a:ext cx="7680960" cy="457200"/>
          </a:xfrm>
          <a:prstGeom prst="roundRect">
            <a:avLst>
              <a:gd name="adj" fmla="val 20000"/>
            </a:avLst>
          </a:prstGeom>
          <a:solidFill>
            <a:srgbClr val="1A3A5C"/>
          </a:solidFill>
          <a:ln/>
        </p:spPr>
      </p:sp>
      <p:sp>
        <p:nvSpPr>
          <p:cNvPr id="19" name="Text 17"/>
          <p:cNvSpPr/>
          <p:nvPr/>
        </p:nvSpPr>
        <p:spPr>
          <a:xfrm>
            <a:off x="822960" y="3712464"/>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371600" y="3712464"/>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Admin dapat menambah produk baru yang langsung muncul di menu kasir.</a:t>
            </a:r>
            <a:endParaRPr lang="en-US" sz="1200" dirty="0"/>
          </a:p>
        </p:txBody>
      </p:sp>
      <p:sp>
        <p:nvSpPr>
          <p:cNvPr id="21" name="Shape 19"/>
          <p:cNvSpPr/>
          <p:nvPr/>
        </p:nvSpPr>
        <p:spPr>
          <a:xfrm>
            <a:off x="731520" y="4251960"/>
            <a:ext cx="7680960" cy="457200"/>
          </a:xfrm>
          <a:prstGeom prst="roundRect">
            <a:avLst>
              <a:gd name="adj" fmla="val 20000"/>
            </a:avLst>
          </a:prstGeom>
          <a:solidFill>
            <a:srgbClr val="142840"/>
          </a:solidFill>
          <a:ln/>
        </p:spPr>
      </p:sp>
      <p:sp>
        <p:nvSpPr>
          <p:cNvPr id="22" name="Text 20"/>
          <p:cNvSpPr/>
          <p:nvPr/>
        </p:nvSpPr>
        <p:spPr>
          <a:xfrm>
            <a:off x="822960" y="4251960"/>
            <a:ext cx="457200" cy="45720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371600" y="4251960"/>
            <a:ext cx="68580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Zero-dependency install — cukup buka index.html di browser manapun.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B8A"/>
          </a:solidFill>
          <a:ln/>
        </p:spPr>
      </p:sp>
      <p:sp>
        <p:nvSpPr>
          <p:cNvPr id="3" name="Text 1"/>
          <p:cNvSpPr/>
          <p:nvPr/>
        </p:nvSpPr>
        <p:spPr>
          <a:xfrm>
            <a:off x="365760" y="45720"/>
            <a:ext cx="8412480" cy="530352"/>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CARA MENJALANKAN DI NetBeans IDE</a:t>
            </a:r>
            <a:endParaRPr lang="en-US" sz="2100" dirty="0"/>
          </a:p>
        </p:txBody>
      </p:sp>
      <p:sp>
        <p:nvSpPr>
          <p:cNvPr id="4" name="Text 2"/>
          <p:cNvSpPr/>
          <p:nvPr/>
        </p:nvSpPr>
        <p:spPr>
          <a:xfrm>
            <a:off x="365760" y="566928"/>
            <a:ext cx="8412480" cy="210312"/>
          </a:xfrm>
          <a:prstGeom prst="rect">
            <a:avLst/>
          </a:prstGeom>
          <a:noFill/>
          <a:ln/>
        </p:spPr>
        <p:txBody>
          <a:bodyPr wrap="square" rtlCol="0" anchor="ctr"/>
          <a:lstStyle/>
          <a:p>
            <a:pPr indent="0" marL="0">
              <a:buNone/>
            </a:pPr>
            <a:r>
              <a:rPr lang="en-US" sz="1000" dirty="0">
                <a:solidFill>
                  <a:srgbClr val="00B4D8"/>
                </a:solidFill>
                <a:latin typeface="Calibri" pitchFamily="34" charset="0"/>
                <a:ea typeface="Calibri" pitchFamily="34" charset="-122"/>
                <a:cs typeface="Calibri" pitchFamily="34" charset="-120"/>
              </a:rPr>
              <a:t>Step-by-step dari download hingga aplikasi berjalan di browser</a:t>
            </a:r>
            <a:endParaRPr lang="en-US" sz="1000" dirty="0"/>
          </a:p>
        </p:txBody>
      </p:sp>
      <p:sp>
        <p:nvSpPr>
          <p:cNvPr id="5" name="Shape 3"/>
          <p:cNvSpPr/>
          <p:nvPr/>
        </p:nvSpPr>
        <p:spPr>
          <a:xfrm>
            <a:off x="256032" y="914400"/>
            <a:ext cx="4160520" cy="1901952"/>
          </a:xfrm>
          <a:prstGeom prst="roundRect">
            <a:avLst>
              <a:gd name="adj" fmla="val 5769"/>
            </a:avLst>
          </a:prstGeom>
          <a:solidFill>
            <a:srgbClr val="1B4B8A"/>
          </a:solidFill>
          <a:ln/>
          <a:effectLst>
            <a:outerShdw sx="100000" sy="100000" kx="0" ky="0" algn="bl" rotWithShape="0" blurRad="101600" dist="38100" dir="2700000">
              <a:srgbClr val="000000">
                <a:alpha val="20000"/>
              </a:srgbClr>
            </a:outerShdw>
          </a:effectLst>
        </p:spPr>
      </p:sp>
      <p:sp>
        <p:nvSpPr>
          <p:cNvPr id="6" name="Shape 4"/>
          <p:cNvSpPr/>
          <p:nvPr/>
        </p:nvSpPr>
        <p:spPr>
          <a:xfrm>
            <a:off x="384048" y="1024128"/>
            <a:ext cx="420624" cy="420624"/>
          </a:xfrm>
          <a:prstGeom prst="ellipse">
            <a:avLst/>
          </a:prstGeom>
          <a:solidFill>
            <a:srgbClr val="00B4D8"/>
          </a:solidFill>
          <a:ln/>
        </p:spPr>
      </p:sp>
      <p:sp>
        <p:nvSpPr>
          <p:cNvPr id="7" name="Text 5"/>
          <p:cNvSpPr/>
          <p:nvPr/>
        </p:nvSpPr>
        <p:spPr>
          <a:xfrm>
            <a:off x="384048" y="1024128"/>
            <a:ext cx="420624" cy="420624"/>
          </a:xfrm>
          <a:prstGeom prst="rect">
            <a:avLst/>
          </a:prstGeom>
          <a:noFill/>
          <a:ln/>
        </p:spPr>
        <p:txBody>
          <a:bodyPr wrap="square"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3922776" y="1005840"/>
            <a:ext cx="347472" cy="347472"/>
          </a:xfrm>
          <a:prstGeom prst="rect">
            <a:avLst/>
          </a:prstGeom>
        </p:spPr>
      </p:pic>
      <p:sp>
        <p:nvSpPr>
          <p:cNvPr id="9" name="Text 6"/>
          <p:cNvSpPr/>
          <p:nvPr/>
        </p:nvSpPr>
        <p:spPr>
          <a:xfrm>
            <a:off x="896112" y="1024128"/>
            <a:ext cx="29718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Install NetBeans &amp; Plugin</a:t>
            </a:r>
            <a:endParaRPr lang="en-US" sz="1200" dirty="0"/>
          </a:p>
        </p:txBody>
      </p:sp>
      <p:sp>
        <p:nvSpPr>
          <p:cNvPr id="10" name="Shape 7"/>
          <p:cNvSpPr/>
          <p:nvPr/>
        </p:nvSpPr>
        <p:spPr>
          <a:xfrm>
            <a:off x="384048" y="1481328"/>
            <a:ext cx="3904488" cy="0"/>
          </a:xfrm>
          <a:prstGeom prst="line">
            <a:avLst/>
          </a:prstGeom>
          <a:noFill/>
          <a:ln w="6350">
            <a:solidFill>
              <a:srgbClr val="00B4D8"/>
            </a:solidFill>
            <a:prstDash val="solid"/>
          </a:ln>
        </p:spPr>
      </p:sp>
      <p:sp>
        <p:nvSpPr>
          <p:cNvPr id="11" name="Shape 8"/>
          <p:cNvSpPr/>
          <p:nvPr/>
        </p:nvSpPr>
        <p:spPr>
          <a:xfrm>
            <a:off x="493776" y="1636776"/>
            <a:ext cx="91440" cy="91440"/>
          </a:xfrm>
          <a:prstGeom prst="ellipse">
            <a:avLst/>
          </a:prstGeom>
          <a:solidFill>
            <a:srgbClr val="00B4D8"/>
          </a:solidFill>
          <a:ln/>
        </p:spPr>
      </p:sp>
      <p:sp>
        <p:nvSpPr>
          <p:cNvPr id="12" name="Text 9"/>
          <p:cNvSpPr/>
          <p:nvPr/>
        </p:nvSpPr>
        <p:spPr>
          <a:xfrm>
            <a:off x="640080" y="1554480"/>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Download NetBeans dari netbeans.apache.org (versi terbaru)</a:t>
            </a:r>
            <a:endParaRPr lang="en-US" sz="950" dirty="0"/>
          </a:p>
        </p:txBody>
      </p:sp>
      <p:sp>
        <p:nvSpPr>
          <p:cNvPr id="13" name="Shape 10"/>
          <p:cNvSpPr/>
          <p:nvPr/>
        </p:nvSpPr>
        <p:spPr>
          <a:xfrm>
            <a:off x="493776" y="1938528"/>
            <a:ext cx="91440" cy="91440"/>
          </a:xfrm>
          <a:prstGeom prst="ellipse">
            <a:avLst/>
          </a:prstGeom>
          <a:solidFill>
            <a:srgbClr val="00B4D8"/>
          </a:solidFill>
          <a:ln/>
        </p:spPr>
      </p:sp>
      <p:sp>
        <p:nvSpPr>
          <p:cNvPr id="14" name="Text 11"/>
          <p:cNvSpPr/>
          <p:nvPr/>
        </p:nvSpPr>
        <p:spPr>
          <a:xfrm>
            <a:off x="640080" y="1856232"/>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Tools → Plugins → Available Plugins → cari 'PHP'</a:t>
            </a:r>
            <a:endParaRPr lang="en-US" sz="950" dirty="0"/>
          </a:p>
        </p:txBody>
      </p:sp>
      <p:sp>
        <p:nvSpPr>
          <p:cNvPr id="15" name="Shape 12"/>
          <p:cNvSpPr/>
          <p:nvPr/>
        </p:nvSpPr>
        <p:spPr>
          <a:xfrm>
            <a:off x="493776" y="2240280"/>
            <a:ext cx="91440" cy="91440"/>
          </a:xfrm>
          <a:prstGeom prst="ellipse">
            <a:avLst/>
          </a:prstGeom>
          <a:solidFill>
            <a:srgbClr val="00B4D8"/>
          </a:solidFill>
          <a:ln/>
        </p:spPr>
      </p:sp>
      <p:sp>
        <p:nvSpPr>
          <p:cNvPr id="16" name="Text 13"/>
          <p:cNvSpPr/>
          <p:nvPr/>
        </p:nvSpPr>
        <p:spPr>
          <a:xfrm>
            <a:off x="640080" y="2157984"/>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Install plugin PHP &amp; HTML5, lalu Restart NetBeans</a:t>
            </a:r>
            <a:endParaRPr lang="en-US" sz="950" dirty="0"/>
          </a:p>
        </p:txBody>
      </p:sp>
      <p:sp>
        <p:nvSpPr>
          <p:cNvPr id="17" name="Shape 14"/>
          <p:cNvSpPr/>
          <p:nvPr/>
        </p:nvSpPr>
        <p:spPr>
          <a:xfrm>
            <a:off x="493776" y="2542032"/>
            <a:ext cx="91440" cy="91440"/>
          </a:xfrm>
          <a:prstGeom prst="ellipse">
            <a:avLst/>
          </a:prstGeom>
          <a:solidFill>
            <a:srgbClr val="00B4D8"/>
          </a:solidFill>
          <a:ln/>
        </p:spPr>
      </p:sp>
      <p:sp>
        <p:nvSpPr>
          <p:cNvPr id="18" name="Text 15"/>
          <p:cNvSpPr/>
          <p:nvPr/>
        </p:nvSpPr>
        <p:spPr>
          <a:xfrm>
            <a:off x="640080" y="2459736"/>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Pastikan JDK 11 atau lebih baru sudah terinstall</a:t>
            </a:r>
            <a:endParaRPr lang="en-US" sz="950" dirty="0"/>
          </a:p>
        </p:txBody>
      </p:sp>
      <p:sp>
        <p:nvSpPr>
          <p:cNvPr id="19" name="Shape 16"/>
          <p:cNvSpPr/>
          <p:nvPr/>
        </p:nvSpPr>
        <p:spPr>
          <a:xfrm>
            <a:off x="4690872" y="914400"/>
            <a:ext cx="4160520" cy="1901952"/>
          </a:xfrm>
          <a:prstGeom prst="roundRect">
            <a:avLst>
              <a:gd name="adj" fmla="val 5769"/>
            </a:avLst>
          </a:prstGeom>
          <a:solidFill>
            <a:srgbClr val="14396B"/>
          </a:solidFill>
          <a:ln/>
          <a:effectLst>
            <a:outerShdw sx="100000" sy="100000" kx="0" ky="0" algn="bl" rotWithShape="0" blurRad="101600" dist="38100" dir="2700000">
              <a:srgbClr val="000000">
                <a:alpha val="20000"/>
              </a:srgbClr>
            </a:outerShdw>
          </a:effectLst>
        </p:spPr>
      </p:sp>
      <p:sp>
        <p:nvSpPr>
          <p:cNvPr id="20" name="Shape 17"/>
          <p:cNvSpPr/>
          <p:nvPr/>
        </p:nvSpPr>
        <p:spPr>
          <a:xfrm>
            <a:off x="4818888" y="1024128"/>
            <a:ext cx="420624" cy="420624"/>
          </a:xfrm>
          <a:prstGeom prst="ellipse">
            <a:avLst/>
          </a:prstGeom>
          <a:solidFill>
            <a:srgbClr val="00B4D8"/>
          </a:solidFill>
          <a:ln/>
        </p:spPr>
      </p:sp>
      <p:sp>
        <p:nvSpPr>
          <p:cNvPr id="21" name="Text 18"/>
          <p:cNvSpPr/>
          <p:nvPr/>
        </p:nvSpPr>
        <p:spPr>
          <a:xfrm>
            <a:off x="4818888" y="1024128"/>
            <a:ext cx="420624" cy="420624"/>
          </a:xfrm>
          <a:prstGeom prst="rect">
            <a:avLst/>
          </a:prstGeom>
          <a:noFill/>
          <a:ln/>
        </p:spPr>
        <p:txBody>
          <a:bodyPr wrap="square"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2</a:t>
            </a:r>
            <a:endParaRPr lang="en-US" sz="1400" dirty="0"/>
          </a:p>
        </p:txBody>
      </p:sp>
      <p:pic>
        <p:nvPicPr>
          <p:cNvPr id="22" name="Image 1" descr="preencoded.png">    </p:cNvPr>
          <p:cNvPicPr>
            <a:picLocks noChangeAspect="1"/>
          </p:cNvPicPr>
          <p:nvPr/>
        </p:nvPicPr>
        <p:blipFill>
          <a:blip r:embed="rId2"/>
          <a:stretch>
            <a:fillRect/>
          </a:stretch>
        </p:blipFill>
        <p:spPr>
          <a:xfrm>
            <a:off x="8357616" y="1005840"/>
            <a:ext cx="347472" cy="347472"/>
          </a:xfrm>
          <a:prstGeom prst="rect">
            <a:avLst/>
          </a:prstGeom>
        </p:spPr>
      </p:pic>
      <p:sp>
        <p:nvSpPr>
          <p:cNvPr id="23" name="Text 19"/>
          <p:cNvSpPr/>
          <p:nvPr/>
        </p:nvSpPr>
        <p:spPr>
          <a:xfrm>
            <a:off x="5330952" y="1024128"/>
            <a:ext cx="29718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Buka Proyek (Open Project)</a:t>
            </a:r>
            <a:endParaRPr lang="en-US" sz="1200" dirty="0"/>
          </a:p>
        </p:txBody>
      </p:sp>
      <p:sp>
        <p:nvSpPr>
          <p:cNvPr id="24" name="Shape 20"/>
          <p:cNvSpPr/>
          <p:nvPr/>
        </p:nvSpPr>
        <p:spPr>
          <a:xfrm>
            <a:off x="4818888" y="1481328"/>
            <a:ext cx="3904488" cy="0"/>
          </a:xfrm>
          <a:prstGeom prst="line">
            <a:avLst/>
          </a:prstGeom>
          <a:noFill/>
          <a:ln w="6350">
            <a:solidFill>
              <a:srgbClr val="00B4D8"/>
            </a:solidFill>
            <a:prstDash val="solid"/>
          </a:ln>
        </p:spPr>
      </p:sp>
      <p:sp>
        <p:nvSpPr>
          <p:cNvPr id="25" name="Shape 21"/>
          <p:cNvSpPr/>
          <p:nvPr/>
        </p:nvSpPr>
        <p:spPr>
          <a:xfrm>
            <a:off x="4928616" y="1636776"/>
            <a:ext cx="91440" cy="91440"/>
          </a:xfrm>
          <a:prstGeom prst="ellipse">
            <a:avLst/>
          </a:prstGeom>
          <a:solidFill>
            <a:srgbClr val="00B4D8"/>
          </a:solidFill>
          <a:ln/>
        </p:spPr>
      </p:sp>
      <p:sp>
        <p:nvSpPr>
          <p:cNvPr id="26" name="Text 22"/>
          <p:cNvSpPr/>
          <p:nvPr/>
        </p:nvSpPr>
        <p:spPr>
          <a:xfrm>
            <a:off x="5074920" y="1554480"/>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File → Open Project  atau tekan Ctrl+Shift+O</a:t>
            </a:r>
            <a:endParaRPr lang="en-US" sz="950" dirty="0"/>
          </a:p>
        </p:txBody>
      </p:sp>
      <p:sp>
        <p:nvSpPr>
          <p:cNvPr id="27" name="Shape 23"/>
          <p:cNvSpPr/>
          <p:nvPr/>
        </p:nvSpPr>
        <p:spPr>
          <a:xfrm>
            <a:off x="4928616" y="1938528"/>
            <a:ext cx="91440" cy="91440"/>
          </a:xfrm>
          <a:prstGeom prst="ellipse">
            <a:avLst/>
          </a:prstGeom>
          <a:solidFill>
            <a:srgbClr val="00B4D8"/>
          </a:solidFill>
          <a:ln/>
        </p:spPr>
      </p:sp>
      <p:sp>
        <p:nvSpPr>
          <p:cNvPr id="28" name="Text 24"/>
          <p:cNvSpPr/>
          <p:nvPr/>
        </p:nvSpPr>
        <p:spPr>
          <a:xfrm>
            <a:off x="5074920" y="1856232"/>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Arahkan ke folder proyek Kasir Web Apps</a:t>
            </a:r>
            <a:endParaRPr lang="en-US" sz="950" dirty="0"/>
          </a:p>
        </p:txBody>
      </p:sp>
      <p:sp>
        <p:nvSpPr>
          <p:cNvPr id="29" name="Shape 25"/>
          <p:cNvSpPr/>
          <p:nvPr/>
        </p:nvSpPr>
        <p:spPr>
          <a:xfrm>
            <a:off x="4928616" y="2240280"/>
            <a:ext cx="91440" cy="91440"/>
          </a:xfrm>
          <a:prstGeom prst="ellipse">
            <a:avLst/>
          </a:prstGeom>
          <a:solidFill>
            <a:srgbClr val="00B4D8"/>
          </a:solidFill>
          <a:ln/>
        </p:spPr>
      </p:sp>
      <p:sp>
        <p:nvSpPr>
          <p:cNvPr id="30" name="Text 26"/>
          <p:cNvSpPr/>
          <p:nvPr/>
        </p:nvSpPr>
        <p:spPr>
          <a:xfrm>
            <a:off x="5074920" y="2157984"/>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Klik Open Project — deteksi otomatis sebagai HTML project</a:t>
            </a:r>
            <a:endParaRPr lang="en-US" sz="950" dirty="0"/>
          </a:p>
        </p:txBody>
      </p:sp>
      <p:sp>
        <p:nvSpPr>
          <p:cNvPr id="31" name="Shape 27"/>
          <p:cNvSpPr/>
          <p:nvPr/>
        </p:nvSpPr>
        <p:spPr>
          <a:xfrm>
            <a:off x="4928616" y="2542032"/>
            <a:ext cx="91440" cy="91440"/>
          </a:xfrm>
          <a:prstGeom prst="ellipse">
            <a:avLst/>
          </a:prstGeom>
          <a:solidFill>
            <a:srgbClr val="00B4D8"/>
          </a:solidFill>
          <a:ln/>
        </p:spPr>
      </p:sp>
      <p:sp>
        <p:nvSpPr>
          <p:cNvPr id="32" name="Text 28"/>
          <p:cNvSpPr/>
          <p:nvPr/>
        </p:nvSpPr>
        <p:spPr>
          <a:xfrm>
            <a:off x="5074920" y="2459736"/>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Pastikan terlihat: index.html, js/, css/, data/menu.json</a:t>
            </a:r>
            <a:endParaRPr lang="en-US" sz="950" dirty="0"/>
          </a:p>
        </p:txBody>
      </p:sp>
      <p:sp>
        <p:nvSpPr>
          <p:cNvPr id="33" name="Shape 29"/>
          <p:cNvSpPr/>
          <p:nvPr/>
        </p:nvSpPr>
        <p:spPr>
          <a:xfrm>
            <a:off x="256032" y="2962656"/>
            <a:ext cx="4160520" cy="1901952"/>
          </a:xfrm>
          <a:prstGeom prst="roundRect">
            <a:avLst>
              <a:gd name="adj" fmla="val 5769"/>
            </a:avLst>
          </a:prstGeom>
          <a:solidFill>
            <a:srgbClr val="0F2D55"/>
          </a:solidFill>
          <a:ln/>
          <a:effectLst>
            <a:outerShdw sx="100000" sy="100000" kx="0" ky="0" algn="bl" rotWithShape="0" blurRad="101600" dist="38100" dir="2700000">
              <a:srgbClr val="000000">
                <a:alpha val="20000"/>
              </a:srgbClr>
            </a:outerShdw>
          </a:effectLst>
        </p:spPr>
      </p:sp>
      <p:sp>
        <p:nvSpPr>
          <p:cNvPr id="34" name="Shape 30"/>
          <p:cNvSpPr/>
          <p:nvPr/>
        </p:nvSpPr>
        <p:spPr>
          <a:xfrm>
            <a:off x="384048" y="3072384"/>
            <a:ext cx="420624" cy="420624"/>
          </a:xfrm>
          <a:prstGeom prst="ellipse">
            <a:avLst/>
          </a:prstGeom>
          <a:solidFill>
            <a:srgbClr val="00B4D8"/>
          </a:solidFill>
          <a:ln/>
        </p:spPr>
      </p:sp>
      <p:sp>
        <p:nvSpPr>
          <p:cNvPr id="35" name="Text 31"/>
          <p:cNvSpPr/>
          <p:nvPr/>
        </p:nvSpPr>
        <p:spPr>
          <a:xfrm>
            <a:off x="384048" y="3072384"/>
            <a:ext cx="420624" cy="420624"/>
          </a:xfrm>
          <a:prstGeom prst="rect">
            <a:avLst/>
          </a:prstGeom>
          <a:noFill/>
          <a:ln/>
        </p:spPr>
        <p:txBody>
          <a:bodyPr wrap="square"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3</a:t>
            </a:r>
            <a:endParaRPr lang="en-US" sz="1400" dirty="0"/>
          </a:p>
        </p:txBody>
      </p:sp>
      <p:pic>
        <p:nvPicPr>
          <p:cNvPr id="36" name="Image 2" descr="preencoded.png">    </p:cNvPr>
          <p:cNvPicPr>
            <a:picLocks noChangeAspect="1"/>
          </p:cNvPicPr>
          <p:nvPr/>
        </p:nvPicPr>
        <p:blipFill>
          <a:blip r:embed="rId3"/>
          <a:stretch>
            <a:fillRect/>
          </a:stretch>
        </p:blipFill>
        <p:spPr>
          <a:xfrm>
            <a:off x="3922776" y="3054096"/>
            <a:ext cx="347472" cy="347472"/>
          </a:xfrm>
          <a:prstGeom prst="rect">
            <a:avLst/>
          </a:prstGeom>
        </p:spPr>
      </p:pic>
      <p:sp>
        <p:nvSpPr>
          <p:cNvPr id="37" name="Text 32"/>
          <p:cNvSpPr/>
          <p:nvPr/>
        </p:nvSpPr>
        <p:spPr>
          <a:xfrm>
            <a:off x="896112" y="3072384"/>
            <a:ext cx="29718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Konfigurasi &amp; Run Server</a:t>
            </a:r>
            <a:endParaRPr lang="en-US" sz="1200" dirty="0"/>
          </a:p>
        </p:txBody>
      </p:sp>
      <p:sp>
        <p:nvSpPr>
          <p:cNvPr id="38" name="Shape 33"/>
          <p:cNvSpPr/>
          <p:nvPr/>
        </p:nvSpPr>
        <p:spPr>
          <a:xfrm>
            <a:off x="384048" y="3529584"/>
            <a:ext cx="3904488" cy="0"/>
          </a:xfrm>
          <a:prstGeom prst="line">
            <a:avLst/>
          </a:prstGeom>
          <a:noFill/>
          <a:ln w="6350">
            <a:solidFill>
              <a:srgbClr val="00B4D8"/>
            </a:solidFill>
            <a:prstDash val="solid"/>
          </a:ln>
        </p:spPr>
      </p:sp>
      <p:sp>
        <p:nvSpPr>
          <p:cNvPr id="39" name="Shape 34"/>
          <p:cNvSpPr/>
          <p:nvPr/>
        </p:nvSpPr>
        <p:spPr>
          <a:xfrm>
            <a:off x="493776" y="3685032"/>
            <a:ext cx="91440" cy="91440"/>
          </a:xfrm>
          <a:prstGeom prst="ellipse">
            <a:avLst/>
          </a:prstGeom>
          <a:solidFill>
            <a:srgbClr val="00B4D8"/>
          </a:solidFill>
          <a:ln/>
        </p:spPr>
      </p:sp>
      <p:sp>
        <p:nvSpPr>
          <p:cNvPr id="40" name="Text 35"/>
          <p:cNvSpPr/>
          <p:nvPr/>
        </p:nvSpPr>
        <p:spPr>
          <a:xfrm>
            <a:off x="640080" y="3602736"/>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Klik kanan Project → Properties → tab Run</a:t>
            </a:r>
            <a:endParaRPr lang="en-US" sz="950" dirty="0"/>
          </a:p>
        </p:txBody>
      </p:sp>
      <p:sp>
        <p:nvSpPr>
          <p:cNvPr id="41" name="Shape 36"/>
          <p:cNvSpPr/>
          <p:nvPr/>
        </p:nvSpPr>
        <p:spPr>
          <a:xfrm>
            <a:off x="493776" y="3986784"/>
            <a:ext cx="91440" cy="91440"/>
          </a:xfrm>
          <a:prstGeom prst="ellipse">
            <a:avLst/>
          </a:prstGeom>
          <a:solidFill>
            <a:srgbClr val="00B4D8"/>
          </a:solidFill>
          <a:ln/>
        </p:spPr>
      </p:sp>
      <p:sp>
        <p:nvSpPr>
          <p:cNvPr id="42" name="Text 37"/>
          <p:cNvSpPr/>
          <p:nvPr/>
        </p:nvSpPr>
        <p:spPr>
          <a:xfrm>
            <a:off x="640080" y="3904488"/>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Pilih Built-in Web Server (port 8080, default)</a:t>
            </a:r>
            <a:endParaRPr lang="en-US" sz="950" dirty="0"/>
          </a:p>
        </p:txBody>
      </p:sp>
      <p:sp>
        <p:nvSpPr>
          <p:cNvPr id="43" name="Shape 38"/>
          <p:cNvSpPr/>
          <p:nvPr/>
        </p:nvSpPr>
        <p:spPr>
          <a:xfrm>
            <a:off x="493776" y="4288536"/>
            <a:ext cx="91440" cy="91440"/>
          </a:xfrm>
          <a:prstGeom prst="ellipse">
            <a:avLst/>
          </a:prstGeom>
          <a:solidFill>
            <a:srgbClr val="00B4D8"/>
          </a:solidFill>
          <a:ln/>
        </p:spPr>
      </p:sp>
      <p:sp>
        <p:nvSpPr>
          <p:cNvPr id="44" name="Text 39"/>
          <p:cNvSpPr/>
          <p:nvPr/>
        </p:nvSpPr>
        <p:spPr>
          <a:xfrm>
            <a:off x="640080" y="4206240"/>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Alternatif: salin folder ke XAMPP/htdocs/kasir</a:t>
            </a:r>
            <a:endParaRPr lang="en-US" sz="950" dirty="0"/>
          </a:p>
        </p:txBody>
      </p:sp>
      <p:sp>
        <p:nvSpPr>
          <p:cNvPr id="45" name="Shape 40"/>
          <p:cNvSpPr/>
          <p:nvPr/>
        </p:nvSpPr>
        <p:spPr>
          <a:xfrm>
            <a:off x="493776" y="4590288"/>
            <a:ext cx="91440" cy="91440"/>
          </a:xfrm>
          <a:prstGeom prst="ellipse">
            <a:avLst/>
          </a:prstGeom>
          <a:solidFill>
            <a:srgbClr val="00B4D8"/>
          </a:solidFill>
          <a:ln/>
        </p:spPr>
      </p:sp>
      <p:sp>
        <p:nvSpPr>
          <p:cNvPr id="46" name="Text 41"/>
          <p:cNvSpPr/>
          <p:nvPr/>
        </p:nvSpPr>
        <p:spPr>
          <a:xfrm>
            <a:off x="640080" y="4507992"/>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WAJIB via server — jangan buka file:// langsung!</a:t>
            </a:r>
            <a:endParaRPr lang="en-US" sz="950" dirty="0"/>
          </a:p>
        </p:txBody>
      </p:sp>
      <p:sp>
        <p:nvSpPr>
          <p:cNvPr id="47" name="Shape 42"/>
          <p:cNvSpPr/>
          <p:nvPr/>
        </p:nvSpPr>
        <p:spPr>
          <a:xfrm>
            <a:off x="4690872" y="2962656"/>
            <a:ext cx="4160520" cy="1901952"/>
          </a:xfrm>
          <a:prstGeom prst="roundRect">
            <a:avLst>
              <a:gd name="adj" fmla="val 5769"/>
            </a:avLst>
          </a:prstGeom>
          <a:solidFill>
            <a:srgbClr val="0A2244"/>
          </a:solidFill>
          <a:ln/>
          <a:effectLst>
            <a:outerShdw sx="100000" sy="100000" kx="0" ky="0" algn="bl" rotWithShape="0" blurRad="101600" dist="38100" dir="2700000">
              <a:srgbClr val="000000">
                <a:alpha val="20000"/>
              </a:srgbClr>
            </a:outerShdw>
          </a:effectLst>
        </p:spPr>
      </p:sp>
      <p:sp>
        <p:nvSpPr>
          <p:cNvPr id="48" name="Shape 43"/>
          <p:cNvSpPr/>
          <p:nvPr/>
        </p:nvSpPr>
        <p:spPr>
          <a:xfrm>
            <a:off x="4818888" y="3072384"/>
            <a:ext cx="420624" cy="420624"/>
          </a:xfrm>
          <a:prstGeom prst="ellipse">
            <a:avLst/>
          </a:prstGeom>
          <a:solidFill>
            <a:srgbClr val="00B4D8"/>
          </a:solidFill>
          <a:ln/>
        </p:spPr>
      </p:sp>
      <p:sp>
        <p:nvSpPr>
          <p:cNvPr id="49" name="Text 44"/>
          <p:cNvSpPr/>
          <p:nvPr/>
        </p:nvSpPr>
        <p:spPr>
          <a:xfrm>
            <a:off x="4818888" y="3072384"/>
            <a:ext cx="420624" cy="420624"/>
          </a:xfrm>
          <a:prstGeom prst="rect">
            <a:avLst/>
          </a:prstGeom>
          <a:noFill/>
          <a:ln/>
        </p:spPr>
        <p:txBody>
          <a:bodyPr wrap="square"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4</a:t>
            </a:r>
            <a:endParaRPr lang="en-US" sz="1400" dirty="0"/>
          </a:p>
        </p:txBody>
      </p:sp>
      <p:pic>
        <p:nvPicPr>
          <p:cNvPr id="50" name="Image 3" descr="preencoded.png">    </p:cNvPr>
          <p:cNvPicPr>
            <a:picLocks noChangeAspect="1"/>
          </p:cNvPicPr>
          <p:nvPr/>
        </p:nvPicPr>
        <p:blipFill>
          <a:blip r:embed="rId4"/>
          <a:stretch>
            <a:fillRect/>
          </a:stretch>
        </p:blipFill>
        <p:spPr>
          <a:xfrm>
            <a:off x="8357616" y="3054096"/>
            <a:ext cx="347472" cy="347472"/>
          </a:xfrm>
          <a:prstGeom prst="rect">
            <a:avLst/>
          </a:prstGeom>
        </p:spPr>
      </p:pic>
      <p:sp>
        <p:nvSpPr>
          <p:cNvPr id="51" name="Text 45"/>
          <p:cNvSpPr/>
          <p:nvPr/>
        </p:nvSpPr>
        <p:spPr>
          <a:xfrm>
            <a:off x="5330952" y="3072384"/>
            <a:ext cx="2971800"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Jalankan &amp; Login</a:t>
            </a:r>
            <a:endParaRPr lang="en-US" sz="1200" dirty="0"/>
          </a:p>
        </p:txBody>
      </p:sp>
      <p:sp>
        <p:nvSpPr>
          <p:cNvPr id="52" name="Shape 46"/>
          <p:cNvSpPr/>
          <p:nvPr/>
        </p:nvSpPr>
        <p:spPr>
          <a:xfrm>
            <a:off x="4818888" y="3529584"/>
            <a:ext cx="3904488" cy="0"/>
          </a:xfrm>
          <a:prstGeom prst="line">
            <a:avLst/>
          </a:prstGeom>
          <a:noFill/>
          <a:ln w="6350">
            <a:solidFill>
              <a:srgbClr val="00B4D8"/>
            </a:solidFill>
            <a:prstDash val="solid"/>
          </a:ln>
        </p:spPr>
      </p:sp>
      <p:sp>
        <p:nvSpPr>
          <p:cNvPr id="53" name="Shape 47"/>
          <p:cNvSpPr/>
          <p:nvPr/>
        </p:nvSpPr>
        <p:spPr>
          <a:xfrm>
            <a:off x="4928616" y="3685032"/>
            <a:ext cx="91440" cy="91440"/>
          </a:xfrm>
          <a:prstGeom prst="ellipse">
            <a:avLst/>
          </a:prstGeom>
          <a:solidFill>
            <a:srgbClr val="00B4D8"/>
          </a:solidFill>
          <a:ln/>
        </p:spPr>
      </p:sp>
      <p:sp>
        <p:nvSpPr>
          <p:cNvPr id="54" name="Text 48"/>
          <p:cNvSpPr/>
          <p:nvPr/>
        </p:nvSpPr>
        <p:spPr>
          <a:xfrm>
            <a:off x="5074920" y="3602736"/>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Klik tombol Run (►) atau tekan F6</a:t>
            </a:r>
            <a:endParaRPr lang="en-US" sz="950" dirty="0"/>
          </a:p>
        </p:txBody>
      </p:sp>
      <p:sp>
        <p:nvSpPr>
          <p:cNvPr id="55" name="Shape 49"/>
          <p:cNvSpPr/>
          <p:nvPr/>
        </p:nvSpPr>
        <p:spPr>
          <a:xfrm>
            <a:off x="4928616" y="3986784"/>
            <a:ext cx="91440" cy="91440"/>
          </a:xfrm>
          <a:prstGeom prst="ellipse">
            <a:avLst/>
          </a:prstGeom>
          <a:solidFill>
            <a:srgbClr val="00B4D8"/>
          </a:solidFill>
          <a:ln/>
        </p:spPr>
      </p:sp>
      <p:sp>
        <p:nvSpPr>
          <p:cNvPr id="56" name="Text 50"/>
          <p:cNvSpPr/>
          <p:nvPr/>
        </p:nvSpPr>
        <p:spPr>
          <a:xfrm>
            <a:off x="5074920" y="3904488"/>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Browser terbuka otomatis → localhost:8080/index.html</a:t>
            </a:r>
            <a:endParaRPr lang="en-US" sz="950" dirty="0"/>
          </a:p>
        </p:txBody>
      </p:sp>
      <p:sp>
        <p:nvSpPr>
          <p:cNvPr id="57" name="Shape 51"/>
          <p:cNvSpPr/>
          <p:nvPr/>
        </p:nvSpPr>
        <p:spPr>
          <a:xfrm>
            <a:off x="4928616" y="4288536"/>
            <a:ext cx="91440" cy="91440"/>
          </a:xfrm>
          <a:prstGeom prst="ellipse">
            <a:avLst/>
          </a:prstGeom>
          <a:solidFill>
            <a:srgbClr val="00B4D8"/>
          </a:solidFill>
          <a:ln/>
        </p:spPr>
      </p:sp>
      <p:sp>
        <p:nvSpPr>
          <p:cNvPr id="58" name="Text 52"/>
          <p:cNvSpPr/>
          <p:nvPr/>
        </p:nvSpPr>
        <p:spPr>
          <a:xfrm>
            <a:off x="5074920" y="4206240"/>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Halaman login muncul — masukkan kredensial:</a:t>
            </a:r>
            <a:endParaRPr lang="en-US" sz="950" dirty="0"/>
          </a:p>
        </p:txBody>
      </p:sp>
      <p:sp>
        <p:nvSpPr>
          <p:cNvPr id="59" name="Shape 53"/>
          <p:cNvSpPr/>
          <p:nvPr/>
        </p:nvSpPr>
        <p:spPr>
          <a:xfrm>
            <a:off x="4928616" y="4590288"/>
            <a:ext cx="91440" cy="91440"/>
          </a:xfrm>
          <a:prstGeom prst="ellipse">
            <a:avLst/>
          </a:prstGeom>
          <a:solidFill>
            <a:srgbClr val="00B4D8"/>
          </a:solidFill>
          <a:ln/>
        </p:spPr>
      </p:sp>
      <p:sp>
        <p:nvSpPr>
          <p:cNvPr id="60" name="Text 54"/>
          <p:cNvSpPr/>
          <p:nvPr/>
        </p:nvSpPr>
        <p:spPr>
          <a:xfrm>
            <a:off x="5074920" y="4507992"/>
            <a:ext cx="3657600" cy="274320"/>
          </a:xfrm>
          <a:prstGeom prst="rect">
            <a:avLst/>
          </a:prstGeom>
          <a:noFill/>
          <a:ln/>
        </p:spPr>
        <p:txBody>
          <a:bodyPr wrap="square" rtlCol="0" anchor="ctr"/>
          <a:lstStyle/>
          <a:p>
            <a:pPr indent="0" marL="0">
              <a:buNone/>
            </a:pPr>
            <a:r>
              <a:rPr lang="en-US" sz="950" dirty="0">
                <a:solidFill>
                  <a:srgbClr val="D1E8FF"/>
                </a:solidFill>
                <a:latin typeface="Calibri" pitchFamily="34" charset="0"/>
                <a:ea typeface="Calibri" pitchFamily="34" charset="-122"/>
                <a:cs typeface="Calibri" pitchFamily="34" charset="-120"/>
              </a:rPr>
              <a:t>Email: zhaenx@yeswehack.ninja  |  Pass: zh43nx</a:t>
            </a:r>
            <a:endParaRPr lang="en-US" sz="950" dirty="0"/>
          </a:p>
        </p:txBody>
      </p:sp>
      <p:sp>
        <p:nvSpPr>
          <p:cNvPr id="61" name="Shape 55"/>
          <p:cNvSpPr/>
          <p:nvPr/>
        </p:nvSpPr>
        <p:spPr>
          <a:xfrm>
            <a:off x="256032" y="4663440"/>
            <a:ext cx="8631936" cy="402336"/>
          </a:xfrm>
          <a:prstGeom prst="roundRect">
            <a:avLst>
              <a:gd name="adj" fmla="val 18182"/>
            </a:avLst>
          </a:prstGeom>
          <a:solidFill>
            <a:srgbClr val="0A1628"/>
          </a:solidFill>
          <a:ln/>
        </p:spPr>
      </p:sp>
      <p:pic>
        <p:nvPicPr>
          <p:cNvPr id="62" name="Image 4" descr="preencoded.png">    </p:cNvPr>
          <p:cNvPicPr>
            <a:picLocks noChangeAspect="1"/>
          </p:cNvPicPr>
          <p:nvPr/>
        </p:nvPicPr>
        <p:blipFill>
          <a:blip r:embed="rId5"/>
          <a:stretch>
            <a:fillRect/>
          </a:stretch>
        </p:blipFill>
        <p:spPr>
          <a:xfrm>
            <a:off x="347472" y="4709160"/>
            <a:ext cx="256032" cy="256032"/>
          </a:xfrm>
          <a:prstGeom prst="rect">
            <a:avLst/>
          </a:prstGeom>
        </p:spPr>
      </p:pic>
      <p:sp>
        <p:nvSpPr>
          <p:cNvPr id="63" name="Text 56"/>
          <p:cNvSpPr/>
          <p:nvPr/>
        </p:nvSpPr>
        <p:spPr>
          <a:xfrm>
            <a:off x="658368" y="4681728"/>
            <a:ext cx="8183880" cy="384048"/>
          </a:xfrm>
          <a:prstGeom prst="rect">
            <a:avLst/>
          </a:prstGeom>
          <a:noFill/>
          <a:ln/>
        </p:spPr>
        <p:txBody>
          <a:bodyPr wrap="square" rtlCol="0" anchor="ctr"/>
          <a:lstStyle/>
          <a:p>
            <a:pPr indent="0" marL="0">
              <a:buNone/>
            </a:pPr>
            <a:r>
              <a:rPr lang="en-US" sz="1000" b="1" dirty="0">
                <a:solidFill>
                  <a:srgbClr val="FEF3C7"/>
                </a:solidFill>
                <a:latin typeface="Calibri" pitchFamily="34" charset="0"/>
                <a:ea typeface="Calibri" pitchFamily="34" charset="-122"/>
                <a:cs typeface="Calibri" pitchFamily="34" charset="-120"/>
              </a:rPr>
              <a:t>PENTING: menu.json WAJIB diakses via server (localhost) — buka langsung dengan file:// akan GAGAL karena CORS policy browser.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Kasir Web Apps - Kelompok 5</dc:title>
  <dc:subject>PptxGenJS Presentation</dc:subject>
  <dc:creator>PptxGenJS</dc:creator>
  <cp:lastModifiedBy>PptxGenJS</cp:lastModifiedBy>
  <cp:revision>1</cp:revision>
  <dcterms:created xsi:type="dcterms:W3CDTF">2026-06-26T08:27:11Z</dcterms:created>
  <dcterms:modified xsi:type="dcterms:W3CDTF">2026-06-26T08:27:11Z</dcterms:modified>
</cp:coreProperties>
</file>