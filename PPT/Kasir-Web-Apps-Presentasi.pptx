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023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perkenalkan kami dari Kelompok 5. Hari ini kami akan mempresentasikan proyek Kasir Web Apps, sebuah aplikasi kasir berbasis web yang dibangun murni dengan HTML, CSS, dan JavaScript vanilla, tanpa backend server. Seluruh logika yang biasanya berjalan di server kami pindahkan ke browser, menggunakan localStorage sebagai pengganti database dan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agenda presentasi kami. Kami akan mulai dari gambaran umum project, lalu masuk ke arsitektur kode, logika autentikasi, logika transaksi, contoh penulisan kode, dan diakhiri dengan demo output serta kesimpulan.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Kasir Web Apps awalnya dibangun dengan Python Flask, Jinja2 untuk template, dan reportlab untuk cetak struk PDF. Karena kebutuhan deployment yang lebih ringan, seluruh aplikasi kami konversi total menjadi static HTML dan vanilla JavaScript. Session login diganti localStorage dan cookie, cetak struk diganti jsPDF yang berjalan di browser, dan data menu diambil dari file JSON statis.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JavaScript kami dipecah jadi modul-modul kecil agar mudah dipelihara. cookieUtils.js berisi helper cookie dan harus dimuat paling pertama, karena auth.js bergantung pada fungsi-fungsi di dalamnya. loginStyle.js khusus menangani logika halaman login. main.js adalah otak dari aplikasi kasir: menu, cart, dan struk. addProduct.js menangani fitur tambah produk oleh admin, dan menu.json adalah sumber data menu default kami.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alur logika autentikasi kami. Ketika user membuka halaman login, sistem mengecek dulu apakah dia sudah login lewat fungsi isLoggedIn(). Jika user memasukkan email dan password, sistem mencocokkannya dengan kredensial yang sudah ditentukan. Jika valid, fungsi setLoggedIn() dipanggil untuk menyimpan status login ke localStorage dan cookie sekaligus, lalu user diarahkan ke index.html. Jika tidak valid, muncul pesan error. Di sisi lain, setiap halaman yang butuh login — seperti index.html dan addproduct.html — punya authGuard() yang otomatis mengecek status login di awal eksekusi, dan langsung redirect ke login.html kalau belum login.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contoh penulisan kode untuk autentikasi. Fungsi setCookie menyimpan cookie dengan masa berlaku tertentu dalam hari. Fungsi isLoggedIn melakukan validasi ganda: mengecek localStorage DAN cookie sekaligus, supaya tidak ada celah keamanan sederhana jika salah satu disimpan tapi yang lain terhapus. Auth guard ditulis sebagai IIFE — function yang langsung dieksekusi saat file dimuat — sehingga setiap halaman yang memuat script ini otomatis terlindungi tanpa perlu memanggil fungsi secara manual.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inti alur logika dari project yang kami buat, dari awal hingga akhir. Diawali login, lalu sistem memuat data menu dari menu.json yang digabung dengan produk custom dari localStorage. Pengguna menambahkan item ke cart, mengatur jumlahnya dengan tombol plus minus, lalu memproses pembayaran di mana sistem otomatis menghitung diskon, PPN 10 persen, total, dan kembalian. Terakhir, struk dicetak dalam format PDF berukuran thermal 90mm menggunakan library jsPDF langsung di browser, tanpa perlu request ke server.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updateCart adalah jantung dari logika keranjang. Cart disimpan sebagai object dengan key berupa id produk, sehingga pencarian dan update item jadi cepat tanpa perlu looping. Setiap kali ada aksi tambah, kurang, atau hapus, sistem otomatis menghitung ulang subtotal dan menyimpannya ke localStorage lewat saveCartToStorage. Jika quantity sampai nol, item otomatis dihapus dari cart. Setelah itu refreshCartUI dipanggil untuk merender ulang tampilan, termasuk badge jumlah item di pojok ikon cart.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perhitungan finansial, kami punya fungsi hitungTotal yang menghitung diskon 10 persen dari subtotal, lalu menghitung DPP, yaitu subtotal dikurangi diskon, kemudian PPN 10 persen dihitung dari DPP tersebut. Totalnya adalah DPP ditambah PPN. Sebagai contoh, untuk subtotal 100 ribu rupiah, setelah diskon dan PPN, totalnya menjadi 99 ribu rupiah. Sebelum transaksi diproses, sistem memvalidasi apakah uang yang dibayarkan cukup; jika tidak, muncul peringatan dan proses dihentikan.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admin dashboard memungkinkan penambahan, pengeditan, dan penghapusan produk tanpa backend, semuanya tersimpan di localStorage dengan key kasir_custom_products. Setiap produk baru mendapat ID unik dari fungsi generateId, yang mengombinasikan timestamp dan angka random agar tidak bentrok dengan ID produk default di menu.json yang biasanya berupa kode singkat. Produk custom ini nantinya digabung otomatis dengan menu.json saat halaman utama memuat menu, lewat fungsi mergeCustomProducts.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Salah satu bug paling menantang yang kami temui adalah infinite redirect loop antara login.html dan index.html. Setelah ditelusuri, ternyata masalahnya ada di urutan pemuatan script. File auth.js sempat dimuat sebelum cookieUtils.js, sehingga fungsi getCookie belum terdefinisi saat isLoggedIn dipanggil, dan status login selalu terbaca salah — yang membuat browser terus-menerus redirect. Solusinya, kami memisahkan fungsi-fungsi cookie murni ke file cookieUtils.js tersendiri, dan menegakkan urutan load script secara konsisten di semua halaman HTML: cookieUtils dulu, baru auth, baru file logika halaman masing-masing.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masuk ke tampilan output aplikasi yang sudah berjalan. Mulai dari halaman login dengan animasi panel, halaman menu utama yang menampilkan produk per kategori, offcanvas keranjang belanja lengkap dengan form pembeli dan rincian pembayaran, struk PDF yang otomatis terunduh dalam format thermal 90mm, hingga halaman admin untuk menambah dan mengelola produk custom. (Slide ini bisa diisi screenshot asli dari aplikasi saat demo langsung.)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kesimpulan, Kasir Web Apps membuktikan bahwa aplikasi kasir yang fungsional bisa dibangun tanpa backend sama sekali — seluruh logika transaksi dan autentikasi berjalan penuh di sisi client. Data tetap persisten lewat localStorage, auth guard konsisten di setiap halaman yang dilindungi, dan struk pembayaran tetap bisa dicetak dalam format PDF langsung dari browser menggunakan jsPDF. Demikian presentasi dari kami, Kelompok 5. Terima kasih atas perhatiannya, kami persilakan jika ada pertanyaan.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151B4D"/>
          </a:solidFill>
          <a:ln/>
        </p:spPr>
      </p:sp>
      <p:sp>
        <p:nvSpPr>
          <p:cNvPr id="3" name="Shape 1"/>
          <p:cNvSpPr/>
          <p:nvPr/>
        </p:nvSpPr>
        <p:spPr>
          <a:xfrm>
            <a:off x="10607040" y="4206240"/>
            <a:ext cx="2926080" cy="2926080"/>
          </a:xfrm>
          <a:prstGeom prst="ellipse">
            <a:avLst/>
          </a:prstGeom>
          <a:solidFill>
            <a:srgbClr val="151B4D"/>
          </a:solidFill>
          <a:ln/>
        </p:spPr>
      </p:sp>
      <p:sp>
        <p:nvSpPr>
          <p:cNvPr id="4" name="Shape 2"/>
          <p:cNvSpPr/>
          <p:nvPr/>
        </p:nvSpPr>
        <p:spPr>
          <a:xfrm>
            <a:off x="640080" y="640080"/>
            <a:ext cx="777240" cy="777240"/>
          </a:xfrm>
          <a:prstGeom prst="ellipse">
            <a:avLst/>
          </a:prstGeom>
          <a:solidFill>
            <a:srgbClr val="F2A900"/>
          </a:solidFill>
          <a:ln/>
        </p:spPr>
      </p:sp>
      <p:pic>
        <p:nvPicPr>
          <p:cNvPr id="5" name="Image 0" descr="/home/claude/kasir-ppt/icons/cashier_white.png"/>
          <p:cNvPicPr>
            <a:picLocks noChangeAspect="1"/>
          </p:cNvPicPr>
          <p:nvPr/>
        </p:nvPicPr>
        <p:blipFill>
          <a:blip r:embed="rId3"/>
          <a:stretch>
            <a:fillRect/>
          </a:stretch>
        </p:blipFill>
        <p:spPr>
          <a:xfrm>
            <a:off x="814959" y="814959"/>
            <a:ext cx="427482" cy="427482"/>
          </a:xfrm>
          <a:prstGeom prst="rect">
            <a:avLst/>
          </a:prstGeom>
        </p:spPr>
      </p:pic>
      <p:sp>
        <p:nvSpPr>
          <p:cNvPr id="6" name="Text 3"/>
          <p:cNvSpPr/>
          <p:nvPr/>
        </p:nvSpPr>
        <p:spPr>
          <a:xfrm>
            <a:off x="640080" y="1874520"/>
            <a:ext cx="8229600" cy="365760"/>
          </a:xfrm>
          <a:prstGeom prst="rect">
            <a:avLst/>
          </a:prstGeom>
          <a:noFill/>
          <a:ln/>
        </p:spPr>
        <p:txBody>
          <a:bodyPr wrap="square" lIns="0" tIns="0" rIns="0" bIns="0" rtlCol="0" anchor="ctr"/>
          <a:lstStyle/>
          <a:p>
            <a:pPr marL="0" indent="0">
              <a:buNone/>
            </a:pPr>
            <a:r>
              <a:rPr lang="en-US" sz="1400" b="1" kern="0" spc="300" dirty="0">
                <a:solidFill>
                  <a:srgbClr val="F2A900"/>
                </a:solidFill>
                <a:latin typeface="Calibri" pitchFamily="34" charset="0"/>
                <a:ea typeface="Calibri" pitchFamily="34" charset="-122"/>
                <a:cs typeface="Calibri" pitchFamily="34" charset="-120"/>
              </a:rPr>
              <a:t>PROYEK KELOMPOK 5</a:t>
            </a:r>
            <a:endParaRPr lang="en-US" sz="1400" dirty="0"/>
          </a:p>
        </p:txBody>
      </p:sp>
      <p:sp>
        <p:nvSpPr>
          <p:cNvPr id="7" name="Text 4"/>
          <p:cNvSpPr/>
          <p:nvPr/>
        </p:nvSpPr>
        <p:spPr>
          <a:xfrm>
            <a:off x="594360" y="2240280"/>
            <a:ext cx="10515600" cy="118872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Kasir Web Apps</a:t>
            </a:r>
            <a:endParaRPr lang="en-US" sz="5400" dirty="0"/>
          </a:p>
        </p:txBody>
      </p:sp>
      <p:sp>
        <p:nvSpPr>
          <p:cNvPr id="8" name="Text 5"/>
          <p:cNvSpPr/>
          <p:nvPr/>
        </p:nvSpPr>
        <p:spPr>
          <a:xfrm>
            <a:off x="640080" y="3429000"/>
            <a:ext cx="9601200" cy="54864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Static HTML, CSS &amp; Vanilla JavaScript — localStorage sebagai pengganti backend</a:t>
            </a:r>
            <a:endParaRPr lang="en-US" sz="1800" dirty="0"/>
          </a:p>
        </p:txBody>
      </p:sp>
      <p:sp>
        <p:nvSpPr>
          <p:cNvPr id="9" name="Shape 6"/>
          <p:cNvSpPr/>
          <p:nvPr/>
        </p:nvSpPr>
        <p:spPr>
          <a:xfrm>
            <a:off x="640080" y="4160520"/>
            <a:ext cx="4114800" cy="0"/>
          </a:xfrm>
          <a:prstGeom prst="line">
            <a:avLst/>
          </a:prstGeom>
          <a:noFill/>
          <a:ln w="19050">
            <a:solidFill>
              <a:srgbClr val="F2A900"/>
            </a:solidFill>
            <a:prstDash val="solid"/>
          </a:ln>
        </p:spPr>
      </p:sp>
      <p:sp>
        <p:nvSpPr>
          <p:cNvPr id="10" name="Text 7"/>
          <p:cNvSpPr/>
          <p:nvPr/>
        </p:nvSpPr>
        <p:spPr>
          <a:xfrm>
            <a:off x="640080" y="4434840"/>
            <a:ext cx="548640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Reza Mahendra</a:t>
            </a:r>
            <a:endParaRPr lang="en-US" sz="1600" dirty="0"/>
          </a:p>
          <a:p>
            <a:pPr marL="0" indent="0">
              <a:buNone/>
            </a:pPr>
            <a:r>
              <a:rPr lang="en-US" sz="1300" dirty="0">
                <a:solidFill>
                  <a:srgbClr val="CADCFC"/>
                </a:solidFill>
                <a:latin typeface="Calibri" pitchFamily="34" charset="0"/>
                <a:ea typeface="Calibri" pitchFamily="34" charset="-122"/>
                <a:cs typeface="Calibri" pitchFamily="34" charset="-120"/>
              </a:rPr>
              <a:t>Fullstack Web Dev | Penetration Tester</a:t>
            </a:r>
            <a:endParaRPr lang="en-US" sz="1600" dirty="0"/>
          </a:p>
        </p:txBody>
      </p:sp>
      <p:sp>
        <p:nvSpPr>
          <p:cNvPr id="11" name="Text 8"/>
          <p:cNvSpPr/>
          <p:nvPr/>
        </p:nvSpPr>
        <p:spPr>
          <a:xfrm>
            <a:off x="640080" y="6309360"/>
            <a:ext cx="7315200" cy="320040"/>
          </a:xfrm>
          <a:prstGeom prst="rect">
            <a:avLst/>
          </a:prstGeom>
          <a:noFill/>
          <a:ln/>
        </p:spPr>
        <p:txBody>
          <a:bodyPr wrap="square" lIns="0" tIns="0" rIns="0" bIns="0" rtlCol="0" anchor="ctr"/>
          <a:lstStyle/>
          <a:p>
            <a:pPr marL="0" indent="0">
              <a:buNone/>
            </a:pPr>
            <a:r>
              <a:rPr lang="en-US" sz="1100" dirty="0">
                <a:solidFill>
                  <a:srgbClr val="5B6688"/>
                </a:solidFill>
                <a:latin typeface="Calibri" pitchFamily="34" charset="0"/>
                <a:ea typeface="Calibri" pitchFamily="34" charset="-122"/>
                <a:cs typeface="Calibri" pitchFamily="34" charset="-120"/>
              </a:rPr>
              <a:t>Sistem Informasi  •  Universitas Bina Sarana Informatika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Apa yang Akan Dibahas</a:t>
            </a:r>
            <a:endParaRPr lang="en-US" sz="3000" dirty="0"/>
          </a:p>
        </p:txBody>
      </p:sp>
      <p:sp>
        <p:nvSpPr>
          <p:cNvPr id="4" name="Shape 2"/>
          <p:cNvSpPr/>
          <p:nvPr/>
        </p:nvSpPr>
        <p:spPr>
          <a:xfrm>
            <a:off x="548640" y="160020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5" name="Shape 3"/>
          <p:cNvSpPr/>
          <p:nvPr/>
        </p:nvSpPr>
        <p:spPr>
          <a:xfrm>
            <a:off x="822960" y="1892808"/>
            <a:ext cx="566928" cy="566928"/>
          </a:xfrm>
          <a:prstGeom prst="ellipse">
            <a:avLst/>
          </a:prstGeom>
          <a:solidFill>
            <a:srgbClr val="1E2761"/>
          </a:solidFill>
          <a:ln/>
        </p:spPr>
      </p:sp>
      <p:pic>
        <p:nvPicPr>
          <p:cNvPr id="6" name="Image 0" descr="/home/claude/kasir-ppt/icons/diagram_white.png"/>
          <p:cNvPicPr>
            <a:picLocks noChangeAspect="1"/>
          </p:cNvPicPr>
          <p:nvPr/>
        </p:nvPicPr>
        <p:blipFill>
          <a:blip r:embed="rId3"/>
          <a:stretch>
            <a:fillRect/>
          </a:stretch>
        </p:blipFill>
        <p:spPr>
          <a:xfrm>
            <a:off x="950519" y="2020367"/>
            <a:ext cx="311810" cy="311810"/>
          </a:xfrm>
          <a:prstGeom prst="rect">
            <a:avLst/>
          </a:prstGeom>
        </p:spPr>
      </p:pic>
      <p:sp>
        <p:nvSpPr>
          <p:cNvPr id="7" name="Text 4"/>
          <p:cNvSpPr/>
          <p:nvPr/>
        </p:nvSpPr>
        <p:spPr>
          <a:xfrm>
            <a:off x="1554480" y="180136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1.  Gambaran Umum Project</a:t>
            </a:r>
            <a:endParaRPr lang="en-US" sz="1550" dirty="0"/>
          </a:p>
        </p:txBody>
      </p:sp>
      <p:sp>
        <p:nvSpPr>
          <p:cNvPr id="8" name="Text 5"/>
          <p:cNvSpPr/>
          <p:nvPr/>
        </p:nvSpPr>
        <p:spPr>
          <a:xfrm>
            <a:off x="1554480" y="219456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Latar belakang &amp; tujuan aplikasi kasir static</a:t>
            </a:r>
            <a:endParaRPr lang="en-US" sz="1200" dirty="0"/>
          </a:p>
        </p:txBody>
      </p:sp>
      <p:sp>
        <p:nvSpPr>
          <p:cNvPr id="9" name="Shape 6"/>
          <p:cNvSpPr/>
          <p:nvPr/>
        </p:nvSpPr>
        <p:spPr>
          <a:xfrm>
            <a:off x="6309360" y="160020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0" name="Shape 7"/>
          <p:cNvSpPr/>
          <p:nvPr/>
        </p:nvSpPr>
        <p:spPr>
          <a:xfrm>
            <a:off x="6583680" y="1892808"/>
            <a:ext cx="566928" cy="566928"/>
          </a:xfrm>
          <a:prstGeom prst="ellipse">
            <a:avLst/>
          </a:prstGeom>
          <a:solidFill>
            <a:srgbClr val="1E2761"/>
          </a:solidFill>
          <a:ln/>
        </p:spPr>
      </p:sp>
      <p:pic>
        <p:nvPicPr>
          <p:cNvPr id="11" name="Image 1" descr="/home/claude/kasir-ppt/icons/layers_white.png"/>
          <p:cNvPicPr>
            <a:picLocks noChangeAspect="1"/>
          </p:cNvPicPr>
          <p:nvPr/>
        </p:nvPicPr>
        <p:blipFill>
          <a:blip r:embed="rId4"/>
          <a:stretch>
            <a:fillRect/>
          </a:stretch>
        </p:blipFill>
        <p:spPr>
          <a:xfrm>
            <a:off x="6711239" y="2020367"/>
            <a:ext cx="311810" cy="311810"/>
          </a:xfrm>
          <a:prstGeom prst="rect">
            <a:avLst/>
          </a:prstGeom>
        </p:spPr>
      </p:pic>
      <p:sp>
        <p:nvSpPr>
          <p:cNvPr id="12" name="Text 8"/>
          <p:cNvSpPr/>
          <p:nvPr/>
        </p:nvSpPr>
        <p:spPr>
          <a:xfrm>
            <a:off x="7315200" y="180136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2.  Arsitektur &amp; Struktur Kode</a:t>
            </a:r>
            <a:endParaRPr lang="en-US" sz="1550" dirty="0"/>
          </a:p>
        </p:txBody>
      </p:sp>
      <p:sp>
        <p:nvSpPr>
          <p:cNvPr id="13" name="Text 9"/>
          <p:cNvSpPr/>
          <p:nvPr/>
        </p:nvSpPr>
        <p:spPr>
          <a:xfrm>
            <a:off x="7315200" y="219456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Pembagian file HTML, CSS, dan modul JavaScript</a:t>
            </a:r>
            <a:endParaRPr lang="en-US" sz="1200" dirty="0"/>
          </a:p>
        </p:txBody>
      </p:sp>
      <p:sp>
        <p:nvSpPr>
          <p:cNvPr id="14" name="Shape 10"/>
          <p:cNvSpPr/>
          <p:nvPr/>
        </p:nvSpPr>
        <p:spPr>
          <a:xfrm>
            <a:off x="548640" y="315468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5" name="Shape 11"/>
          <p:cNvSpPr/>
          <p:nvPr/>
        </p:nvSpPr>
        <p:spPr>
          <a:xfrm>
            <a:off x="822960" y="3447288"/>
            <a:ext cx="566928" cy="566928"/>
          </a:xfrm>
          <a:prstGeom prst="ellipse">
            <a:avLst/>
          </a:prstGeom>
          <a:solidFill>
            <a:srgbClr val="1E2761"/>
          </a:solidFill>
          <a:ln/>
        </p:spPr>
      </p:sp>
      <p:pic>
        <p:nvPicPr>
          <p:cNvPr id="16" name="Image 2" descr="/home/claude/kasir-ppt/icons/lock_white.png"/>
          <p:cNvPicPr>
            <a:picLocks noChangeAspect="1"/>
          </p:cNvPicPr>
          <p:nvPr/>
        </p:nvPicPr>
        <p:blipFill>
          <a:blip r:embed="rId5"/>
          <a:stretch>
            <a:fillRect/>
          </a:stretch>
        </p:blipFill>
        <p:spPr>
          <a:xfrm>
            <a:off x="950519" y="3574847"/>
            <a:ext cx="311810" cy="311810"/>
          </a:xfrm>
          <a:prstGeom prst="rect">
            <a:avLst/>
          </a:prstGeom>
        </p:spPr>
      </p:pic>
      <p:sp>
        <p:nvSpPr>
          <p:cNvPr id="17" name="Text 12"/>
          <p:cNvSpPr/>
          <p:nvPr/>
        </p:nvSpPr>
        <p:spPr>
          <a:xfrm>
            <a:off x="1554480" y="335584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3.  Logika Autentikasi</a:t>
            </a:r>
            <a:endParaRPr lang="en-US" sz="1550" dirty="0"/>
          </a:p>
        </p:txBody>
      </p:sp>
      <p:sp>
        <p:nvSpPr>
          <p:cNvPr id="18" name="Text 13"/>
          <p:cNvSpPr/>
          <p:nvPr/>
        </p:nvSpPr>
        <p:spPr>
          <a:xfrm>
            <a:off x="1554480" y="374904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Alur login, cookie, dan auth guard</a:t>
            </a:r>
            <a:endParaRPr lang="en-US" sz="1200" dirty="0"/>
          </a:p>
        </p:txBody>
      </p:sp>
      <p:sp>
        <p:nvSpPr>
          <p:cNvPr id="19" name="Shape 14"/>
          <p:cNvSpPr/>
          <p:nvPr/>
        </p:nvSpPr>
        <p:spPr>
          <a:xfrm>
            <a:off x="6309360" y="315468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20" name="Shape 15"/>
          <p:cNvSpPr/>
          <p:nvPr/>
        </p:nvSpPr>
        <p:spPr>
          <a:xfrm>
            <a:off x="6583680" y="3447288"/>
            <a:ext cx="566928" cy="566928"/>
          </a:xfrm>
          <a:prstGeom prst="ellipse">
            <a:avLst/>
          </a:prstGeom>
          <a:solidFill>
            <a:srgbClr val="1E2761"/>
          </a:solidFill>
          <a:ln/>
        </p:spPr>
      </p:sp>
      <p:pic>
        <p:nvPicPr>
          <p:cNvPr id="21" name="Image 3" descr="/home/claude/kasir-ppt/icons/cart_white.png"/>
          <p:cNvPicPr>
            <a:picLocks noChangeAspect="1"/>
          </p:cNvPicPr>
          <p:nvPr/>
        </p:nvPicPr>
        <p:blipFill>
          <a:blip r:embed="rId6"/>
          <a:stretch>
            <a:fillRect/>
          </a:stretch>
        </p:blipFill>
        <p:spPr>
          <a:xfrm>
            <a:off x="6711239" y="3574847"/>
            <a:ext cx="311810" cy="311810"/>
          </a:xfrm>
          <a:prstGeom prst="rect">
            <a:avLst/>
          </a:prstGeom>
        </p:spPr>
      </p:pic>
      <p:sp>
        <p:nvSpPr>
          <p:cNvPr id="22" name="Text 16"/>
          <p:cNvSpPr/>
          <p:nvPr/>
        </p:nvSpPr>
        <p:spPr>
          <a:xfrm>
            <a:off x="7315200" y="335584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4.  Logika Transaksi</a:t>
            </a:r>
            <a:endParaRPr lang="en-US" sz="1550" dirty="0"/>
          </a:p>
        </p:txBody>
      </p:sp>
      <p:sp>
        <p:nvSpPr>
          <p:cNvPr id="23" name="Text 17"/>
          <p:cNvSpPr/>
          <p:nvPr/>
        </p:nvSpPr>
        <p:spPr>
          <a:xfrm>
            <a:off x="7315200" y="374904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Cart, perhitungan total, hingga cetak struk</a:t>
            </a:r>
            <a:endParaRPr lang="en-US" sz="1200" dirty="0"/>
          </a:p>
        </p:txBody>
      </p:sp>
      <p:sp>
        <p:nvSpPr>
          <p:cNvPr id="24" name="Shape 18"/>
          <p:cNvSpPr/>
          <p:nvPr/>
        </p:nvSpPr>
        <p:spPr>
          <a:xfrm>
            <a:off x="548640" y="470916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25" name="Shape 19"/>
          <p:cNvSpPr/>
          <p:nvPr/>
        </p:nvSpPr>
        <p:spPr>
          <a:xfrm>
            <a:off x="822960" y="5001768"/>
            <a:ext cx="566928" cy="566928"/>
          </a:xfrm>
          <a:prstGeom prst="ellipse">
            <a:avLst/>
          </a:prstGeom>
          <a:solidFill>
            <a:srgbClr val="1E2761"/>
          </a:solidFill>
          <a:ln/>
        </p:spPr>
      </p:sp>
      <p:pic>
        <p:nvPicPr>
          <p:cNvPr id="26" name="Image 4" descr="/home/claude/kasir-ppt/icons/filecode_white.png"/>
          <p:cNvPicPr>
            <a:picLocks noChangeAspect="1"/>
          </p:cNvPicPr>
          <p:nvPr/>
        </p:nvPicPr>
        <p:blipFill>
          <a:blip r:embed="rId7"/>
          <a:stretch>
            <a:fillRect/>
          </a:stretch>
        </p:blipFill>
        <p:spPr>
          <a:xfrm>
            <a:off x="950519" y="5129327"/>
            <a:ext cx="311810" cy="311810"/>
          </a:xfrm>
          <a:prstGeom prst="rect">
            <a:avLst/>
          </a:prstGeom>
        </p:spPr>
      </p:pic>
      <p:sp>
        <p:nvSpPr>
          <p:cNvPr id="27" name="Text 20"/>
          <p:cNvSpPr/>
          <p:nvPr/>
        </p:nvSpPr>
        <p:spPr>
          <a:xfrm>
            <a:off x="1554480" y="491032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5.  Penulisan Kode Program</a:t>
            </a:r>
            <a:endParaRPr lang="en-US" sz="1550" dirty="0"/>
          </a:p>
        </p:txBody>
      </p:sp>
      <p:sp>
        <p:nvSpPr>
          <p:cNvPr id="28" name="Text 21"/>
          <p:cNvSpPr/>
          <p:nvPr/>
        </p:nvSpPr>
        <p:spPr>
          <a:xfrm>
            <a:off x="1554480" y="530352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Contoh-contoh kode kunci &amp; penjelasannya</a:t>
            </a:r>
            <a:endParaRPr lang="en-US" sz="1200" dirty="0"/>
          </a:p>
        </p:txBody>
      </p:sp>
      <p:sp>
        <p:nvSpPr>
          <p:cNvPr id="29" name="Shape 22"/>
          <p:cNvSpPr/>
          <p:nvPr/>
        </p:nvSpPr>
        <p:spPr>
          <a:xfrm>
            <a:off x="6309360" y="470916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30" name="Shape 23"/>
          <p:cNvSpPr/>
          <p:nvPr/>
        </p:nvSpPr>
        <p:spPr>
          <a:xfrm>
            <a:off x="6583680" y="5001768"/>
            <a:ext cx="566928" cy="566928"/>
          </a:xfrm>
          <a:prstGeom prst="ellipse">
            <a:avLst/>
          </a:prstGeom>
          <a:solidFill>
            <a:srgbClr val="1E2761"/>
          </a:solidFill>
          <a:ln/>
        </p:spPr>
      </p:sp>
      <p:pic>
        <p:nvPicPr>
          <p:cNvPr id="31" name="Image 5" descr="/home/claude/kasir-ppt/icons/check_white.png"/>
          <p:cNvPicPr>
            <a:picLocks noChangeAspect="1"/>
          </p:cNvPicPr>
          <p:nvPr/>
        </p:nvPicPr>
        <p:blipFill>
          <a:blip r:embed="rId8"/>
          <a:stretch>
            <a:fillRect/>
          </a:stretch>
        </p:blipFill>
        <p:spPr>
          <a:xfrm>
            <a:off x="6711239" y="5129327"/>
            <a:ext cx="311810" cy="311810"/>
          </a:xfrm>
          <a:prstGeom prst="rect">
            <a:avLst/>
          </a:prstGeom>
        </p:spPr>
      </p:pic>
      <p:sp>
        <p:nvSpPr>
          <p:cNvPr id="32" name="Text 24"/>
          <p:cNvSpPr/>
          <p:nvPr/>
        </p:nvSpPr>
        <p:spPr>
          <a:xfrm>
            <a:off x="7315200" y="491032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6.  Demo Output &amp; Kesimpulan</a:t>
            </a:r>
            <a:endParaRPr lang="en-US" sz="1550" dirty="0"/>
          </a:p>
        </p:txBody>
      </p:sp>
      <p:sp>
        <p:nvSpPr>
          <p:cNvPr id="33" name="Text 25"/>
          <p:cNvSpPr/>
          <p:nvPr/>
        </p:nvSpPr>
        <p:spPr>
          <a:xfrm>
            <a:off x="7315200" y="530352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Tampilan hasil aplikasi yang berjalan</a:t>
            </a:r>
            <a:endParaRPr lang="en-US" sz="120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5"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GAMBARAN UMUM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Apa itu Kasir Web Apps?</a:t>
            </a:r>
            <a:endParaRPr lang="en-US" sz="3000" dirty="0"/>
          </a:p>
        </p:txBody>
      </p:sp>
      <p:sp>
        <p:nvSpPr>
          <p:cNvPr id="4" name="Shape 2"/>
          <p:cNvSpPr/>
          <p:nvPr/>
        </p:nvSpPr>
        <p:spPr>
          <a:xfrm>
            <a:off x="548640" y="1554480"/>
            <a:ext cx="5760720" cy="4480560"/>
          </a:xfrm>
          <a:prstGeom prst="roundRect">
            <a:avLst>
              <a:gd name="adj" fmla="val 2041"/>
            </a:avLst>
          </a:prstGeom>
          <a:solidFill>
            <a:srgbClr val="EAF0FC"/>
          </a:solidFill>
          <a:ln/>
          <a:effectLst>
            <a:outerShdw blurRad="101600" dist="38100" dir="5400000" algn="bl" rotWithShape="0">
              <a:srgbClr val="000000">
                <a:alpha val="12000"/>
              </a:srgbClr>
            </a:outerShdw>
          </a:effectLst>
        </p:spPr>
      </p:sp>
      <p:sp>
        <p:nvSpPr>
          <p:cNvPr id="5" name="Text 3"/>
          <p:cNvSpPr/>
          <p:nvPr/>
        </p:nvSpPr>
        <p:spPr>
          <a:xfrm>
            <a:off x="868680" y="1783080"/>
            <a:ext cx="521208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Latar Belakang</a:t>
            </a:r>
            <a:endParaRPr lang="en-US" sz="1700" dirty="0"/>
          </a:p>
        </p:txBody>
      </p:sp>
      <p:sp>
        <p:nvSpPr>
          <p:cNvPr id="6" name="Text 4"/>
          <p:cNvSpPr/>
          <p:nvPr/>
        </p:nvSpPr>
        <p:spPr>
          <a:xfrm>
            <a:off x="868680" y="2286000"/>
            <a:ext cx="5166360" cy="35661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Aplikasi kasir restoran untuk mengelola menu, keranjang, dan transaksi pembayaran.</a:t>
            </a:r>
            <a:endParaRPr lang="en-US" sz="1350" dirty="0"/>
          </a:p>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Awalnya dibangun dengan Python Flask + Jinja2 + reportlab.</a:t>
            </a:r>
            <a:endParaRPr lang="en-US" sz="1350" dirty="0"/>
          </a:p>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Dikonversi total menjadi static HTML + vanilla JavaScript tanpa server backend.</a:t>
            </a:r>
            <a:endParaRPr lang="en-US" sz="1350" dirty="0"/>
          </a:p>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Cocok untuk mode demo, prototipe, dan deployment ringan (tanpa hosting backend).</a:t>
            </a:r>
            <a:endParaRPr lang="en-US" sz="1350" dirty="0"/>
          </a:p>
        </p:txBody>
      </p:sp>
      <p:sp>
        <p:nvSpPr>
          <p:cNvPr id="7" name="Shape 5"/>
          <p:cNvSpPr/>
          <p:nvPr/>
        </p:nvSpPr>
        <p:spPr>
          <a:xfrm>
            <a:off x="6583680" y="1554480"/>
            <a:ext cx="5029200" cy="4480560"/>
          </a:xfrm>
          <a:prstGeom prst="roundRect">
            <a:avLst>
              <a:gd name="adj" fmla="val 2041"/>
            </a:avLst>
          </a:prstGeom>
          <a:solidFill>
            <a:srgbClr val="1E2761"/>
          </a:solidFill>
          <a:ln/>
          <a:effectLst>
            <a:outerShdw blurRad="101600" dist="38100" dir="5400000" algn="bl" rotWithShape="0">
              <a:srgbClr val="000000">
                <a:alpha val="12000"/>
              </a:srgbClr>
            </a:outerShdw>
          </a:effectLst>
        </p:spPr>
      </p:sp>
      <p:sp>
        <p:nvSpPr>
          <p:cNvPr id="8" name="Text 6"/>
          <p:cNvSpPr/>
          <p:nvPr/>
        </p:nvSpPr>
        <p:spPr>
          <a:xfrm>
            <a:off x="6903720" y="1783080"/>
            <a:ext cx="4480560" cy="365760"/>
          </a:xfrm>
          <a:prstGeom prst="rect">
            <a:avLst/>
          </a:prstGeom>
          <a:noFill/>
          <a:ln/>
        </p:spPr>
        <p:txBody>
          <a:bodyPr wrap="square" lIns="0" tIns="0" rIns="0" bIns="0" rtlCol="0" anchor="ctr"/>
          <a:lstStyle/>
          <a:p>
            <a:pPr marL="0" indent="0">
              <a:buNone/>
            </a:pPr>
            <a:r>
              <a:rPr lang="en-US" sz="1700" b="1" dirty="0">
                <a:solidFill>
                  <a:srgbClr val="F2A900"/>
                </a:solidFill>
                <a:latin typeface="Cambria" pitchFamily="34" charset="0"/>
                <a:ea typeface="Cambria" pitchFamily="34" charset="-122"/>
                <a:cs typeface="Cambria" pitchFamily="34" charset="-120"/>
              </a:rPr>
              <a:t>Pergantian Teknologi</a:t>
            </a:r>
            <a:endParaRPr lang="en-US" sz="1700" dirty="0"/>
          </a:p>
        </p:txBody>
      </p:sp>
      <p:sp>
        <p:nvSpPr>
          <p:cNvPr id="9" name="Text 7"/>
          <p:cNvSpPr/>
          <p:nvPr/>
        </p:nvSpPr>
        <p:spPr>
          <a:xfrm>
            <a:off x="6903720" y="2331720"/>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Backend Server</a:t>
            </a:r>
            <a:endParaRPr lang="en-US" sz="1150" dirty="0"/>
          </a:p>
        </p:txBody>
      </p:sp>
      <p:sp>
        <p:nvSpPr>
          <p:cNvPr id="10" name="Text 8"/>
          <p:cNvSpPr/>
          <p:nvPr/>
        </p:nvSpPr>
        <p:spPr>
          <a:xfrm>
            <a:off x="8595360" y="2331720"/>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Flask (Python)</a:t>
            </a:r>
            <a:endParaRPr lang="en-US" sz="1100" dirty="0"/>
          </a:p>
        </p:txBody>
      </p:sp>
      <p:pic>
        <p:nvPicPr>
          <p:cNvPr id="11" name="Image 0" descr="/home/claude/kasir-ppt/icons/arrow_white.png"/>
          <p:cNvPicPr>
            <a:picLocks noChangeAspect="1"/>
          </p:cNvPicPr>
          <p:nvPr/>
        </p:nvPicPr>
        <p:blipFill>
          <a:blip r:embed="rId3"/>
          <a:stretch>
            <a:fillRect/>
          </a:stretch>
        </p:blipFill>
        <p:spPr>
          <a:xfrm>
            <a:off x="10058400" y="2450592"/>
            <a:ext cx="201168" cy="201168"/>
          </a:xfrm>
          <a:prstGeom prst="rect">
            <a:avLst/>
          </a:prstGeom>
        </p:spPr>
      </p:pic>
      <p:sp>
        <p:nvSpPr>
          <p:cNvPr id="12" name="Text 9"/>
          <p:cNvSpPr/>
          <p:nvPr/>
        </p:nvSpPr>
        <p:spPr>
          <a:xfrm>
            <a:off x="10332720" y="2331720"/>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Tidak ada (static)</a:t>
            </a:r>
            <a:endParaRPr lang="en-US" sz="1050" dirty="0"/>
          </a:p>
        </p:txBody>
      </p:sp>
      <p:sp>
        <p:nvSpPr>
          <p:cNvPr id="13" name="Shape 10"/>
          <p:cNvSpPr/>
          <p:nvPr/>
        </p:nvSpPr>
        <p:spPr>
          <a:xfrm>
            <a:off x="6903720" y="2788920"/>
            <a:ext cx="4434840" cy="0"/>
          </a:xfrm>
          <a:prstGeom prst="line">
            <a:avLst/>
          </a:prstGeom>
          <a:noFill/>
          <a:ln w="9525">
            <a:solidFill>
              <a:srgbClr val="3A4485"/>
            </a:solidFill>
            <a:prstDash val="solid"/>
          </a:ln>
        </p:spPr>
      </p:sp>
      <p:sp>
        <p:nvSpPr>
          <p:cNvPr id="14" name="Text 11"/>
          <p:cNvSpPr/>
          <p:nvPr/>
        </p:nvSpPr>
        <p:spPr>
          <a:xfrm>
            <a:off x="6903720" y="2898648"/>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Session/Login</a:t>
            </a:r>
            <a:endParaRPr lang="en-US" sz="1150" dirty="0"/>
          </a:p>
        </p:txBody>
      </p:sp>
      <p:sp>
        <p:nvSpPr>
          <p:cNvPr id="15" name="Text 12"/>
          <p:cNvSpPr/>
          <p:nvPr/>
        </p:nvSpPr>
        <p:spPr>
          <a:xfrm>
            <a:off x="8595360" y="2898648"/>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Flask session</a:t>
            </a:r>
            <a:endParaRPr lang="en-US" sz="1100" dirty="0"/>
          </a:p>
        </p:txBody>
      </p:sp>
      <p:pic>
        <p:nvPicPr>
          <p:cNvPr id="16" name="Image 1" descr="/home/claude/kasir-ppt/icons/arrow_white.png"/>
          <p:cNvPicPr>
            <a:picLocks noChangeAspect="1"/>
          </p:cNvPicPr>
          <p:nvPr/>
        </p:nvPicPr>
        <p:blipFill>
          <a:blip r:embed="rId3"/>
          <a:stretch>
            <a:fillRect/>
          </a:stretch>
        </p:blipFill>
        <p:spPr>
          <a:xfrm>
            <a:off x="10058400" y="3017520"/>
            <a:ext cx="201168" cy="201168"/>
          </a:xfrm>
          <a:prstGeom prst="rect">
            <a:avLst/>
          </a:prstGeom>
        </p:spPr>
      </p:pic>
      <p:sp>
        <p:nvSpPr>
          <p:cNvPr id="17" name="Text 13"/>
          <p:cNvSpPr/>
          <p:nvPr/>
        </p:nvSpPr>
        <p:spPr>
          <a:xfrm>
            <a:off x="10332720" y="2898648"/>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localStorage + Cookie</a:t>
            </a:r>
            <a:endParaRPr lang="en-US" sz="1050" dirty="0"/>
          </a:p>
        </p:txBody>
      </p:sp>
      <p:sp>
        <p:nvSpPr>
          <p:cNvPr id="18" name="Shape 14"/>
          <p:cNvSpPr/>
          <p:nvPr/>
        </p:nvSpPr>
        <p:spPr>
          <a:xfrm>
            <a:off x="6903720" y="3355848"/>
            <a:ext cx="4434840" cy="0"/>
          </a:xfrm>
          <a:prstGeom prst="line">
            <a:avLst/>
          </a:prstGeom>
          <a:noFill/>
          <a:ln w="9525">
            <a:solidFill>
              <a:srgbClr val="3A4485"/>
            </a:solidFill>
            <a:prstDash val="solid"/>
          </a:ln>
        </p:spPr>
      </p:sp>
      <p:sp>
        <p:nvSpPr>
          <p:cNvPr id="19" name="Text 15"/>
          <p:cNvSpPr/>
          <p:nvPr/>
        </p:nvSpPr>
        <p:spPr>
          <a:xfrm>
            <a:off x="6903720" y="3465576"/>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Cetak Struk</a:t>
            </a:r>
            <a:endParaRPr lang="en-US" sz="1150" dirty="0"/>
          </a:p>
        </p:txBody>
      </p:sp>
      <p:sp>
        <p:nvSpPr>
          <p:cNvPr id="20" name="Text 16"/>
          <p:cNvSpPr/>
          <p:nvPr/>
        </p:nvSpPr>
        <p:spPr>
          <a:xfrm>
            <a:off x="8595360" y="3465576"/>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reportlab (server)</a:t>
            </a:r>
            <a:endParaRPr lang="en-US" sz="1100" dirty="0"/>
          </a:p>
        </p:txBody>
      </p:sp>
      <p:pic>
        <p:nvPicPr>
          <p:cNvPr id="21" name="Image 2" descr="/home/claude/kasir-ppt/icons/arrow_white.png"/>
          <p:cNvPicPr>
            <a:picLocks noChangeAspect="1"/>
          </p:cNvPicPr>
          <p:nvPr/>
        </p:nvPicPr>
        <p:blipFill>
          <a:blip r:embed="rId3"/>
          <a:stretch>
            <a:fillRect/>
          </a:stretch>
        </p:blipFill>
        <p:spPr>
          <a:xfrm>
            <a:off x="10058400" y="3584448"/>
            <a:ext cx="201168" cy="201168"/>
          </a:xfrm>
          <a:prstGeom prst="rect">
            <a:avLst/>
          </a:prstGeom>
        </p:spPr>
      </p:pic>
      <p:sp>
        <p:nvSpPr>
          <p:cNvPr id="22" name="Text 17"/>
          <p:cNvSpPr/>
          <p:nvPr/>
        </p:nvSpPr>
        <p:spPr>
          <a:xfrm>
            <a:off x="10332720" y="3465576"/>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jsPDF (browser)</a:t>
            </a:r>
            <a:endParaRPr lang="en-US" sz="1050" dirty="0"/>
          </a:p>
        </p:txBody>
      </p:sp>
      <p:sp>
        <p:nvSpPr>
          <p:cNvPr id="23" name="Shape 18"/>
          <p:cNvSpPr/>
          <p:nvPr/>
        </p:nvSpPr>
        <p:spPr>
          <a:xfrm>
            <a:off x="6903720" y="3922776"/>
            <a:ext cx="4434840" cy="0"/>
          </a:xfrm>
          <a:prstGeom prst="line">
            <a:avLst/>
          </a:prstGeom>
          <a:noFill/>
          <a:ln w="9525">
            <a:solidFill>
              <a:srgbClr val="3A4485"/>
            </a:solidFill>
            <a:prstDash val="solid"/>
          </a:ln>
        </p:spPr>
      </p:sp>
      <p:sp>
        <p:nvSpPr>
          <p:cNvPr id="24" name="Text 19"/>
          <p:cNvSpPr/>
          <p:nvPr/>
        </p:nvSpPr>
        <p:spPr>
          <a:xfrm>
            <a:off x="6903720" y="4032504"/>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Data Menu</a:t>
            </a:r>
            <a:endParaRPr lang="en-US" sz="1150" dirty="0"/>
          </a:p>
        </p:txBody>
      </p:sp>
      <p:sp>
        <p:nvSpPr>
          <p:cNvPr id="25" name="Text 20"/>
          <p:cNvSpPr/>
          <p:nvPr/>
        </p:nvSpPr>
        <p:spPr>
          <a:xfrm>
            <a:off x="8595360" y="4032504"/>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Database / Flask route</a:t>
            </a:r>
            <a:endParaRPr lang="en-US" sz="1100" dirty="0"/>
          </a:p>
        </p:txBody>
      </p:sp>
      <p:pic>
        <p:nvPicPr>
          <p:cNvPr id="26" name="Image 3" descr="/home/claude/kasir-ppt/icons/arrow_white.png"/>
          <p:cNvPicPr>
            <a:picLocks noChangeAspect="1"/>
          </p:cNvPicPr>
          <p:nvPr/>
        </p:nvPicPr>
        <p:blipFill>
          <a:blip r:embed="rId3"/>
          <a:stretch>
            <a:fillRect/>
          </a:stretch>
        </p:blipFill>
        <p:spPr>
          <a:xfrm>
            <a:off x="10058400" y="4151376"/>
            <a:ext cx="201168" cy="201168"/>
          </a:xfrm>
          <a:prstGeom prst="rect">
            <a:avLst/>
          </a:prstGeom>
        </p:spPr>
      </p:pic>
      <p:sp>
        <p:nvSpPr>
          <p:cNvPr id="27" name="Text 21"/>
          <p:cNvSpPr/>
          <p:nvPr/>
        </p:nvSpPr>
        <p:spPr>
          <a:xfrm>
            <a:off x="10332720" y="4032504"/>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fetch() menu.json</a:t>
            </a:r>
            <a:endParaRPr lang="en-US" sz="1050" dirty="0"/>
          </a:p>
        </p:txBody>
      </p:sp>
      <p:sp>
        <p:nvSpPr>
          <p:cNvPr id="28" name="Shape 22"/>
          <p:cNvSpPr/>
          <p:nvPr/>
        </p:nvSpPr>
        <p:spPr>
          <a:xfrm>
            <a:off x="6903720" y="4489704"/>
            <a:ext cx="4434840" cy="0"/>
          </a:xfrm>
          <a:prstGeom prst="line">
            <a:avLst/>
          </a:prstGeom>
          <a:noFill/>
          <a:ln w="9525">
            <a:solidFill>
              <a:srgbClr val="3A4485"/>
            </a:solidFill>
            <a:prstDash val="solid"/>
          </a:ln>
        </p:spPr>
      </p:sp>
      <p:sp>
        <p:nvSpPr>
          <p:cNvPr id="29" name="Text 23"/>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0" name="Text 24"/>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ARSITEKTUR</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Struktur File &amp; Modul JavaScript</a:t>
            </a:r>
            <a:endParaRPr lang="en-US" sz="3000" dirty="0"/>
          </a:p>
        </p:txBody>
      </p:sp>
      <p:sp>
        <p:nvSpPr>
          <p:cNvPr id="4" name="Shape 2"/>
          <p:cNvSpPr/>
          <p:nvPr/>
        </p:nvSpPr>
        <p:spPr>
          <a:xfrm>
            <a:off x="548640" y="160020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5" name="Shape 3"/>
          <p:cNvSpPr/>
          <p:nvPr/>
        </p:nvSpPr>
        <p:spPr>
          <a:xfrm>
            <a:off x="777240" y="1828800"/>
            <a:ext cx="502920" cy="502920"/>
          </a:xfrm>
          <a:prstGeom prst="ellipse">
            <a:avLst/>
          </a:prstGeom>
          <a:solidFill>
            <a:srgbClr val="1E2761"/>
          </a:solidFill>
          <a:ln/>
        </p:spPr>
      </p:sp>
      <p:pic>
        <p:nvPicPr>
          <p:cNvPr id="6" name="Image 0" descr="/home/claude/kasir-ppt/icons/lock_white.png"/>
          <p:cNvPicPr>
            <a:picLocks noChangeAspect="1"/>
          </p:cNvPicPr>
          <p:nvPr/>
        </p:nvPicPr>
        <p:blipFill>
          <a:blip r:embed="rId3"/>
          <a:stretch>
            <a:fillRect/>
          </a:stretch>
        </p:blipFill>
        <p:spPr>
          <a:xfrm>
            <a:off x="890397" y="1941957"/>
            <a:ext cx="276606" cy="276606"/>
          </a:xfrm>
          <a:prstGeom prst="rect">
            <a:avLst/>
          </a:prstGeom>
        </p:spPr>
      </p:pic>
      <p:sp>
        <p:nvSpPr>
          <p:cNvPr id="7" name="Text 4"/>
          <p:cNvSpPr/>
          <p:nvPr/>
        </p:nvSpPr>
        <p:spPr>
          <a:xfrm>
            <a:off x="777240" y="246888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cookieUtils.js</a:t>
            </a:r>
            <a:endParaRPr lang="en-US" sz="1450" dirty="0"/>
          </a:p>
        </p:txBody>
      </p:sp>
      <p:sp>
        <p:nvSpPr>
          <p:cNvPr id="8" name="Text 5"/>
          <p:cNvSpPr/>
          <p:nvPr/>
        </p:nvSpPr>
        <p:spPr>
          <a:xfrm>
            <a:off x="777240" y="280720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Helper set/get/delete cookie. Wajib dimuat PERTAMA.</a:t>
            </a:r>
            <a:endParaRPr lang="en-US" sz="1100" dirty="0"/>
          </a:p>
        </p:txBody>
      </p:sp>
      <p:sp>
        <p:nvSpPr>
          <p:cNvPr id="9" name="Shape 6"/>
          <p:cNvSpPr/>
          <p:nvPr/>
        </p:nvSpPr>
        <p:spPr>
          <a:xfrm>
            <a:off x="4343400" y="160020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10" name="Shape 7"/>
          <p:cNvSpPr/>
          <p:nvPr/>
        </p:nvSpPr>
        <p:spPr>
          <a:xfrm>
            <a:off x="4572000" y="1828800"/>
            <a:ext cx="502920" cy="502920"/>
          </a:xfrm>
          <a:prstGeom prst="ellipse">
            <a:avLst/>
          </a:prstGeom>
          <a:solidFill>
            <a:srgbClr val="1E2761"/>
          </a:solidFill>
          <a:ln/>
        </p:spPr>
      </p:sp>
      <p:pic>
        <p:nvPicPr>
          <p:cNvPr id="11" name="Image 1" descr="/home/claude/kasir-ppt/icons/shield_white.png"/>
          <p:cNvPicPr>
            <a:picLocks noChangeAspect="1"/>
          </p:cNvPicPr>
          <p:nvPr/>
        </p:nvPicPr>
        <p:blipFill>
          <a:blip r:embed="rId4"/>
          <a:stretch>
            <a:fillRect/>
          </a:stretch>
        </p:blipFill>
        <p:spPr>
          <a:xfrm>
            <a:off x="4685157" y="1941957"/>
            <a:ext cx="276606" cy="276606"/>
          </a:xfrm>
          <a:prstGeom prst="rect">
            <a:avLst/>
          </a:prstGeom>
        </p:spPr>
      </p:pic>
      <p:sp>
        <p:nvSpPr>
          <p:cNvPr id="12" name="Text 8"/>
          <p:cNvSpPr/>
          <p:nvPr/>
        </p:nvSpPr>
        <p:spPr>
          <a:xfrm>
            <a:off x="4572000" y="246888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auth.js</a:t>
            </a:r>
            <a:endParaRPr lang="en-US" sz="1450" dirty="0"/>
          </a:p>
        </p:txBody>
      </p:sp>
      <p:sp>
        <p:nvSpPr>
          <p:cNvPr id="13" name="Text 9"/>
          <p:cNvSpPr/>
          <p:nvPr/>
        </p:nvSpPr>
        <p:spPr>
          <a:xfrm>
            <a:off x="4572000" y="280720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Status login: isLoggedIn(), setLoggedIn(), clearLoggedIn().</a:t>
            </a:r>
            <a:endParaRPr lang="en-US" sz="1100" dirty="0"/>
          </a:p>
        </p:txBody>
      </p:sp>
      <p:sp>
        <p:nvSpPr>
          <p:cNvPr id="14" name="Shape 10"/>
          <p:cNvSpPr/>
          <p:nvPr/>
        </p:nvSpPr>
        <p:spPr>
          <a:xfrm>
            <a:off x="8138160" y="160020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15" name="Shape 11"/>
          <p:cNvSpPr/>
          <p:nvPr/>
        </p:nvSpPr>
        <p:spPr>
          <a:xfrm>
            <a:off x="8366760" y="1828800"/>
            <a:ext cx="502920" cy="502920"/>
          </a:xfrm>
          <a:prstGeom prst="ellipse">
            <a:avLst/>
          </a:prstGeom>
          <a:solidFill>
            <a:srgbClr val="1E2761"/>
          </a:solidFill>
          <a:ln/>
        </p:spPr>
      </p:sp>
      <p:pic>
        <p:nvPicPr>
          <p:cNvPr id="16" name="Image 2" descr="/home/claude/kasir-ppt/icons/filecode_white.png"/>
          <p:cNvPicPr>
            <a:picLocks noChangeAspect="1"/>
          </p:cNvPicPr>
          <p:nvPr/>
        </p:nvPicPr>
        <p:blipFill>
          <a:blip r:embed="rId5"/>
          <a:stretch>
            <a:fillRect/>
          </a:stretch>
        </p:blipFill>
        <p:spPr>
          <a:xfrm>
            <a:off x="8479917" y="1941957"/>
            <a:ext cx="276606" cy="276606"/>
          </a:xfrm>
          <a:prstGeom prst="rect">
            <a:avLst/>
          </a:prstGeom>
        </p:spPr>
      </p:pic>
      <p:sp>
        <p:nvSpPr>
          <p:cNvPr id="17" name="Text 12"/>
          <p:cNvSpPr/>
          <p:nvPr/>
        </p:nvSpPr>
        <p:spPr>
          <a:xfrm>
            <a:off x="8366760" y="246888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loginStyle.js</a:t>
            </a:r>
            <a:endParaRPr lang="en-US" sz="1450" dirty="0"/>
          </a:p>
        </p:txBody>
      </p:sp>
      <p:sp>
        <p:nvSpPr>
          <p:cNvPr id="18" name="Text 13"/>
          <p:cNvSpPr/>
          <p:nvPr/>
        </p:nvSpPr>
        <p:spPr>
          <a:xfrm>
            <a:off x="8366760" y="280720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Validasi form login &amp; animasi panel login/signup.</a:t>
            </a:r>
            <a:endParaRPr lang="en-US" sz="1100" dirty="0"/>
          </a:p>
        </p:txBody>
      </p:sp>
      <p:sp>
        <p:nvSpPr>
          <p:cNvPr id="19" name="Shape 14"/>
          <p:cNvSpPr/>
          <p:nvPr/>
        </p:nvSpPr>
        <p:spPr>
          <a:xfrm>
            <a:off x="548640" y="393192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20" name="Shape 15"/>
          <p:cNvSpPr/>
          <p:nvPr/>
        </p:nvSpPr>
        <p:spPr>
          <a:xfrm>
            <a:off x="777240" y="4160520"/>
            <a:ext cx="502920" cy="502920"/>
          </a:xfrm>
          <a:prstGeom prst="ellipse">
            <a:avLst/>
          </a:prstGeom>
          <a:solidFill>
            <a:srgbClr val="1E2761"/>
          </a:solidFill>
          <a:ln/>
        </p:spPr>
      </p:sp>
      <p:pic>
        <p:nvPicPr>
          <p:cNvPr id="21" name="Image 3" descr="/home/claude/kasir-ppt/icons/cashier_white.png"/>
          <p:cNvPicPr>
            <a:picLocks noChangeAspect="1"/>
          </p:cNvPicPr>
          <p:nvPr/>
        </p:nvPicPr>
        <p:blipFill>
          <a:blip r:embed="rId6"/>
          <a:stretch>
            <a:fillRect/>
          </a:stretch>
        </p:blipFill>
        <p:spPr>
          <a:xfrm>
            <a:off x="890397" y="4273677"/>
            <a:ext cx="276606" cy="276606"/>
          </a:xfrm>
          <a:prstGeom prst="rect">
            <a:avLst/>
          </a:prstGeom>
        </p:spPr>
      </p:pic>
      <p:sp>
        <p:nvSpPr>
          <p:cNvPr id="22" name="Text 16"/>
          <p:cNvSpPr/>
          <p:nvPr/>
        </p:nvSpPr>
        <p:spPr>
          <a:xfrm>
            <a:off x="777240" y="480060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main.js</a:t>
            </a:r>
            <a:endParaRPr lang="en-US" sz="1450" dirty="0"/>
          </a:p>
        </p:txBody>
      </p:sp>
      <p:sp>
        <p:nvSpPr>
          <p:cNvPr id="23" name="Text 17"/>
          <p:cNvSpPr/>
          <p:nvPr/>
        </p:nvSpPr>
        <p:spPr>
          <a:xfrm>
            <a:off x="777240" y="513892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Logika menu, cart, kalkulasi total, dan cetak struk PDF.</a:t>
            </a:r>
            <a:endParaRPr lang="en-US" sz="1100" dirty="0"/>
          </a:p>
        </p:txBody>
      </p:sp>
      <p:sp>
        <p:nvSpPr>
          <p:cNvPr id="24" name="Shape 18"/>
          <p:cNvSpPr/>
          <p:nvPr/>
        </p:nvSpPr>
        <p:spPr>
          <a:xfrm>
            <a:off x="4343400" y="393192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25" name="Shape 19"/>
          <p:cNvSpPr/>
          <p:nvPr/>
        </p:nvSpPr>
        <p:spPr>
          <a:xfrm>
            <a:off x="4572000" y="4160520"/>
            <a:ext cx="502920" cy="502920"/>
          </a:xfrm>
          <a:prstGeom prst="ellipse">
            <a:avLst/>
          </a:prstGeom>
          <a:solidFill>
            <a:srgbClr val="1E2761"/>
          </a:solidFill>
          <a:ln/>
        </p:spPr>
      </p:sp>
      <p:pic>
        <p:nvPicPr>
          <p:cNvPr id="26" name="Image 4" descr="/home/claude/kasir-ppt/icons/plus_white.png"/>
          <p:cNvPicPr>
            <a:picLocks noChangeAspect="1"/>
          </p:cNvPicPr>
          <p:nvPr/>
        </p:nvPicPr>
        <p:blipFill>
          <a:blip r:embed="rId7"/>
          <a:stretch>
            <a:fillRect/>
          </a:stretch>
        </p:blipFill>
        <p:spPr>
          <a:xfrm>
            <a:off x="4685157" y="4273677"/>
            <a:ext cx="276606" cy="276606"/>
          </a:xfrm>
          <a:prstGeom prst="rect">
            <a:avLst/>
          </a:prstGeom>
        </p:spPr>
      </p:pic>
      <p:sp>
        <p:nvSpPr>
          <p:cNvPr id="27" name="Text 20"/>
          <p:cNvSpPr/>
          <p:nvPr/>
        </p:nvSpPr>
        <p:spPr>
          <a:xfrm>
            <a:off x="4572000" y="480060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addProduct.js</a:t>
            </a:r>
            <a:endParaRPr lang="en-US" sz="1450" dirty="0"/>
          </a:p>
        </p:txBody>
      </p:sp>
      <p:sp>
        <p:nvSpPr>
          <p:cNvPr id="28" name="Text 21"/>
          <p:cNvSpPr/>
          <p:nvPr/>
        </p:nvSpPr>
        <p:spPr>
          <a:xfrm>
            <a:off x="4572000" y="513892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CRUD produk custom tersimpan di localStorage.</a:t>
            </a:r>
            <a:endParaRPr lang="en-US" sz="1100" dirty="0"/>
          </a:p>
        </p:txBody>
      </p:sp>
      <p:sp>
        <p:nvSpPr>
          <p:cNvPr id="29" name="Shape 22"/>
          <p:cNvSpPr/>
          <p:nvPr/>
        </p:nvSpPr>
        <p:spPr>
          <a:xfrm>
            <a:off x="8138160" y="393192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30" name="Shape 23"/>
          <p:cNvSpPr/>
          <p:nvPr/>
        </p:nvSpPr>
        <p:spPr>
          <a:xfrm>
            <a:off x="8366760" y="4160520"/>
            <a:ext cx="502920" cy="502920"/>
          </a:xfrm>
          <a:prstGeom prst="ellipse">
            <a:avLst/>
          </a:prstGeom>
          <a:solidFill>
            <a:srgbClr val="1E2761"/>
          </a:solidFill>
          <a:ln/>
        </p:spPr>
      </p:sp>
      <p:pic>
        <p:nvPicPr>
          <p:cNvPr id="31" name="Image 5" descr="/home/claude/kasir-ppt/icons/database_white.png"/>
          <p:cNvPicPr>
            <a:picLocks noChangeAspect="1"/>
          </p:cNvPicPr>
          <p:nvPr/>
        </p:nvPicPr>
        <p:blipFill>
          <a:blip r:embed="rId8"/>
          <a:stretch>
            <a:fillRect/>
          </a:stretch>
        </p:blipFill>
        <p:spPr>
          <a:xfrm>
            <a:off x="8479917" y="4273677"/>
            <a:ext cx="276606" cy="276606"/>
          </a:xfrm>
          <a:prstGeom prst="rect">
            <a:avLst/>
          </a:prstGeom>
        </p:spPr>
      </p:pic>
      <p:sp>
        <p:nvSpPr>
          <p:cNvPr id="32" name="Text 24"/>
          <p:cNvSpPr/>
          <p:nvPr/>
        </p:nvSpPr>
        <p:spPr>
          <a:xfrm>
            <a:off x="8366760" y="480060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menu.json</a:t>
            </a:r>
            <a:endParaRPr lang="en-US" sz="1450" dirty="0"/>
          </a:p>
        </p:txBody>
      </p:sp>
      <p:sp>
        <p:nvSpPr>
          <p:cNvPr id="33" name="Text 25"/>
          <p:cNvSpPr/>
          <p:nvPr/>
        </p:nvSpPr>
        <p:spPr>
          <a:xfrm>
            <a:off x="8366760" y="513892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Sumber data menu default (Makanan/Minuman/dll).</a:t>
            </a:r>
            <a:endParaRPr lang="en-US" sz="110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5"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LOGIKA PROGRAM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Alur Logika Autentikasi (Login Guard)</a:t>
            </a:r>
            <a:endParaRPr lang="en-US" sz="3000" dirty="0"/>
          </a:p>
        </p:txBody>
      </p:sp>
      <p:sp>
        <p:nvSpPr>
          <p:cNvPr id="4" name="Shape 2"/>
          <p:cNvSpPr/>
          <p:nvPr/>
        </p:nvSpPr>
        <p:spPr>
          <a:xfrm>
            <a:off x="548640" y="2011680"/>
            <a:ext cx="2286000" cy="914400"/>
          </a:xfrm>
          <a:prstGeom prst="roundRect">
            <a:avLst>
              <a:gd name="adj" fmla="val 10000"/>
            </a:avLst>
          </a:prstGeom>
          <a:solidFill>
            <a:srgbClr val="1E2761"/>
          </a:solidFill>
          <a:ln/>
          <a:effectLst>
            <a:outerShdw blurRad="101600" dist="38100" dir="5400000" algn="bl" rotWithShape="0">
              <a:srgbClr val="000000">
                <a:alpha val="12000"/>
              </a:srgbClr>
            </a:outerShdw>
          </a:effectLst>
        </p:spPr>
      </p:sp>
      <p:sp>
        <p:nvSpPr>
          <p:cNvPr id="5" name="Text 3"/>
          <p:cNvSpPr/>
          <p:nvPr/>
        </p:nvSpPr>
        <p:spPr>
          <a:xfrm>
            <a:off x="548640" y="1874520"/>
            <a:ext cx="228600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User buka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login.html</a:t>
            </a:r>
            <a:endParaRPr lang="en-US" sz="1300" dirty="0"/>
          </a:p>
        </p:txBody>
      </p:sp>
      <p:pic>
        <p:nvPicPr>
          <p:cNvPr id="6" name="Image 0" descr="/home/claude/kasir-ppt/icons/arrow_white.png"/>
          <p:cNvPicPr>
            <a:picLocks noChangeAspect="1"/>
          </p:cNvPicPr>
          <p:nvPr/>
        </p:nvPicPr>
        <p:blipFill>
          <a:blip r:embed="rId3"/>
          <a:stretch>
            <a:fillRect/>
          </a:stretch>
        </p:blipFill>
        <p:spPr>
          <a:xfrm>
            <a:off x="2926080" y="2359152"/>
            <a:ext cx="274320" cy="274320"/>
          </a:xfrm>
          <a:prstGeom prst="rect">
            <a:avLst/>
          </a:prstGeom>
        </p:spPr>
      </p:pic>
      <p:sp>
        <p:nvSpPr>
          <p:cNvPr id="7" name="Shape 4"/>
          <p:cNvSpPr/>
          <p:nvPr/>
        </p:nvSpPr>
        <p:spPr>
          <a:xfrm>
            <a:off x="3337560" y="2011680"/>
            <a:ext cx="2286000" cy="914400"/>
          </a:xfrm>
          <a:prstGeom prst="roundRect">
            <a:avLst>
              <a:gd name="adj" fmla="val 10000"/>
            </a:avLst>
          </a:prstGeom>
          <a:solidFill>
            <a:srgbClr val="1E2761"/>
          </a:solidFill>
          <a:ln/>
          <a:effectLst>
            <a:outerShdw blurRad="101600" dist="38100" dir="5400000" algn="bl" rotWithShape="0">
              <a:srgbClr val="000000">
                <a:alpha val="12000"/>
              </a:srgbClr>
            </a:outerShdw>
          </a:effectLst>
        </p:spPr>
      </p:sp>
      <p:sp>
        <p:nvSpPr>
          <p:cNvPr id="8" name="Text 5"/>
          <p:cNvSpPr/>
          <p:nvPr/>
        </p:nvSpPr>
        <p:spPr>
          <a:xfrm>
            <a:off x="3337560" y="1874520"/>
            <a:ext cx="228600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isLoggedIn()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dicek</a:t>
            </a:r>
            <a:endParaRPr lang="en-US" sz="1300" dirty="0"/>
          </a:p>
        </p:txBody>
      </p:sp>
      <p:pic>
        <p:nvPicPr>
          <p:cNvPr id="9" name="Image 1" descr="/home/claude/kasir-ppt/icons/arrow_white.png"/>
          <p:cNvPicPr>
            <a:picLocks noChangeAspect="1"/>
          </p:cNvPicPr>
          <p:nvPr/>
        </p:nvPicPr>
        <p:blipFill>
          <a:blip r:embed="rId3"/>
          <a:stretch>
            <a:fillRect/>
          </a:stretch>
        </p:blipFill>
        <p:spPr>
          <a:xfrm>
            <a:off x="5715000" y="2359152"/>
            <a:ext cx="274320" cy="274320"/>
          </a:xfrm>
          <a:prstGeom prst="rect">
            <a:avLst/>
          </a:prstGeom>
        </p:spPr>
      </p:pic>
      <p:sp>
        <p:nvSpPr>
          <p:cNvPr id="10" name="Shape 6"/>
          <p:cNvSpPr/>
          <p:nvPr/>
        </p:nvSpPr>
        <p:spPr>
          <a:xfrm>
            <a:off x="6126480" y="1874520"/>
            <a:ext cx="2286000" cy="1188720"/>
          </a:xfrm>
          <a:prstGeom prst="ellipse">
            <a:avLst/>
          </a:prstGeom>
          <a:solidFill>
            <a:srgbClr val="F2A900"/>
          </a:solidFill>
          <a:ln/>
          <a:effectLst>
            <a:outerShdw blurRad="101600" dist="38100" dir="5400000" algn="bl" rotWithShape="0">
              <a:srgbClr val="000000">
                <a:alpha val="12000"/>
              </a:srgbClr>
            </a:outerShdw>
          </a:effectLst>
        </p:spPr>
      </p:sp>
      <p:sp>
        <p:nvSpPr>
          <p:cNvPr id="11" name="Text 7"/>
          <p:cNvSpPr/>
          <p:nvPr/>
        </p:nvSpPr>
        <p:spPr>
          <a:xfrm>
            <a:off x="6126480" y="1874520"/>
            <a:ext cx="228600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Login valid?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(email &amp; pass)</a:t>
            </a:r>
            <a:endParaRPr lang="en-US" sz="1300" dirty="0"/>
          </a:p>
        </p:txBody>
      </p:sp>
      <p:sp>
        <p:nvSpPr>
          <p:cNvPr id="12" name="Text 8"/>
          <p:cNvSpPr/>
          <p:nvPr/>
        </p:nvSpPr>
        <p:spPr>
          <a:xfrm>
            <a:off x="6995160" y="3017520"/>
            <a:ext cx="548640" cy="274320"/>
          </a:xfrm>
          <a:prstGeom prst="rect">
            <a:avLst/>
          </a:prstGeom>
          <a:noFill/>
          <a:ln/>
        </p:spPr>
        <p:txBody>
          <a:bodyPr wrap="square" lIns="0" tIns="0" rIns="0" bIns="0" rtlCol="0" anchor="ctr"/>
          <a:lstStyle/>
          <a:p>
            <a:pPr marL="0" indent="0" algn="ctr">
              <a:buNone/>
            </a:pPr>
            <a:r>
              <a:rPr lang="en-US" sz="1100" b="1" dirty="0">
                <a:solidFill>
                  <a:srgbClr val="1C8A56"/>
                </a:solidFill>
                <a:latin typeface="Calibri" pitchFamily="34" charset="0"/>
                <a:ea typeface="Calibri" pitchFamily="34" charset="-122"/>
                <a:cs typeface="Calibri" pitchFamily="34" charset="-120"/>
              </a:rPr>
              <a:t>Ya</a:t>
            </a:r>
            <a:endParaRPr lang="en-US" sz="1100" dirty="0"/>
          </a:p>
        </p:txBody>
      </p:sp>
      <p:sp>
        <p:nvSpPr>
          <p:cNvPr id="13" name="Shape 9"/>
          <p:cNvSpPr/>
          <p:nvPr/>
        </p:nvSpPr>
        <p:spPr>
          <a:xfrm>
            <a:off x="5760720" y="3429000"/>
            <a:ext cx="3017520" cy="914400"/>
          </a:xfrm>
          <a:prstGeom prst="roundRect">
            <a:avLst>
              <a:gd name="adj" fmla="val 10000"/>
            </a:avLst>
          </a:prstGeom>
          <a:solidFill>
            <a:srgbClr val="1C8A56"/>
          </a:solidFill>
          <a:ln/>
          <a:effectLst>
            <a:outerShdw blurRad="101600" dist="38100" dir="5400000" algn="bl" rotWithShape="0">
              <a:srgbClr val="000000">
                <a:alpha val="12000"/>
              </a:srgbClr>
            </a:outerShdw>
          </a:effectLst>
        </p:spPr>
      </p:sp>
      <p:sp>
        <p:nvSpPr>
          <p:cNvPr id="14" name="Text 10"/>
          <p:cNvSpPr/>
          <p:nvPr/>
        </p:nvSpPr>
        <p:spPr>
          <a:xfrm>
            <a:off x="5760720" y="3429000"/>
            <a:ext cx="301752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setLoggedIn(email)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simpan localStorage + cookie</a:t>
            </a:r>
            <a:endParaRPr lang="en-US" sz="1200" dirty="0"/>
          </a:p>
        </p:txBody>
      </p:sp>
      <p:pic>
        <p:nvPicPr>
          <p:cNvPr id="15" name="Image 2" descr="/home/claude/kasir-ppt/icons/arrow_white.png"/>
          <p:cNvPicPr>
            <a:picLocks noChangeAspect="1"/>
          </p:cNvPicPr>
          <p:nvPr/>
        </p:nvPicPr>
        <p:blipFill>
          <a:blip r:embed="rId3"/>
          <a:stretch>
            <a:fillRect/>
          </a:stretch>
        </p:blipFill>
        <p:spPr>
          <a:xfrm rot="5400000">
            <a:off x="7132320" y="4434840"/>
            <a:ext cx="274320" cy="274320"/>
          </a:xfrm>
          <a:prstGeom prst="rect">
            <a:avLst/>
          </a:prstGeom>
        </p:spPr>
      </p:pic>
      <p:sp>
        <p:nvSpPr>
          <p:cNvPr id="16" name="Shape 11"/>
          <p:cNvSpPr/>
          <p:nvPr/>
        </p:nvSpPr>
        <p:spPr>
          <a:xfrm>
            <a:off x="5760720" y="4800600"/>
            <a:ext cx="3017520" cy="777240"/>
          </a:xfrm>
          <a:prstGeom prst="roundRect">
            <a:avLst>
              <a:gd name="adj" fmla="val 11765"/>
            </a:avLst>
          </a:prstGeom>
          <a:solidFill>
            <a:srgbClr val="1E2761"/>
          </a:solidFill>
          <a:ln/>
          <a:effectLst>
            <a:outerShdw blurRad="101600" dist="38100" dir="5400000" algn="bl" rotWithShape="0">
              <a:srgbClr val="000000">
                <a:alpha val="12000"/>
              </a:srgbClr>
            </a:outerShdw>
          </a:effectLst>
        </p:spPr>
      </p:sp>
      <p:sp>
        <p:nvSpPr>
          <p:cNvPr id="17" name="Text 12"/>
          <p:cNvSpPr/>
          <p:nvPr/>
        </p:nvSpPr>
        <p:spPr>
          <a:xfrm>
            <a:off x="5760720" y="4800600"/>
            <a:ext cx="3017520" cy="7772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Redirect ke index.html</a:t>
            </a:r>
            <a:endParaRPr lang="en-US" sz="1250" dirty="0"/>
          </a:p>
        </p:txBody>
      </p:sp>
      <p:sp>
        <p:nvSpPr>
          <p:cNvPr id="18" name="Text 13"/>
          <p:cNvSpPr/>
          <p:nvPr/>
        </p:nvSpPr>
        <p:spPr>
          <a:xfrm>
            <a:off x="8549640" y="1417320"/>
            <a:ext cx="640080" cy="274320"/>
          </a:xfrm>
          <a:prstGeom prst="rect">
            <a:avLst/>
          </a:prstGeom>
          <a:noFill/>
          <a:ln/>
        </p:spPr>
        <p:txBody>
          <a:bodyPr wrap="square" lIns="0" tIns="0" rIns="0" bIns="0" rtlCol="0" anchor="ctr"/>
          <a:lstStyle/>
          <a:p>
            <a:pPr marL="0" indent="0">
              <a:buNone/>
            </a:pPr>
            <a:r>
              <a:rPr lang="en-US" sz="1100" b="1" dirty="0">
                <a:solidFill>
                  <a:srgbClr val="C23B3B"/>
                </a:solidFill>
                <a:latin typeface="Calibri" pitchFamily="34" charset="0"/>
                <a:ea typeface="Calibri" pitchFamily="34" charset="-122"/>
                <a:cs typeface="Calibri" pitchFamily="34" charset="-120"/>
              </a:rPr>
              <a:t>Tidak</a:t>
            </a:r>
            <a:endParaRPr lang="en-US" sz="1100" dirty="0"/>
          </a:p>
        </p:txBody>
      </p:sp>
      <p:sp>
        <p:nvSpPr>
          <p:cNvPr id="19" name="Shape 14"/>
          <p:cNvSpPr/>
          <p:nvPr/>
        </p:nvSpPr>
        <p:spPr>
          <a:xfrm>
            <a:off x="8732520" y="1737360"/>
            <a:ext cx="2377440" cy="777240"/>
          </a:xfrm>
          <a:prstGeom prst="roundRect">
            <a:avLst>
              <a:gd name="adj" fmla="val 11765"/>
            </a:avLst>
          </a:prstGeom>
          <a:solidFill>
            <a:srgbClr val="C23B3B"/>
          </a:solidFill>
          <a:ln/>
          <a:effectLst>
            <a:outerShdw blurRad="101600" dist="38100" dir="5400000" algn="bl" rotWithShape="0">
              <a:srgbClr val="000000">
                <a:alpha val="12000"/>
              </a:srgbClr>
            </a:outerShdw>
          </a:effectLst>
        </p:spPr>
      </p:sp>
      <p:sp>
        <p:nvSpPr>
          <p:cNvPr id="20" name="Text 15"/>
          <p:cNvSpPr/>
          <p:nvPr/>
        </p:nvSpPr>
        <p:spPr>
          <a:xfrm>
            <a:off x="8732520" y="1737360"/>
            <a:ext cx="2377440"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showLoginError()</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"Email/Password salah"</a:t>
            </a:r>
            <a:endParaRPr lang="en-US" sz="1150" dirty="0"/>
          </a:p>
        </p:txBody>
      </p:sp>
      <p:sp>
        <p:nvSpPr>
          <p:cNvPr id="21" name="Shape 16"/>
          <p:cNvSpPr/>
          <p:nvPr/>
        </p:nvSpPr>
        <p:spPr>
          <a:xfrm>
            <a:off x="9052560" y="3611880"/>
            <a:ext cx="2834640" cy="2377440"/>
          </a:xfrm>
          <a:prstGeom prst="roundRect">
            <a:avLst>
              <a:gd name="adj" fmla="val 3846"/>
            </a:avLst>
          </a:prstGeom>
          <a:solidFill>
            <a:srgbClr val="EAF0FC"/>
          </a:solidFill>
          <a:ln/>
          <a:effectLst>
            <a:outerShdw blurRad="101600" dist="38100" dir="5400000" algn="bl" rotWithShape="0">
              <a:srgbClr val="000000">
                <a:alpha val="12000"/>
              </a:srgbClr>
            </a:outerShdw>
          </a:effectLst>
        </p:spPr>
      </p:sp>
      <p:sp>
        <p:nvSpPr>
          <p:cNvPr id="22" name="Shape 17"/>
          <p:cNvSpPr/>
          <p:nvPr/>
        </p:nvSpPr>
        <p:spPr>
          <a:xfrm>
            <a:off x="9235440" y="3849624"/>
            <a:ext cx="457200" cy="457200"/>
          </a:xfrm>
          <a:prstGeom prst="ellipse">
            <a:avLst/>
          </a:prstGeom>
          <a:solidFill>
            <a:srgbClr val="1E2761"/>
          </a:solidFill>
          <a:ln/>
        </p:spPr>
      </p:sp>
      <p:pic>
        <p:nvPicPr>
          <p:cNvPr id="23" name="Image 3" descr="/home/claude/kasir-ppt/icons/shield_white.png"/>
          <p:cNvPicPr>
            <a:picLocks noChangeAspect="1"/>
          </p:cNvPicPr>
          <p:nvPr/>
        </p:nvPicPr>
        <p:blipFill>
          <a:blip r:embed="rId4"/>
          <a:stretch>
            <a:fillRect/>
          </a:stretch>
        </p:blipFill>
        <p:spPr>
          <a:xfrm>
            <a:off x="9339943" y="3952494"/>
            <a:ext cx="251460" cy="251460"/>
          </a:xfrm>
          <a:prstGeom prst="rect">
            <a:avLst/>
          </a:prstGeom>
        </p:spPr>
      </p:pic>
      <p:sp>
        <p:nvSpPr>
          <p:cNvPr id="24" name="Text 18"/>
          <p:cNvSpPr/>
          <p:nvPr/>
        </p:nvSpPr>
        <p:spPr>
          <a:xfrm>
            <a:off x="9237073" y="4418838"/>
            <a:ext cx="237744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Auth Guard</a:t>
            </a:r>
            <a:endParaRPr lang="en-US" sz="1350" dirty="0"/>
          </a:p>
        </p:txBody>
      </p:sp>
      <p:sp>
        <p:nvSpPr>
          <p:cNvPr id="25" name="Text 19"/>
          <p:cNvSpPr/>
          <p:nvPr/>
        </p:nvSpPr>
        <p:spPr>
          <a:xfrm>
            <a:off x="9237073" y="4681728"/>
            <a:ext cx="2377440" cy="1280160"/>
          </a:xfrm>
          <a:prstGeom prst="rect">
            <a:avLst/>
          </a:prstGeom>
          <a:noFill/>
          <a:ln/>
        </p:spPr>
        <p:txBody>
          <a:bodyPr wrap="square" lIns="0" tIns="0" rIns="0" bIns="0" rtlCol="0" anchor="ctr"/>
          <a:lstStyle/>
          <a:p>
            <a:pPr marL="0" indent="0">
              <a:buNone/>
            </a:pPr>
            <a:r>
              <a:rPr lang="en-US" sz="1050" dirty="0">
                <a:solidFill>
                  <a:srgbClr val="1B1F3B"/>
                </a:solidFill>
                <a:latin typeface="Calibri" pitchFamily="34" charset="0"/>
                <a:ea typeface="Calibri" pitchFamily="34" charset="-122"/>
                <a:cs typeface="Calibri" pitchFamily="34" charset="-120"/>
              </a:rPr>
              <a:t>index.html &amp; addproduct.html memanggil authGuard() di awal script — jika belum login, langsung redirect balik ke login.html.</a:t>
            </a:r>
            <a:endParaRPr lang="en-US" sz="1050" dirty="0"/>
          </a:p>
        </p:txBody>
      </p:sp>
      <p:sp>
        <p:nvSpPr>
          <p:cNvPr id="26" name="Text 20"/>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27" name="Text 21"/>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Auth Guard &amp; Cookie Utilities</a:t>
            </a:r>
            <a:endParaRPr lang="en-US" sz="3000" dirty="0"/>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cookieUtils.js — fungsi dasar cookie</a:t>
            </a:r>
            <a:endParaRPr lang="en-US" sz="1350" dirty="0"/>
          </a:p>
        </p:txBody>
      </p:sp>
      <p:sp>
        <p:nvSpPr>
          <p:cNvPr id="5" name="Shape 3"/>
          <p:cNvSpPr/>
          <p:nvPr/>
        </p:nvSpPr>
        <p:spPr>
          <a:xfrm>
            <a:off x="548640" y="1828800"/>
            <a:ext cx="5486400" cy="2148840"/>
          </a:xfrm>
          <a:prstGeom prst="roundRect">
            <a:avLst>
              <a:gd name="adj" fmla="val 3404"/>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5029200" cy="1819656"/>
          </a:xfrm>
          <a:prstGeom prst="rect">
            <a:avLst/>
          </a:prstGeom>
          <a:noFill/>
          <a:ln/>
        </p:spPr>
        <p:txBody>
          <a:bodyPr wrap="square" lIns="0" tIns="0" rIns="0" bIns="0" rtlCol="0" anchor="t"/>
          <a:lstStyle/>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function setCookie(name, value, days)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const date = new Date();</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date.setTime(date.getTime() + days*864e5);</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document.cookie = name + "=" + value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 expires=" + date.toUTCString() + "; path=/";</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548640" y="416052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auth.js — validasi ganda (localStorage + cookie)</a:t>
            </a:r>
            <a:endParaRPr lang="en-US" sz="1350" dirty="0"/>
          </a:p>
        </p:txBody>
      </p:sp>
      <p:sp>
        <p:nvSpPr>
          <p:cNvPr id="8" name="Shape 6"/>
          <p:cNvSpPr/>
          <p:nvPr/>
        </p:nvSpPr>
        <p:spPr>
          <a:xfrm>
            <a:off x="548640" y="4526280"/>
            <a:ext cx="5486400" cy="1554480"/>
          </a:xfrm>
          <a:prstGeom prst="roundRect">
            <a:avLst>
              <a:gd name="adj" fmla="val 4706"/>
            </a:avLst>
          </a:prstGeom>
          <a:solidFill>
            <a:srgbClr val="151B4D"/>
          </a:solidFill>
          <a:ln/>
          <a:effectLst>
            <a:outerShdw blurRad="101600" dist="38100" dir="5400000" algn="bl" rotWithShape="0">
              <a:srgbClr val="000000">
                <a:alpha val="12000"/>
              </a:srgbClr>
            </a:outerShdw>
          </a:effectLst>
        </p:spPr>
      </p:sp>
      <p:sp>
        <p:nvSpPr>
          <p:cNvPr id="9" name="Text 7"/>
          <p:cNvSpPr/>
          <p:nvPr/>
        </p:nvSpPr>
        <p:spPr>
          <a:xfrm>
            <a:off x="777240" y="4690872"/>
            <a:ext cx="5029200" cy="1225296"/>
          </a:xfrm>
          <a:prstGeom prst="rect">
            <a:avLst/>
          </a:prstGeom>
          <a:noFill/>
          <a:ln/>
        </p:spPr>
        <p:txBody>
          <a:bodyPr wrap="square" lIns="0" tIns="0" rIns="0" bIns="0" rtlCol="0" anchor="t"/>
          <a:lstStyle/>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function isLoggedIn()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return localStorage.getItem(AUTH_KEY) === "true"</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&amp;&amp; getCookie("kasir_auth") === "true";</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10" name="Text 8"/>
          <p:cNvSpPr/>
          <p:nvPr/>
        </p:nvSpPr>
        <p:spPr>
          <a:xfrm>
            <a:off x="6400800" y="1463040"/>
            <a:ext cx="521208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main.js / addProduct.js — auth guard di setiap halaman</a:t>
            </a:r>
            <a:endParaRPr lang="en-US" sz="1350" dirty="0"/>
          </a:p>
        </p:txBody>
      </p:sp>
      <p:sp>
        <p:nvSpPr>
          <p:cNvPr id="11" name="Shape 9"/>
          <p:cNvSpPr/>
          <p:nvPr/>
        </p:nvSpPr>
        <p:spPr>
          <a:xfrm>
            <a:off x="6400800" y="1828800"/>
            <a:ext cx="5212080" cy="1691640"/>
          </a:xfrm>
          <a:prstGeom prst="roundRect">
            <a:avLst>
              <a:gd name="adj" fmla="val 4324"/>
            </a:avLst>
          </a:prstGeom>
          <a:solidFill>
            <a:srgbClr val="151B4D"/>
          </a:solidFill>
          <a:ln/>
          <a:effectLst>
            <a:outerShdw blurRad="101600" dist="38100" dir="5400000" algn="bl" rotWithShape="0">
              <a:srgbClr val="000000">
                <a:alpha val="12000"/>
              </a:srgbClr>
            </a:outerShdw>
          </a:effectLst>
        </p:spPr>
      </p:sp>
      <p:sp>
        <p:nvSpPr>
          <p:cNvPr id="12" name="Text 10"/>
          <p:cNvSpPr/>
          <p:nvPr/>
        </p:nvSpPr>
        <p:spPr>
          <a:xfrm>
            <a:off x="6629400" y="1993392"/>
            <a:ext cx="4754880" cy="1362456"/>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(function authGuard()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if (!isLoggedIn())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window.location.href = "login.html";</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6400800" y="3657600"/>
            <a:ext cx="5212080" cy="2377440"/>
          </a:xfrm>
          <a:prstGeom prst="roundRect">
            <a:avLst>
              <a:gd name="adj" fmla="val 3846"/>
            </a:avLst>
          </a:prstGeom>
          <a:solidFill>
            <a:srgbClr val="EAF0FC"/>
          </a:solidFill>
          <a:ln/>
          <a:effectLst>
            <a:outerShdw blurRad="101600" dist="38100" dir="5400000" algn="bl" rotWithShape="0">
              <a:srgbClr val="000000">
                <a:alpha val="12000"/>
              </a:srgbClr>
            </a:outerShdw>
          </a:effectLst>
        </p:spPr>
      </p:sp>
      <p:sp>
        <p:nvSpPr>
          <p:cNvPr id="14" name="Shape 12"/>
          <p:cNvSpPr/>
          <p:nvPr/>
        </p:nvSpPr>
        <p:spPr>
          <a:xfrm>
            <a:off x="6629400" y="3840480"/>
            <a:ext cx="457200" cy="457200"/>
          </a:xfrm>
          <a:prstGeom prst="ellipse">
            <a:avLst/>
          </a:prstGeom>
          <a:solidFill>
            <a:srgbClr val="F2A900"/>
          </a:solidFill>
          <a:ln/>
        </p:spPr>
      </p:sp>
      <p:pic>
        <p:nvPicPr>
          <p:cNvPr id="15" name="Image 0" descr="/home/claude/kasir-ppt/icons/bug_white.png"/>
          <p:cNvPicPr>
            <a:picLocks noChangeAspect="1"/>
          </p:cNvPicPr>
          <p:nvPr/>
        </p:nvPicPr>
        <p:blipFill>
          <a:blip r:embed="rId3"/>
          <a:stretch>
            <a:fillRect/>
          </a:stretch>
        </p:blipFill>
        <p:spPr>
          <a:xfrm>
            <a:off x="6732270" y="3943350"/>
            <a:ext cx="251460" cy="251460"/>
          </a:xfrm>
          <a:prstGeom prst="rect">
            <a:avLst/>
          </a:prstGeom>
        </p:spPr>
      </p:pic>
      <p:sp>
        <p:nvSpPr>
          <p:cNvPr id="16" name="Text 13"/>
          <p:cNvSpPr/>
          <p:nvPr/>
        </p:nvSpPr>
        <p:spPr>
          <a:xfrm>
            <a:off x="6629400" y="4370832"/>
            <a:ext cx="475488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Kenapa dicek dua kali?</a:t>
            </a:r>
            <a:endParaRPr lang="en-US" sz="1350" dirty="0"/>
          </a:p>
        </p:txBody>
      </p:sp>
      <p:sp>
        <p:nvSpPr>
          <p:cNvPr id="17" name="Text 14"/>
          <p:cNvSpPr/>
          <p:nvPr/>
        </p:nvSpPr>
        <p:spPr>
          <a:xfrm>
            <a:off x="6629400" y="4709160"/>
            <a:ext cx="4754880" cy="12344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B1F3B"/>
                </a:solidFill>
                <a:latin typeface="Calibri" pitchFamily="34" charset="0"/>
                <a:ea typeface="Calibri" pitchFamily="34" charset="-122"/>
                <a:cs typeface="Calibri" pitchFamily="34" charset="-120"/>
              </a:rPr>
              <a:t>Konsisten antara localStorage dan cookie mencegah celah jika salah satunya dihapus manual.</a:t>
            </a:r>
            <a:endParaRPr lang="en-US" sz="1150" dirty="0"/>
          </a:p>
          <a:p>
            <a:pPr marL="342900" indent="-342900">
              <a:spcAft>
                <a:spcPts val="600"/>
              </a:spcAft>
              <a:buSzPct val="100000"/>
              <a:buChar char="•"/>
            </a:pPr>
            <a:r>
              <a:rPr lang="en-US" sz="1150" dirty="0">
                <a:solidFill>
                  <a:srgbClr val="1B1F3B"/>
                </a:solidFill>
                <a:latin typeface="Calibri" pitchFamily="34" charset="0"/>
                <a:ea typeface="Calibri" pitchFamily="34" charset="-122"/>
                <a:cs typeface="Calibri" pitchFamily="34" charset="-120"/>
              </a:rPr>
              <a:t>IIFE (Immediately Invoked Function Expression) dijalankan otomatis saat script dimuat — tidak perlu dipanggil manual.</a:t>
            </a:r>
            <a:endParaRPr lang="en-US" sz="1150" dirty="0"/>
          </a:p>
        </p:txBody>
      </p:sp>
      <p:sp>
        <p:nvSpPr>
          <p:cNvPr id="18" name="Text 15"/>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19" name="Text 16"/>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LOGIKA PROGRAM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Alur Proses Dari Project Yang Dibuat</a:t>
            </a:r>
            <a:endParaRPr lang="en-US" sz="3000" dirty="0"/>
          </a:p>
        </p:txBody>
      </p:sp>
      <p:sp>
        <p:nvSpPr>
          <p:cNvPr id="4" name="Text 2"/>
          <p:cNvSpPr/>
          <p:nvPr/>
        </p:nvSpPr>
        <p:spPr>
          <a:xfrm>
            <a:off x="548640" y="1188720"/>
            <a:ext cx="9144000" cy="32004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Dari Buka Aplikasi sampai Struk Diunduh</a:t>
            </a:r>
            <a:endParaRPr lang="en-US" sz="1400" dirty="0"/>
          </a:p>
        </p:txBody>
      </p:sp>
      <p:sp>
        <p:nvSpPr>
          <p:cNvPr id="5" name="Shape 3"/>
          <p:cNvSpPr/>
          <p:nvPr/>
        </p:nvSpPr>
        <p:spPr>
          <a:xfrm>
            <a:off x="502920"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6" name="Shape 4"/>
          <p:cNvSpPr/>
          <p:nvPr/>
        </p:nvSpPr>
        <p:spPr>
          <a:xfrm>
            <a:off x="1138428" y="2331720"/>
            <a:ext cx="512064" cy="512064"/>
          </a:xfrm>
          <a:prstGeom prst="ellipse">
            <a:avLst/>
          </a:prstGeom>
          <a:solidFill>
            <a:srgbClr val="F2A900"/>
          </a:solidFill>
          <a:ln/>
        </p:spPr>
      </p:sp>
      <p:sp>
        <p:nvSpPr>
          <p:cNvPr id="7" name="Text 5"/>
          <p:cNvSpPr/>
          <p:nvPr/>
        </p:nvSpPr>
        <p:spPr>
          <a:xfrm>
            <a:off x="1138428"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1</a:t>
            </a:r>
            <a:endParaRPr lang="en-US" sz="1600" dirty="0"/>
          </a:p>
        </p:txBody>
      </p:sp>
      <p:pic>
        <p:nvPicPr>
          <p:cNvPr id="8" name="Image 0" descr="/home/claude/kasir-ppt/icons/lock_white.png"/>
          <p:cNvPicPr>
            <a:picLocks noChangeAspect="1"/>
          </p:cNvPicPr>
          <p:nvPr/>
        </p:nvPicPr>
        <p:blipFill>
          <a:blip r:embed="rId3"/>
          <a:stretch>
            <a:fillRect/>
          </a:stretch>
        </p:blipFill>
        <p:spPr>
          <a:xfrm>
            <a:off x="1229868" y="2971800"/>
            <a:ext cx="329184" cy="329184"/>
          </a:xfrm>
          <a:prstGeom prst="rect">
            <a:avLst/>
          </a:prstGeom>
        </p:spPr>
      </p:pic>
      <p:sp>
        <p:nvSpPr>
          <p:cNvPr id="9" name="Text 6"/>
          <p:cNvSpPr/>
          <p:nvPr/>
        </p:nvSpPr>
        <p:spPr>
          <a:xfrm>
            <a:off x="594360"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Login</a:t>
            </a:r>
            <a:endParaRPr lang="en-US" sz="1300" dirty="0"/>
          </a:p>
        </p:txBody>
      </p:sp>
      <p:sp>
        <p:nvSpPr>
          <p:cNvPr id="10" name="Text 7"/>
          <p:cNvSpPr/>
          <p:nvPr/>
        </p:nvSpPr>
        <p:spPr>
          <a:xfrm>
            <a:off x="612648"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Validasi kredensial, simpan sesi</a:t>
            </a:r>
            <a:endParaRPr lang="en-US" sz="950" dirty="0"/>
          </a:p>
        </p:txBody>
      </p:sp>
      <p:pic>
        <p:nvPicPr>
          <p:cNvPr id="11" name="Image 1" descr="/home/claude/kasir-ppt/icons/arrow_white.png"/>
          <p:cNvPicPr>
            <a:picLocks noChangeAspect="1"/>
          </p:cNvPicPr>
          <p:nvPr/>
        </p:nvPicPr>
        <p:blipFill>
          <a:blip r:embed="rId4"/>
          <a:stretch>
            <a:fillRect/>
          </a:stretch>
        </p:blipFill>
        <p:spPr>
          <a:xfrm>
            <a:off x="2295144" y="3177540"/>
            <a:ext cx="146304" cy="182880"/>
          </a:xfrm>
          <a:prstGeom prst="rect">
            <a:avLst/>
          </a:prstGeom>
        </p:spPr>
      </p:pic>
      <p:sp>
        <p:nvSpPr>
          <p:cNvPr id="12" name="Shape 8"/>
          <p:cNvSpPr/>
          <p:nvPr/>
        </p:nvSpPr>
        <p:spPr>
          <a:xfrm>
            <a:off x="2450592"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13" name="Shape 9"/>
          <p:cNvSpPr/>
          <p:nvPr/>
        </p:nvSpPr>
        <p:spPr>
          <a:xfrm>
            <a:off x="3086100" y="2331720"/>
            <a:ext cx="512064" cy="512064"/>
          </a:xfrm>
          <a:prstGeom prst="ellipse">
            <a:avLst/>
          </a:prstGeom>
          <a:solidFill>
            <a:srgbClr val="F2A900"/>
          </a:solidFill>
          <a:ln/>
        </p:spPr>
      </p:sp>
      <p:sp>
        <p:nvSpPr>
          <p:cNvPr id="14" name="Text 10"/>
          <p:cNvSpPr/>
          <p:nvPr/>
        </p:nvSpPr>
        <p:spPr>
          <a:xfrm>
            <a:off x="3086100"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2</a:t>
            </a:r>
            <a:endParaRPr lang="en-US" sz="1600" dirty="0"/>
          </a:p>
        </p:txBody>
      </p:sp>
      <p:pic>
        <p:nvPicPr>
          <p:cNvPr id="15" name="Image 2" descr="/home/claude/kasir-ppt/icons/database_white.png"/>
          <p:cNvPicPr>
            <a:picLocks noChangeAspect="1"/>
          </p:cNvPicPr>
          <p:nvPr/>
        </p:nvPicPr>
        <p:blipFill>
          <a:blip r:embed="rId5"/>
          <a:stretch>
            <a:fillRect/>
          </a:stretch>
        </p:blipFill>
        <p:spPr>
          <a:xfrm>
            <a:off x="3177540" y="2971800"/>
            <a:ext cx="329184" cy="329184"/>
          </a:xfrm>
          <a:prstGeom prst="rect">
            <a:avLst/>
          </a:prstGeom>
        </p:spPr>
      </p:pic>
      <p:sp>
        <p:nvSpPr>
          <p:cNvPr id="16" name="Text 11"/>
          <p:cNvSpPr/>
          <p:nvPr/>
        </p:nvSpPr>
        <p:spPr>
          <a:xfrm>
            <a:off x="2542032"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Load Menu</a:t>
            </a:r>
            <a:endParaRPr lang="en-US" sz="1300" dirty="0"/>
          </a:p>
        </p:txBody>
      </p:sp>
      <p:sp>
        <p:nvSpPr>
          <p:cNvPr id="17" name="Text 12"/>
          <p:cNvSpPr/>
          <p:nvPr/>
        </p:nvSpPr>
        <p:spPr>
          <a:xfrm>
            <a:off x="2560320"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fetch() menu.json + gabung produk custom</a:t>
            </a:r>
            <a:endParaRPr lang="en-US" sz="950" dirty="0"/>
          </a:p>
        </p:txBody>
      </p:sp>
      <p:pic>
        <p:nvPicPr>
          <p:cNvPr id="18" name="Image 3" descr="/home/claude/kasir-ppt/icons/arrow_white.png"/>
          <p:cNvPicPr>
            <a:picLocks noChangeAspect="1"/>
          </p:cNvPicPr>
          <p:nvPr/>
        </p:nvPicPr>
        <p:blipFill>
          <a:blip r:embed="rId4"/>
          <a:stretch>
            <a:fillRect/>
          </a:stretch>
        </p:blipFill>
        <p:spPr>
          <a:xfrm>
            <a:off x="4242816" y="3177540"/>
            <a:ext cx="146304" cy="182880"/>
          </a:xfrm>
          <a:prstGeom prst="rect">
            <a:avLst/>
          </a:prstGeom>
        </p:spPr>
      </p:pic>
      <p:sp>
        <p:nvSpPr>
          <p:cNvPr id="19" name="Shape 13"/>
          <p:cNvSpPr/>
          <p:nvPr/>
        </p:nvSpPr>
        <p:spPr>
          <a:xfrm>
            <a:off x="4398264"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20" name="Shape 14"/>
          <p:cNvSpPr/>
          <p:nvPr/>
        </p:nvSpPr>
        <p:spPr>
          <a:xfrm>
            <a:off x="5033772" y="2331720"/>
            <a:ext cx="512064" cy="512064"/>
          </a:xfrm>
          <a:prstGeom prst="ellipse">
            <a:avLst/>
          </a:prstGeom>
          <a:solidFill>
            <a:srgbClr val="F2A900"/>
          </a:solidFill>
          <a:ln/>
        </p:spPr>
      </p:sp>
      <p:sp>
        <p:nvSpPr>
          <p:cNvPr id="21" name="Text 15"/>
          <p:cNvSpPr/>
          <p:nvPr/>
        </p:nvSpPr>
        <p:spPr>
          <a:xfrm>
            <a:off x="5033772"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3</a:t>
            </a:r>
            <a:endParaRPr lang="en-US" sz="1600" dirty="0"/>
          </a:p>
        </p:txBody>
      </p:sp>
      <p:pic>
        <p:nvPicPr>
          <p:cNvPr id="22" name="Image 4" descr="/home/claude/kasir-ppt/icons/cart_white.png"/>
          <p:cNvPicPr>
            <a:picLocks noChangeAspect="1"/>
          </p:cNvPicPr>
          <p:nvPr/>
        </p:nvPicPr>
        <p:blipFill>
          <a:blip r:embed="rId6"/>
          <a:stretch>
            <a:fillRect/>
          </a:stretch>
        </p:blipFill>
        <p:spPr>
          <a:xfrm>
            <a:off x="5125212" y="2971800"/>
            <a:ext cx="329184" cy="329184"/>
          </a:xfrm>
          <a:prstGeom prst="rect">
            <a:avLst/>
          </a:prstGeom>
        </p:spPr>
      </p:pic>
      <p:sp>
        <p:nvSpPr>
          <p:cNvPr id="23" name="Text 16"/>
          <p:cNvSpPr/>
          <p:nvPr/>
        </p:nvSpPr>
        <p:spPr>
          <a:xfrm>
            <a:off x="4489704"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Tambah ke Cart</a:t>
            </a:r>
            <a:endParaRPr lang="en-US" sz="1300" dirty="0"/>
          </a:p>
        </p:txBody>
      </p:sp>
      <p:sp>
        <p:nvSpPr>
          <p:cNvPr id="24" name="Text 17"/>
          <p:cNvSpPr/>
          <p:nvPr/>
        </p:nvSpPr>
        <p:spPr>
          <a:xfrm>
            <a:off x="4507992"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Klik "Add to cart" → simpan ke localStorage</a:t>
            </a:r>
            <a:endParaRPr lang="en-US" sz="950" dirty="0"/>
          </a:p>
        </p:txBody>
      </p:sp>
      <p:pic>
        <p:nvPicPr>
          <p:cNvPr id="25" name="Image 5" descr="/home/claude/kasir-ppt/icons/arrow_white.png"/>
          <p:cNvPicPr>
            <a:picLocks noChangeAspect="1"/>
          </p:cNvPicPr>
          <p:nvPr/>
        </p:nvPicPr>
        <p:blipFill>
          <a:blip r:embed="rId4"/>
          <a:stretch>
            <a:fillRect/>
          </a:stretch>
        </p:blipFill>
        <p:spPr>
          <a:xfrm>
            <a:off x="6190488" y="3177540"/>
            <a:ext cx="146304" cy="182880"/>
          </a:xfrm>
          <a:prstGeom prst="rect">
            <a:avLst/>
          </a:prstGeom>
        </p:spPr>
      </p:pic>
      <p:sp>
        <p:nvSpPr>
          <p:cNvPr id="26" name="Shape 18"/>
          <p:cNvSpPr/>
          <p:nvPr/>
        </p:nvSpPr>
        <p:spPr>
          <a:xfrm>
            <a:off x="6345936"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27" name="Shape 19"/>
          <p:cNvSpPr/>
          <p:nvPr/>
        </p:nvSpPr>
        <p:spPr>
          <a:xfrm>
            <a:off x="6981444" y="2331720"/>
            <a:ext cx="512064" cy="512064"/>
          </a:xfrm>
          <a:prstGeom prst="ellipse">
            <a:avLst/>
          </a:prstGeom>
          <a:solidFill>
            <a:srgbClr val="F2A900"/>
          </a:solidFill>
          <a:ln/>
        </p:spPr>
      </p:sp>
      <p:sp>
        <p:nvSpPr>
          <p:cNvPr id="28" name="Text 20"/>
          <p:cNvSpPr/>
          <p:nvPr/>
        </p:nvSpPr>
        <p:spPr>
          <a:xfrm>
            <a:off x="6981444"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4</a:t>
            </a:r>
            <a:endParaRPr lang="en-US" sz="1600" dirty="0"/>
          </a:p>
        </p:txBody>
      </p:sp>
      <p:pic>
        <p:nvPicPr>
          <p:cNvPr id="29" name="Image 6" descr="/home/claude/kasir-ppt/icons/sync_white.png"/>
          <p:cNvPicPr>
            <a:picLocks noChangeAspect="1"/>
          </p:cNvPicPr>
          <p:nvPr/>
        </p:nvPicPr>
        <p:blipFill>
          <a:blip r:embed="rId7"/>
          <a:stretch>
            <a:fillRect/>
          </a:stretch>
        </p:blipFill>
        <p:spPr>
          <a:xfrm>
            <a:off x="7072884" y="2971800"/>
            <a:ext cx="329184" cy="329184"/>
          </a:xfrm>
          <a:prstGeom prst="rect">
            <a:avLst/>
          </a:prstGeom>
        </p:spPr>
      </p:pic>
      <p:sp>
        <p:nvSpPr>
          <p:cNvPr id="30" name="Text 21"/>
          <p:cNvSpPr/>
          <p:nvPr/>
        </p:nvSpPr>
        <p:spPr>
          <a:xfrm>
            <a:off x="6437376"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Atur Qty</a:t>
            </a:r>
            <a:endParaRPr lang="en-US" sz="1300" dirty="0"/>
          </a:p>
        </p:txBody>
      </p:sp>
      <p:sp>
        <p:nvSpPr>
          <p:cNvPr id="31" name="Text 22"/>
          <p:cNvSpPr/>
          <p:nvPr/>
        </p:nvSpPr>
        <p:spPr>
          <a:xfrm>
            <a:off x="6455664"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Tombol +/− mengubah qty &amp; subtotal real-time</a:t>
            </a:r>
            <a:endParaRPr lang="en-US" sz="950" dirty="0"/>
          </a:p>
        </p:txBody>
      </p:sp>
      <p:pic>
        <p:nvPicPr>
          <p:cNvPr id="32" name="Image 7" descr="/home/claude/kasir-ppt/icons/arrow_white.png"/>
          <p:cNvPicPr>
            <a:picLocks noChangeAspect="1"/>
          </p:cNvPicPr>
          <p:nvPr/>
        </p:nvPicPr>
        <p:blipFill>
          <a:blip r:embed="rId4"/>
          <a:stretch>
            <a:fillRect/>
          </a:stretch>
        </p:blipFill>
        <p:spPr>
          <a:xfrm>
            <a:off x="8138160" y="3177540"/>
            <a:ext cx="146304" cy="182880"/>
          </a:xfrm>
          <a:prstGeom prst="rect">
            <a:avLst/>
          </a:prstGeom>
        </p:spPr>
      </p:pic>
      <p:sp>
        <p:nvSpPr>
          <p:cNvPr id="33" name="Shape 23"/>
          <p:cNvSpPr/>
          <p:nvPr/>
        </p:nvSpPr>
        <p:spPr>
          <a:xfrm>
            <a:off x="8293608"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34" name="Shape 24"/>
          <p:cNvSpPr/>
          <p:nvPr/>
        </p:nvSpPr>
        <p:spPr>
          <a:xfrm>
            <a:off x="8929116" y="2331720"/>
            <a:ext cx="512064" cy="512064"/>
          </a:xfrm>
          <a:prstGeom prst="ellipse">
            <a:avLst/>
          </a:prstGeom>
          <a:solidFill>
            <a:srgbClr val="F2A900"/>
          </a:solidFill>
          <a:ln/>
        </p:spPr>
      </p:sp>
      <p:sp>
        <p:nvSpPr>
          <p:cNvPr id="35" name="Text 25"/>
          <p:cNvSpPr/>
          <p:nvPr/>
        </p:nvSpPr>
        <p:spPr>
          <a:xfrm>
            <a:off x="8929116"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5</a:t>
            </a:r>
            <a:endParaRPr lang="en-US" sz="1600" dirty="0"/>
          </a:p>
        </p:txBody>
      </p:sp>
      <p:pic>
        <p:nvPicPr>
          <p:cNvPr id="36" name="Image 8" descr="/home/claude/kasir-ppt/icons/invoice_white.png"/>
          <p:cNvPicPr>
            <a:picLocks noChangeAspect="1"/>
          </p:cNvPicPr>
          <p:nvPr/>
        </p:nvPicPr>
        <p:blipFill>
          <a:blip r:embed="rId8"/>
          <a:stretch>
            <a:fillRect/>
          </a:stretch>
        </p:blipFill>
        <p:spPr>
          <a:xfrm>
            <a:off x="9020556" y="2971800"/>
            <a:ext cx="329184" cy="329184"/>
          </a:xfrm>
          <a:prstGeom prst="rect">
            <a:avLst/>
          </a:prstGeom>
        </p:spPr>
      </p:pic>
      <p:sp>
        <p:nvSpPr>
          <p:cNvPr id="37" name="Text 26"/>
          <p:cNvSpPr/>
          <p:nvPr/>
        </p:nvSpPr>
        <p:spPr>
          <a:xfrm>
            <a:off x="8385048"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Proses Bayar</a:t>
            </a:r>
            <a:endParaRPr lang="en-US" sz="1300" dirty="0"/>
          </a:p>
        </p:txBody>
      </p:sp>
      <p:sp>
        <p:nvSpPr>
          <p:cNvPr id="38" name="Text 27"/>
          <p:cNvSpPr/>
          <p:nvPr/>
        </p:nvSpPr>
        <p:spPr>
          <a:xfrm>
            <a:off x="8403336"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Hitung diskon, PPN 10%, total &amp; kembalian</a:t>
            </a:r>
            <a:endParaRPr lang="en-US" sz="950" dirty="0"/>
          </a:p>
        </p:txBody>
      </p:sp>
      <p:pic>
        <p:nvPicPr>
          <p:cNvPr id="39" name="Image 9" descr="/home/claude/kasir-ppt/icons/arrow_white.png"/>
          <p:cNvPicPr>
            <a:picLocks noChangeAspect="1"/>
          </p:cNvPicPr>
          <p:nvPr/>
        </p:nvPicPr>
        <p:blipFill>
          <a:blip r:embed="rId4"/>
          <a:stretch>
            <a:fillRect/>
          </a:stretch>
        </p:blipFill>
        <p:spPr>
          <a:xfrm>
            <a:off x="10085832" y="3177540"/>
            <a:ext cx="146304" cy="182880"/>
          </a:xfrm>
          <a:prstGeom prst="rect">
            <a:avLst/>
          </a:prstGeom>
        </p:spPr>
      </p:pic>
      <p:sp>
        <p:nvSpPr>
          <p:cNvPr id="40" name="Shape 28"/>
          <p:cNvSpPr/>
          <p:nvPr/>
        </p:nvSpPr>
        <p:spPr>
          <a:xfrm>
            <a:off x="10241280"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41" name="Shape 29"/>
          <p:cNvSpPr/>
          <p:nvPr/>
        </p:nvSpPr>
        <p:spPr>
          <a:xfrm>
            <a:off x="10876788" y="2331720"/>
            <a:ext cx="512064" cy="512064"/>
          </a:xfrm>
          <a:prstGeom prst="ellipse">
            <a:avLst/>
          </a:prstGeom>
          <a:solidFill>
            <a:srgbClr val="F2A900"/>
          </a:solidFill>
          <a:ln/>
        </p:spPr>
      </p:sp>
      <p:sp>
        <p:nvSpPr>
          <p:cNvPr id="42" name="Text 30"/>
          <p:cNvSpPr/>
          <p:nvPr/>
        </p:nvSpPr>
        <p:spPr>
          <a:xfrm>
            <a:off x="10876788"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6</a:t>
            </a:r>
            <a:endParaRPr lang="en-US" sz="1600" dirty="0"/>
          </a:p>
        </p:txBody>
      </p:sp>
      <p:pic>
        <p:nvPicPr>
          <p:cNvPr id="43" name="Image 10" descr="/home/claude/kasir-ppt/icons/check_white.png"/>
          <p:cNvPicPr>
            <a:picLocks noChangeAspect="1"/>
          </p:cNvPicPr>
          <p:nvPr/>
        </p:nvPicPr>
        <p:blipFill>
          <a:blip r:embed="rId9"/>
          <a:stretch>
            <a:fillRect/>
          </a:stretch>
        </p:blipFill>
        <p:spPr>
          <a:xfrm>
            <a:off x="10968228" y="2971800"/>
            <a:ext cx="329184" cy="329184"/>
          </a:xfrm>
          <a:prstGeom prst="rect">
            <a:avLst/>
          </a:prstGeom>
        </p:spPr>
      </p:pic>
      <p:sp>
        <p:nvSpPr>
          <p:cNvPr id="44" name="Text 31"/>
          <p:cNvSpPr/>
          <p:nvPr/>
        </p:nvSpPr>
        <p:spPr>
          <a:xfrm>
            <a:off x="10332720"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Cetak Struk</a:t>
            </a:r>
            <a:endParaRPr lang="en-US" sz="1300" dirty="0"/>
          </a:p>
        </p:txBody>
      </p:sp>
      <p:sp>
        <p:nvSpPr>
          <p:cNvPr id="45" name="Text 32"/>
          <p:cNvSpPr/>
          <p:nvPr/>
        </p:nvSpPr>
        <p:spPr>
          <a:xfrm>
            <a:off x="10351008"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jsPDF generate PDF struk thermal 90mm</a:t>
            </a:r>
            <a:endParaRPr lang="en-US" sz="950" dirty="0"/>
          </a:p>
        </p:txBody>
      </p:sp>
      <p:sp>
        <p:nvSpPr>
          <p:cNvPr id="46" name="Text 33"/>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47" name="Text 34"/>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Logika Keranjang (Cart)</a:t>
            </a:r>
            <a:endParaRPr lang="en-US" sz="3000" dirty="0"/>
          </a:p>
        </p:txBody>
      </p:sp>
      <p:sp>
        <p:nvSpPr>
          <p:cNvPr id="4" name="Text 2"/>
          <p:cNvSpPr/>
          <p:nvPr/>
        </p:nvSpPr>
        <p:spPr>
          <a:xfrm>
            <a:off x="548640" y="1463040"/>
            <a:ext cx="64008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updateCart(action, id) — main.js</a:t>
            </a:r>
            <a:endParaRPr lang="en-US" sz="1350" dirty="0"/>
          </a:p>
        </p:txBody>
      </p:sp>
      <p:sp>
        <p:nvSpPr>
          <p:cNvPr id="5" name="Shape 3"/>
          <p:cNvSpPr/>
          <p:nvPr/>
        </p:nvSpPr>
        <p:spPr>
          <a:xfrm>
            <a:off x="548640" y="1828800"/>
            <a:ext cx="6858000" cy="3931920"/>
          </a:xfrm>
          <a:prstGeom prst="roundRect">
            <a:avLst>
              <a:gd name="adj" fmla="val 1860"/>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6400800" cy="3602736"/>
          </a:xfrm>
          <a:prstGeom prst="rect">
            <a:avLst/>
          </a:prstGeom>
          <a:noFill/>
          <a:ln/>
        </p:spPr>
        <p:txBody>
          <a:bodyPr wrap="square" lIns="0" tIns="0" rIns="0" bIns="0" rtlCol="0" anchor="t"/>
          <a:lstStyle/>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function updateCart(action, id)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const target = cart[id];</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if (action === "add")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if (!target)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const menuItem = findMenuItem(id);</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cart[id] = { ...menuItem, qty: 1,</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subtotal: menuItem.price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 else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target.qty += 1;</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target.subtotal = target.qty * target.price;</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 else if (action === "minus")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target.qty -= 1;</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if (target.qty &lt;= 0) delete cart[id];</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saveCartToStorage();</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refreshCartUI();</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7635240" y="1828800"/>
            <a:ext cx="3977640" cy="3931920"/>
          </a:xfrm>
          <a:prstGeom prst="roundRect">
            <a:avLst>
              <a:gd name="adj" fmla="val 2326"/>
            </a:avLst>
          </a:prstGeom>
          <a:solidFill>
            <a:srgbClr val="EAF0FC"/>
          </a:solidFill>
          <a:ln/>
          <a:effectLst>
            <a:outerShdw blurRad="101600" dist="38100" dir="5400000" algn="bl" rotWithShape="0">
              <a:srgbClr val="000000">
                <a:alpha val="12000"/>
              </a:srgbClr>
            </a:outerShdw>
          </a:effectLst>
        </p:spPr>
      </p:sp>
      <p:sp>
        <p:nvSpPr>
          <p:cNvPr id="8" name="Shape 6"/>
          <p:cNvSpPr/>
          <p:nvPr/>
        </p:nvSpPr>
        <p:spPr>
          <a:xfrm>
            <a:off x="7909560" y="2057400"/>
            <a:ext cx="502920" cy="502920"/>
          </a:xfrm>
          <a:prstGeom prst="ellipse">
            <a:avLst/>
          </a:prstGeom>
          <a:solidFill>
            <a:srgbClr val="1E2761"/>
          </a:solidFill>
          <a:ln/>
        </p:spPr>
      </p:sp>
      <p:pic>
        <p:nvPicPr>
          <p:cNvPr id="9" name="Image 0" descr="/home/claude/kasir-ppt/icons/cart_white.png"/>
          <p:cNvPicPr>
            <a:picLocks noChangeAspect="1"/>
          </p:cNvPicPr>
          <p:nvPr/>
        </p:nvPicPr>
        <p:blipFill>
          <a:blip r:embed="rId3"/>
          <a:stretch>
            <a:fillRect/>
          </a:stretch>
        </p:blipFill>
        <p:spPr>
          <a:xfrm>
            <a:off x="8022717" y="2170557"/>
            <a:ext cx="276606" cy="276606"/>
          </a:xfrm>
          <a:prstGeom prst="rect">
            <a:avLst/>
          </a:prstGeom>
        </p:spPr>
      </p:pic>
      <p:sp>
        <p:nvSpPr>
          <p:cNvPr id="10" name="Text 7"/>
          <p:cNvSpPr/>
          <p:nvPr/>
        </p:nvSpPr>
        <p:spPr>
          <a:xfrm>
            <a:off x="7909560" y="2651760"/>
            <a:ext cx="356616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Poin Penting</a:t>
            </a:r>
            <a:endParaRPr lang="en-US" sz="1400" dirty="0"/>
          </a:p>
        </p:txBody>
      </p:sp>
      <p:sp>
        <p:nvSpPr>
          <p:cNvPr id="11" name="Text 8"/>
          <p:cNvSpPr/>
          <p:nvPr/>
        </p:nvSpPr>
        <p:spPr>
          <a:xfrm>
            <a:off x="7909560" y="3017520"/>
            <a:ext cx="3566160" cy="26517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Cart disimpan sebagai object (key = id produk) agar pencarian item cepat.</a:t>
            </a:r>
            <a:endParaRPr lang="en-US" sz="1150" dirty="0"/>
          </a:p>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Setiap aksi (add/plus/minus/remove) langsung memanggil saveCartToStorage().</a:t>
            </a:r>
            <a:endParaRPr lang="en-US" sz="1150" dirty="0"/>
          </a:p>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Qty 0 otomatis menghapus item dari cart.</a:t>
            </a:r>
            <a:endParaRPr lang="en-US" sz="1150" dirty="0"/>
          </a:p>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refreshCartUI() me-render ulang tampilan &amp; badge jumlah cart secara real-time.</a:t>
            </a:r>
            <a:endParaRPr lang="en-US" sz="1150" dirty="0"/>
          </a:p>
        </p:txBody>
      </p:sp>
      <p:sp>
        <p:nvSpPr>
          <p:cNvPr id="12" name="Text 9"/>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13" name="Text 10"/>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Kalkulasi Diskon, PPN &amp; Total</a:t>
            </a:r>
            <a:endParaRPr lang="en-US" sz="3000" dirty="0"/>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hitungTotal(subtotal) — main.js</a:t>
            </a:r>
            <a:endParaRPr lang="en-US" sz="1350" dirty="0"/>
          </a:p>
        </p:txBody>
      </p:sp>
      <p:sp>
        <p:nvSpPr>
          <p:cNvPr id="5" name="Shape 3"/>
          <p:cNvSpPr/>
          <p:nvPr/>
        </p:nvSpPr>
        <p:spPr>
          <a:xfrm>
            <a:off x="548640" y="1828800"/>
            <a:ext cx="5486400" cy="1920240"/>
          </a:xfrm>
          <a:prstGeom prst="roundRect">
            <a:avLst>
              <a:gd name="adj" fmla="val 3810"/>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5029200" cy="1591056"/>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function hitungTotal(subtotal)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diskon = Math.round(subtotal*0.1);</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dpp = subtotal - diskon;</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ppn = Math.round(dpp * 0.1);</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total = dpp + ppn;</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return { diskon, ppn, total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548640" y="393192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Validasi sebelum proses bayar</a:t>
            </a:r>
            <a:endParaRPr lang="en-US" sz="1350" dirty="0"/>
          </a:p>
        </p:txBody>
      </p:sp>
      <p:sp>
        <p:nvSpPr>
          <p:cNvPr id="8" name="Shape 6"/>
          <p:cNvSpPr/>
          <p:nvPr/>
        </p:nvSpPr>
        <p:spPr>
          <a:xfrm>
            <a:off x="548640" y="4297680"/>
            <a:ext cx="5486400" cy="1783080"/>
          </a:xfrm>
          <a:prstGeom prst="roundRect">
            <a:avLst>
              <a:gd name="adj" fmla="val 4103"/>
            </a:avLst>
          </a:prstGeom>
          <a:solidFill>
            <a:srgbClr val="151B4D"/>
          </a:solidFill>
          <a:ln/>
          <a:effectLst>
            <a:outerShdw blurRad="101600" dist="38100" dir="5400000" algn="bl" rotWithShape="0">
              <a:srgbClr val="000000">
                <a:alpha val="12000"/>
              </a:srgbClr>
            </a:outerShdw>
          </a:effectLst>
        </p:spPr>
      </p:sp>
      <p:sp>
        <p:nvSpPr>
          <p:cNvPr id="9" name="Text 7"/>
          <p:cNvSpPr/>
          <p:nvPr/>
        </p:nvSpPr>
        <p:spPr>
          <a:xfrm>
            <a:off x="777240" y="4462272"/>
            <a:ext cx="5029200" cy="1453896"/>
          </a:xfrm>
          <a:prstGeom prst="rect">
            <a:avLst/>
          </a:prstGeom>
          <a:noFill/>
          <a:ln/>
        </p:spPr>
        <p:txBody>
          <a:bodyPr wrap="square" lIns="0" tIns="0" rIns="0" bIns="0" rtlCol="0" anchor="t"/>
          <a:lstStyle/>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if (cash &lt; total)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showWarning(</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`Uang tidak cukup. Total: Rp ${total}`</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return;</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const kembalian = cash - total;</a:t>
            </a:r>
            <a:endParaRPr lang="en-US" sz="1150" dirty="0"/>
          </a:p>
        </p:txBody>
      </p:sp>
      <p:sp>
        <p:nvSpPr>
          <p:cNvPr id="10" name="Shape 8"/>
          <p:cNvSpPr/>
          <p:nvPr/>
        </p:nvSpPr>
        <p:spPr>
          <a:xfrm>
            <a:off x="6400800" y="1463040"/>
            <a:ext cx="5212080" cy="4617720"/>
          </a:xfrm>
          <a:prstGeom prst="roundRect">
            <a:avLst>
              <a:gd name="adj" fmla="val 1980"/>
            </a:avLst>
          </a:prstGeom>
          <a:solidFill>
            <a:srgbClr val="1E2761"/>
          </a:solidFill>
          <a:ln/>
          <a:effectLst>
            <a:outerShdw blurRad="101600" dist="38100" dir="5400000" algn="bl" rotWithShape="0">
              <a:srgbClr val="000000">
                <a:alpha val="12000"/>
              </a:srgbClr>
            </a:outerShdw>
          </a:effectLst>
        </p:spPr>
      </p:sp>
      <p:sp>
        <p:nvSpPr>
          <p:cNvPr id="11" name="Text 9"/>
          <p:cNvSpPr/>
          <p:nvPr/>
        </p:nvSpPr>
        <p:spPr>
          <a:xfrm>
            <a:off x="6720840" y="1664208"/>
            <a:ext cx="4572000" cy="365760"/>
          </a:xfrm>
          <a:prstGeom prst="rect">
            <a:avLst/>
          </a:prstGeom>
          <a:noFill/>
          <a:ln/>
        </p:spPr>
        <p:txBody>
          <a:bodyPr wrap="square" lIns="0" tIns="0" rIns="0" bIns="0" rtlCol="0" anchor="ctr"/>
          <a:lstStyle/>
          <a:p>
            <a:pPr marL="0" indent="0">
              <a:buNone/>
            </a:pPr>
            <a:r>
              <a:rPr lang="en-US" sz="1600" b="1" dirty="0">
                <a:solidFill>
                  <a:srgbClr val="F2A900"/>
                </a:solidFill>
                <a:latin typeface="Cambria" pitchFamily="34" charset="0"/>
                <a:ea typeface="Cambria" pitchFamily="34" charset="-122"/>
                <a:cs typeface="Cambria" pitchFamily="34" charset="-120"/>
              </a:rPr>
              <a:t>Contoh Simulasi</a:t>
            </a:r>
            <a:endParaRPr lang="en-US" sz="1600" dirty="0"/>
          </a:p>
        </p:txBody>
      </p:sp>
      <p:sp>
        <p:nvSpPr>
          <p:cNvPr id="12" name="Text 10"/>
          <p:cNvSpPr/>
          <p:nvPr/>
        </p:nvSpPr>
        <p:spPr>
          <a:xfrm>
            <a:off x="6720840" y="22402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Subtotal</a:t>
            </a:r>
            <a:endParaRPr lang="en-US" sz="1300" dirty="0"/>
          </a:p>
        </p:txBody>
      </p:sp>
      <p:sp>
        <p:nvSpPr>
          <p:cNvPr id="13" name="Text 11"/>
          <p:cNvSpPr/>
          <p:nvPr/>
        </p:nvSpPr>
        <p:spPr>
          <a:xfrm>
            <a:off x="9235440" y="22402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Rp 100.000</a:t>
            </a:r>
            <a:endParaRPr lang="en-US" sz="1300" dirty="0"/>
          </a:p>
        </p:txBody>
      </p:sp>
      <p:sp>
        <p:nvSpPr>
          <p:cNvPr id="14" name="Shape 12"/>
          <p:cNvSpPr/>
          <p:nvPr/>
        </p:nvSpPr>
        <p:spPr>
          <a:xfrm>
            <a:off x="6720840" y="2624328"/>
            <a:ext cx="4709160" cy="0"/>
          </a:xfrm>
          <a:prstGeom prst="line">
            <a:avLst/>
          </a:prstGeom>
          <a:noFill/>
          <a:ln w="9525">
            <a:solidFill>
              <a:srgbClr val="3A4485"/>
            </a:solidFill>
            <a:prstDash val="solid"/>
          </a:ln>
        </p:spPr>
      </p:sp>
      <p:sp>
        <p:nvSpPr>
          <p:cNvPr id="15" name="Text 13"/>
          <p:cNvSpPr/>
          <p:nvPr/>
        </p:nvSpPr>
        <p:spPr>
          <a:xfrm>
            <a:off x="6720840" y="26974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Diskon (10%)</a:t>
            </a:r>
            <a:endParaRPr lang="en-US" sz="1300" dirty="0"/>
          </a:p>
        </p:txBody>
      </p:sp>
      <p:sp>
        <p:nvSpPr>
          <p:cNvPr id="16" name="Text 14"/>
          <p:cNvSpPr/>
          <p:nvPr/>
        </p:nvSpPr>
        <p:spPr>
          <a:xfrm>
            <a:off x="9235440" y="26974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 Rp 10.000</a:t>
            </a:r>
            <a:endParaRPr lang="en-US" sz="1300" dirty="0"/>
          </a:p>
        </p:txBody>
      </p:sp>
      <p:sp>
        <p:nvSpPr>
          <p:cNvPr id="17" name="Shape 15"/>
          <p:cNvSpPr/>
          <p:nvPr/>
        </p:nvSpPr>
        <p:spPr>
          <a:xfrm>
            <a:off x="6720840" y="3081528"/>
            <a:ext cx="4709160" cy="0"/>
          </a:xfrm>
          <a:prstGeom prst="line">
            <a:avLst/>
          </a:prstGeom>
          <a:noFill/>
          <a:ln w="9525">
            <a:solidFill>
              <a:srgbClr val="3A4485"/>
            </a:solidFill>
            <a:prstDash val="solid"/>
          </a:ln>
        </p:spPr>
      </p:sp>
      <p:sp>
        <p:nvSpPr>
          <p:cNvPr id="18" name="Text 16"/>
          <p:cNvSpPr/>
          <p:nvPr/>
        </p:nvSpPr>
        <p:spPr>
          <a:xfrm>
            <a:off x="6720840" y="31546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DPP</a:t>
            </a:r>
            <a:endParaRPr lang="en-US" sz="1300" dirty="0"/>
          </a:p>
        </p:txBody>
      </p:sp>
      <p:sp>
        <p:nvSpPr>
          <p:cNvPr id="19" name="Text 17"/>
          <p:cNvSpPr/>
          <p:nvPr/>
        </p:nvSpPr>
        <p:spPr>
          <a:xfrm>
            <a:off x="9235440" y="31546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Rp 90.000</a:t>
            </a:r>
            <a:endParaRPr lang="en-US" sz="1300" dirty="0"/>
          </a:p>
        </p:txBody>
      </p:sp>
      <p:sp>
        <p:nvSpPr>
          <p:cNvPr id="20" name="Shape 18"/>
          <p:cNvSpPr/>
          <p:nvPr/>
        </p:nvSpPr>
        <p:spPr>
          <a:xfrm>
            <a:off x="6720840" y="3538728"/>
            <a:ext cx="4709160" cy="0"/>
          </a:xfrm>
          <a:prstGeom prst="line">
            <a:avLst/>
          </a:prstGeom>
          <a:noFill/>
          <a:ln w="9525">
            <a:solidFill>
              <a:srgbClr val="3A4485"/>
            </a:solidFill>
            <a:prstDash val="solid"/>
          </a:ln>
        </p:spPr>
      </p:sp>
      <p:sp>
        <p:nvSpPr>
          <p:cNvPr id="21" name="Text 19"/>
          <p:cNvSpPr/>
          <p:nvPr/>
        </p:nvSpPr>
        <p:spPr>
          <a:xfrm>
            <a:off x="6720840" y="36118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PPN (10%)</a:t>
            </a:r>
            <a:endParaRPr lang="en-US" sz="1300" dirty="0"/>
          </a:p>
        </p:txBody>
      </p:sp>
      <p:sp>
        <p:nvSpPr>
          <p:cNvPr id="22" name="Text 20"/>
          <p:cNvSpPr/>
          <p:nvPr/>
        </p:nvSpPr>
        <p:spPr>
          <a:xfrm>
            <a:off x="9235440" y="36118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 Rp 9.000</a:t>
            </a:r>
            <a:endParaRPr lang="en-US" sz="1300" dirty="0"/>
          </a:p>
        </p:txBody>
      </p:sp>
      <p:sp>
        <p:nvSpPr>
          <p:cNvPr id="23" name="Shape 21"/>
          <p:cNvSpPr/>
          <p:nvPr/>
        </p:nvSpPr>
        <p:spPr>
          <a:xfrm>
            <a:off x="6720840" y="3995928"/>
            <a:ext cx="4709160" cy="0"/>
          </a:xfrm>
          <a:prstGeom prst="line">
            <a:avLst/>
          </a:prstGeom>
          <a:noFill/>
          <a:ln w="9525">
            <a:solidFill>
              <a:srgbClr val="3A4485"/>
            </a:solidFill>
            <a:prstDash val="solid"/>
          </a:ln>
        </p:spPr>
      </p:sp>
      <p:sp>
        <p:nvSpPr>
          <p:cNvPr id="24" name="Shape 22"/>
          <p:cNvSpPr/>
          <p:nvPr/>
        </p:nvSpPr>
        <p:spPr>
          <a:xfrm>
            <a:off x="6720840" y="4160520"/>
            <a:ext cx="4709160" cy="594360"/>
          </a:xfrm>
          <a:prstGeom prst="roundRect">
            <a:avLst>
              <a:gd name="adj" fmla="val 12308"/>
            </a:avLst>
          </a:prstGeom>
          <a:solidFill>
            <a:srgbClr val="F2A900"/>
          </a:solidFill>
          <a:ln/>
        </p:spPr>
      </p:sp>
      <p:sp>
        <p:nvSpPr>
          <p:cNvPr id="25" name="Text 23"/>
          <p:cNvSpPr/>
          <p:nvPr/>
        </p:nvSpPr>
        <p:spPr>
          <a:xfrm>
            <a:off x="6903720" y="4160520"/>
            <a:ext cx="2286000" cy="594360"/>
          </a:xfrm>
          <a:prstGeom prst="rect">
            <a:avLst/>
          </a:prstGeom>
          <a:noFill/>
          <a:ln/>
        </p:spPr>
        <p:txBody>
          <a:bodyPr wrap="square" lIns="0" tIns="0" rIns="0" bIns="0" rtlCol="0" anchor="ctr"/>
          <a:lstStyle/>
          <a:p>
            <a:pPr marL="0" indent="0">
              <a:buNone/>
            </a:pPr>
            <a:r>
              <a:rPr lang="en-US" sz="1500" b="1" dirty="0">
                <a:solidFill>
                  <a:srgbClr val="151B4D"/>
                </a:solidFill>
                <a:latin typeface="Cambria" pitchFamily="34" charset="0"/>
                <a:ea typeface="Cambria" pitchFamily="34" charset="-122"/>
                <a:cs typeface="Cambria" pitchFamily="34" charset="-120"/>
              </a:rPr>
              <a:t>TOTAL</a:t>
            </a:r>
            <a:endParaRPr lang="en-US" sz="1500" dirty="0"/>
          </a:p>
        </p:txBody>
      </p:sp>
      <p:sp>
        <p:nvSpPr>
          <p:cNvPr id="26" name="Text 24"/>
          <p:cNvSpPr/>
          <p:nvPr/>
        </p:nvSpPr>
        <p:spPr>
          <a:xfrm>
            <a:off x="9052560" y="4160520"/>
            <a:ext cx="2377440" cy="594360"/>
          </a:xfrm>
          <a:prstGeom prst="rect">
            <a:avLst/>
          </a:prstGeom>
          <a:noFill/>
          <a:ln/>
        </p:spPr>
        <p:txBody>
          <a:bodyPr wrap="square" lIns="0" tIns="0" rIns="0" bIns="0" rtlCol="0" anchor="ctr"/>
          <a:lstStyle/>
          <a:p>
            <a:pPr marL="0" indent="0" algn="r">
              <a:buNone/>
            </a:pPr>
            <a:r>
              <a:rPr lang="en-US" sz="1500" b="1" dirty="0">
                <a:solidFill>
                  <a:srgbClr val="151B4D"/>
                </a:solidFill>
                <a:latin typeface="Cambria" pitchFamily="34" charset="0"/>
                <a:ea typeface="Cambria" pitchFamily="34" charset="-122"/>
                <a:cs typeface="Cambria" pitchFamily="34" charset="-120"/>
              </a:rPr>
              <a:t>Rp 99.000</a:t>
            </a:r>
            <a:endParaRPr lang="en-US" sz="1500" dirty="0"/>
          </a:p>
        </p:txBody>
      </p:sp>
      <p:sp>
        <p:nvSpPr>
          <p:cNvPr id="27" name="Text 25"/>
          <p:cNvSpPr/>
          <p:nvPr/>
        </p:nvSpPr>
        <p:spPr>
          <a:xfrm>
            <a:off x="6720840" y="4937760"/>
            <a:ext cx="4709160" cy="36576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Bayar Rp 100.000 → Kembalian Rp 1.000</a:t>
            </a:r>
            <a:endParaRPr lang="en-US" sz="1150" dirty="0"/>
          </a:p>
        </p:txBody>
      </p:sp>
      <p:sp>
        <p:nvSpPr>
          <p:cNvPr id="28"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29"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CRUD Produk Custom (Admin Dashboard)</a:t>
            </a:r>
            <a:endParaRPr lang="en-US" sz="3000" dirty="0"/>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addProduct.js — submit produk baru</a:t>
            </a:r>
            <a:endParaRPr lang="en-US" sz="1350" dirty="0"/>
          </a:p>
        </p:txBody>
      </p:sp>
      <p:sp>
        <p:nvSpPr>
          <p:cNvPr id="5" name="Shape 3"/>
          <p:cNvSpPr/>
          <p:nvPr/>
        </p:nvSpPr>
        <p:spPr>
          <a:xfrm>
            <a:off x="548640" y="1828800"/>
            <a:ext cx="5486400" cy="2743200"/>
          </a:xfrm>
          <a:prstGeom prst="roundRect">
            <a:avLst>
              <a:gd name="adj" fmla="val 2667"/>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5029200" cy="2414016"/>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const newProduct =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id: generateId(),</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nama, price: Number(price),</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img: img || "/static/default.jpg",</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category,</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gn="l">
              <a:lnSpc>
                <a:spcPct val="115000"/>
              </a:lnSpc>
              <a:buNone/>
            </a:pP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const products = loadCustomProducts();</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products.push(newProduct);</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saveCustomProducts(products);</a:t>
            </a:r>
            <a:endParaRPr lang="en-US" sz="1200" dirty="0"/>
          </a:p>
        </p:txBody>
      </p:sp>
      <p:sp>
        <p:nvSpPr>
          <p:cNvPr id="7" name="Text 5"/>
          <p:cNvSpPr/>
          <p:nvPr/>
        </p:nvSpPr>
        <p:spPr>
          <a:xfrm>
            <a:off x="548640" y="4709160"/>
            <a:ext cx="5486400" cy="32004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generateId() — anti bentrok dengan menu.json</a:t>
            </a:r>
            <a:endParaRPr lang="en-US" sz="1250" dirty="0"/>
          </a:p>
        </p:txBody>
      </p:sp>
      <p:sp>
        <p:nvSpPr>
          <p:cNvPr id="8" name="Shape 6"/>
          <p:cNvSpPr/>
          <p:nvPr/>
        </p:nvSpPr>
        <p:spPr>
          <a:xfrm>
            <a:off x="548640" y="5029200"/>
            <a:ext cx="5486400" cy="914400"/>
          </a:xfrm>
          <a:prstGeom prst="roundRect">
            <a:avLst>
              <a:gd name="adj" fmla="val 8000"/>
            </a:avLst>
          </a:prstGeom>
          <a:solidFill>
            <a:srgbClr val="151B4D"/>
          </a:solidFill>
          <a:ln/>
          <a:effectLst>
            <a:outerShdw blurRad="101600" dist="38100" dir="5400000" algn="bl" rotWithShape="0">
              <a:srgbClr val="000000">
                <a:alpha val="12000"/>
              </a:srgbClr>
            </a:outerShdw>
          </a:effectLst>
        </p:spPr>
      </p:sp>
      <p:sp>
        <p:nvSpPr>
          <p:cNvPr id="9" name="Text 7"/>
          <p:cNvSpPr/>
          <p:nvPr/>
        </p:nvSpPr>
        <p:spPr>
          <a:xfrm>
            <a:off x="777240" y="5193792"/>
            <a:ext cx="5029200" cy="585216"/>
          </a:xfrm>
          <a:prstGeom prst="rect">
            <a:avLst/>
          </a:prstGeom>
          <a:noFill/>
          <a:ln/>
        </p:spPr>
        <p:txBody>
          <a:bodyPr wrap="square" lIns="0" tIns="0" rIns="0" bIns="0" rtlCol="0" anchor="t"/>
          <a:lstStyle/>
          <a:p>
            <a:pPr marL="0" indent="0" algn="l">
              <a:lnSpc>
                <a:spcPct val="115000"/>
              </a:lnSpc>
              <a:buNone/>
            </a:pPr>
            <a:r>
              <a:rPr lang="en-US" sz="1050" dirty="0">
                <a:solidFill>
                  <a:srgbClr val="CADCFC"/>
                </a:solidFill>
                <a:latin typeface="Courier New" pitchFamily="34" charset="0"/>
                <a:ea typeface="Courier New" pitchFamily="34" charset="-122"/>
                <a:cs typeface="Courier New" pitchFamily="34" charset="-120"/>
              </a:rPr>
              <a:t>function generateId() {</a:t>
            </a:r>
            <a:endParaRPr lang="en-US" sz="1050" dirty="0"/>
          </a:p>
          <a:p>
            <a:pPr marL="0" indent="0" algn="l">
              <a:lnSpc>
                <a:spcPct val="115000"/>
              </a:lnSpc>
              <a:buNone/>
            </a:pPr>
            <a:r>
              <a:rPr lang="en-US" sz="1050" dirty="0">
                <a:solidFill>
                  <a:srgbClr val="CADCFC"/>
                </a:solidFill>
                <a:latin typeface="Courier New" pitchFamily="34" charset="0"/>
                <a:ea typeface="Courier New" pitchFamily="34" charset="-122"/>
                <a:cs typeface="Courier New" pitchFamily="34" charset="-120"/>
              </a:rPr>
              <a:t>  return "custom_"+Date.now()+"_"+Math.floor(Math.random()*1000);</a:t>
            </a:r>
            <a:endParaRPr lang="en-US" sz="1050" dirty="0"/>
          </a:p>
          <a:p>
            <a:pPr marL="0" indent="0" algn="l">
              <a:lnSpc>
                <a:spcPct val="115000"/>
              </a:lnSpc>
              <a:buNone/>
            </a:pPr>
            <a:r>
              <a:rPr lang="en-US" sz="1050" dirty="0">
                <a:solidFill>
                  <a:srgbClr val="CADCF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6400800" y="1554480"/>
            <a:ext cx="521208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1" name="Shape 9"/>
          <p:cNvSpPr/>
          <p:nvPr/>
        </p:nvSpPr>
        <p:spPr>
          <a:xfrm>
            <a:off x="6629400" y="1755648"/>
            <a:ext cx="502920" cy="502920"/>
          </a:xfrm>
          <a:prstGeom prst="ellipse">
            <a:avLst/>
          </a:prstGeom>
          <a:solidFill>
            <a:srgbClr val="1E2761"/>
          </a:solidFill>
          <a:ln/>
        </p:spPr>
      </p:sp>
      <p:pic>
        <p:nvPicPr>
          <p:cNvPr id="12" name="Image 0" descr="/home/claude/kasir-ppt/icons/plus_white.png"/>
          <p:cNvPicPr>
            <a:picLocks noChangeAspect="1"/>
          </p:cNvPicPr>
          <p:nvPr/>
        </p:nvPicPr>
        <p:blipFill>
          <a:blip r:embed="rId3"/>
          <a:stretch>
            <a:fillRect/>
          </a:stretch>
        </p:blipFill>
        <p:spPr>
          <a:xfrm>
            <a:off x="6742557" y="1868805"/>
            <a:ext cx="276606" cy="276606"/>
          </a:xfrm>
          <a:prstGeom prst="rect">
            <a:avLst/>
          </a:prstGeom>
        </p:spPr>
      </p:pic>
      <p:sp>
        <p:nvSpPr>
          <p:cNvPr id="13" name="Text 10"/>
          <p:cNvSpPr/>
          <p:nvPr/>
        </p:nvSpPr>
        <p:spPr>
          <a:xfrm>
            <a:off x="7269480" y="1737360"/>
            <a:ext cx="420624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Create</a:t>
            </a:r>
            <a:endParaRPr lang="en-US" sz="1450" dirty="0"/>
          </a:p>
        </p:txBody>
      </p:sp>
      <p:sp>
        <p:nvSpPr>
          <p:cNvPr id="14" name="Text 11"/>
          <p:cNvSpPr/>
          <p:nvPr/>
        </p:nvSpPr>
        <p:spPr>
          <a:xfrm>
            <a:off x="7269480" y="2084832"/>
            <a:ext cx="4206240" cy="77724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Form tambah produk + preview gambar realtime</a:t>
            </a:r>
            <a:endParaRPr lang="en-US" sz="1100" dirty="0"/>
          </a:p>
        </p:txBody>
      </p:sp>
      <p:sp>
        <p:nvSpPr>
          <p:cNvPr id="15" name="Shape 12"/>
          <p:cNvSpPr/>
          <p:nvPr/>
        </p:nvSpPr>
        <p:spPr>
          <a:xfrm>
            <a:off x="6400800" y="3127248"/>
            <a:ext cx="521208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6" name="Shape 13"/>
          <p:cNvSpPr/>
          <p:nvPr/>
        </p:nvSpPr>
        <p:spPr>
          <a:xfrm>
            <a:off x="6629400" y="3328416"/>
            <a:ext cx="502920" cy="502920"/>
          </a:xfrm>
          <a:prstGeom prst="ellipse">
            <a:avLst/>
          </a:prstGeom>
          <a:solidFill>
            <a:srgbClr val="1E2761"/>
          </a:solidFill>
          <a:ln/>
        </p:spPr>
      </p:sp>
      <p:pic>
        <p:nvPicPr>
          <p:cNvPr id="17" name="Image 1" descr="/home/claude/kasir-ppt/icons/edit_white.png"/>
          <p:cNvPicPr>
            <a:picLocks noChangeAspect="1"/>
          </p:cNvPicPr>
          <p:nvPr/>
        </p:nvPicPr>
        <p:blipFill>
          <a:blip r:embed="rId4"/>
          <a:stretch>
            <a:fillRect/>
          </a:stretch>
        </p:blipFill>
        <p:spPr>
          <a:xfrm>
            <a:off x="6742557" y="3441573"/>
            <a:ext cx="276606" cy="276606"/>
          </a:xfrm>
          <a:prstGeom prst="rect">
            <a:avLst/>
          </a:prstGeom>
        </p:spPr>
      </p:pic>
      <p:sp>
        <p:nvSpPr>
          <p:cNvPr id="18" name="Text 14"/>
          <p:cNvSpPr/>
          <p:nvPr/>
        </p:nvSpPr>
        <p:spPr>
          <a:xfrm>
            <a:off x="7269480" y="3310128"/>
            <a:ext cx="420624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Update</a:t>
            </a:r>
            <a:endParaRPr lang="en-US" sz="1450" dirty="0"/>
          </a:p>
        </p:txBody>
      </p:sp>
      <p:sp>
        <p:nvSpPr>
          <p:cNvPr id="19" name="Text 15"/>
          <p:cNvSpPr/>
          <p:nvPr/>
        </p:nvSpPr>
        <p:spPr>
          <a:xfrm>
            <a:off x="7269480" y="3657600"/>
            <a:ext cx="4206240" cy="77724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Modal edit, isi ulang field dari data tersimpan</a:t>
            </a:r>
            <a:endParaRPr lang="en-US" sz="1100" dirty="0"/>
          </a:p>
        </p:txBody>
      </p:sp>
      <p:sp>
        <p:nvSpPr>
          <p:cNvPr id="20" name="Shape 16"/>
          <p:cNvSpPr/>
          <p:nvPr/>
        </p:nvSpPr>
        <p:spPr>
          <a:xfrm>
            <a:off x="6400800" y="4700016"/>
            <a:ext cx="521208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21" name="Shape 17"/>
          <p:cNvSpPr/>
          <p:nvPr/>
        </p:nvSpPr>
        <p:spPr>
          <a:xfrm>
            <a:off x="6629400" y="4901184"/>
            <a:ext cx="502920" cy="502920"/>
          </a:xfrm>
          <a:prstGeom prst="ellipse">
            <a:avLst/>
          </a:prstGeom>
          <a:solidFill>
            <a:srgbClr val="1E2761"/>
          </a:solidFill>
          <a:ln/>
        </p:spPr>
      </p:sp>
      <p:pic>
        <p:nvPicPr>
          <p:cNvPr id="22" name="Image 2" descr="/home/claude/kasir-ppt/icons/trash_white.png"/>
          <p:cNvPicPr>
            <a:picLocks noChangeAspect="1"/>
          </p:cNvPicPr>
          <p:nvPr/>
        </p:nvPicPr>
        <p:blipFill>
          <a:blip r:embed="rId5"/>
          <a:stretch>
            <a:fillRect/>
          </a:stretch>
        </p:blipFill>
        <p:spPr>
          <a:xfrm>
            <a:off x="6742557" y="5014341"/>
            <a:ext cx="276606" cy="276606"/>
          </a:xfrm>
          <a:prstGeom prst="rect">
            <a:avLst/>
          </a:prstGeom>
        </p:spPr>
      </p:pic>
      <p:sp>
        <p:nvSpPr>
          <p:cNvPr id="23" name="Text 18"/>
          <p:cNvSpPr/>
          <p:nvPr/>
        </p:nvSpPr>
        <p:spPr>
          <a:xfrm>
            <a:off x="7269480" y="4882896"/>
            <a:ext cx="420624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Delete</a:t>
            </a:r>
            <a:endParaRPr lang="en-US" sz="1450" dirty="0"/>
          </a:p>
        </p:txBody>
      </p:sp>
      <p:sp>
        <p:nvSpPr>
          <p:cNvPr id="24" name="Text 19"/>
          <p:cNvSpPr/>
          <p:nvPr/>
        </p:nvSpPr>
        <p:spPr>
          <a:xfrm>
            <a:off x="7269480" y="5230368"/>
            <a:ext cx="4206240" cy="77724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Modal konfirmasi sebelum hapus permanen</a:t>
            </a:r>
            <a:endParaRPr lang="en-US" sz="1100" dirty="0"/>
          </a:p>
        </p:txBody>
      </p:sp>
      <p:sp>
        <p:nvSpPr>
          <p:cNvPr id="25" name="Text 20"/>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26" name="Text 21"/>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STUDI KASUS</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Debugging: Infinite Redirect Loop</a:t>
            </a:r>
            <a:endParaRPr lang="en-US" sz="3000" dirty="0"/>
          </a:p>
        </p:txBody>
      </p:sp>
      <p:sp>
        <p:nvSpPr>
          <p:cNvPr id="4" name="Shape 2"/>
          <p:cNvSpPr/>
          <p:nvPr/>
        </p:nvSpPr>
        <p:spPr>
          <a:xfrm>
            <a:off x="548640" y="1554480"/>
            <a:ext cx="5394960" cy="4480560"/>
          </a:xfrm>
          <a:prstGeom prst="roundRect">
            <a:avLst>
              <a:gd name="adj" fmla="val 2041"/>
            </a:avLst>
          </a:prstGeom>
          <a:solidFill>
            <a:srgbClr val="FBEAEA"/>
          </a:solidFill>
          <a:ln/>
          <a:effectLst>
            <a:outerShdw blurRad="101600" dist="38100" dir="5400000" algn="bl" rotWithShape="0">
              <a:srgbClr val="000000">
                <a:alpha val="12000"/>
              </a:srgbClr>
            </a:outerShdw>
          </a:effectLst>
        </p:spPr>
      </p:sp>
      <p:sp>
        <p:nvSpPr>
          <p:cNvPr id="5" name="Shape 3"/>
          <p:cNvSpPr/>
          <p:nvPr/>
        </p:nvSpPr>
        <p:spPr>
          <a:xfrm>
            <a:off x="822960" y="1783080"/>
            <a:ext cx="502920" cy="502920"/>
          </a:xfrm>
          <a:prstGeom prst="ellipse">
            <a:avLst/>
          </a:prstGeom>
          <a:solidFill>
            <a:srgbClr val="C23B3B"/>
          </a:solidFill>
          <a:ln/>
        </p:spPr>
      </p:sp>
      <p:pic>
        <p:nvPicPr>
          <p:cNvPr id="6" name="Image 0" descr="/home/claude/kasir-ppt/icons/warning_white.png"/>
          <p:cNvPicPr>
            <a:picLocks noChangeAspect="1"/>
          </p:cNvPicPr>
          <p:nvPr/>
        </p:nvPicPr>
        <p:blipFill>
          <a:blip r:embed="rId3"/>
          <a:stretch>
            <a:fillRect/>
          </a:stretch>
        </p:blipFill>
        <p:spPr>
          <a:xfrm>
            <a:off x="936117" y="1896237"/>
            <a:ext cx="276606" cy="276606"/>
          </a:xfrm>
          <a:prstGeom prst="rect">
            <a:avLst/>
          </a:prstGeom>
        </p:spPr>
      </p:pic>
      <p:sp>
        <p:nvSpPr>
          <p:cNvPr id="7" name="Text 4"/>
          <p:cNvSpPr/>
          <p:nvPr/>
        </p:nvSpPr>
        <p:spPr>
          <a:xfrm>
            <a:off x="1463040" y="1901952"/>
            <a:ext cx="4297680" cy="365760"/>
          </a:xfrm>
          <a:prstGeom prst="rect">
            <a:avLst/>
          </a:prstGeom>
          <a:noFill/>
          <a:ln/>
        </p:spPr>
        <p:txBody>
          <a:bodyPr wrap="square" lIns="0" tIns="0" rIns="0" bIns="0" rtlCol="0" anchor="ctr"/>
          <a:lstStyle/>
          <a:p>
            <a:pPr marL="0" indent="0">
              <a:buNone/>
            </a:pPr>
            <a:r>
              <a:rPr lang="en-US" sz="1600" b="1" dirty="0">
                <a:solidFill>
                  <a:srgbClr val="C23B3B"/>
                </a:solidFill>
                <a:latin typeface="Cambria" pitchFamily="34" charset="0"/>
                <a:ea typeface="Cambria" pitchFamily="34" charset="-122"/>
                <a:cs typeface="Cambria" pitchFamily="34" charset="-120"/>
              </a:rPr>
              <a:t>Masalah</a:t>
            </a:r>
            <a:endParaRPr lang="en-US" sz="1600" dirty="0"/>
          </a:p>
        </p:txBody>
      </p:sp>
      <p:sp>
        <p:nvSpPr>
          <p:cNvPr id="8" name="Text 5"/>
          <p:cNvSpPr/>
          <p:nvPr/>
        </p:nvSpPr>
        <p:spPr>
          <a:xfrm>
            <a:off x="822960" y="2423160"/>
            <a:ext cx="4846320" cy="347472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login.html ↔ index.html saling redirect tanpa henti.</a:t>
            </a:r>
            <a:endParaRPr lang="en-US" sz="1250" dirty="0"/>
          </a:p>
          <a:p>
            <a:pPr marL="342900" indent="-3429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Penyebab: urutan &lt;script&gt; yang salah — auth.js termuat sebelum cookieUtils.js.</a:t>
            </a:r>
            <a:endParaRPr lang="en-US" sz="1250" dirty="0"/>
          </a:p>
          <a:p>
            <a:pPr marL="342900" indent="-3429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Akibatnya getCookie() belum terdefinisi saat isLoggedIn() dipanggil → status login selalu salah dibaca.</a:t>
            </a:r>
            <a:endParaRPr lang="en-US" sz="1250" dirty="0"/>
          </a:p>
        </p:txBody>
      </p:sp>
      <p:sp>
        <p:nvSpPr>
          <p:cNvPr id="9" name="Shape 6"/>
          <p:cNvSpPr/>
          <p:nvPr/>
        </p:nvSpPr>
        <p:spPr>
          <a:xfrm>
            <a:off x="6217920" y="1554480"/>
            <a:ext cx="5394960" cy="4480560"/>
          </a:xfrm>
          <a:prstGeom prst="roundRect">
            <a:avLst>
              <a:gd name="adj" fmla="val 2041"/>
            </a:avLst>
          </a:prstGeom>
          <a:solidFill>
            <a:srgbClr val="E7F5EC"/>
          </a:solidFill>
          <a:ln/>
          <a:effectLst>
            <a:outerShdw blurRad="101600" dist="38100" dir="5400000" algn="bl" rotWithShape="0">
              <a:srgbClr val="000000">
                <a:alpha val="12000"/>
              </a:srgbClr>
            </a:outerShdw>
          </a:effectLst>
        </p:spPr>
      </p:sp>
      <p:sp>
        <p:nvSpPr>
          <p:cNvPr id="10" name="Shape 7"/>
          <p:cNvSpPr/>
          <p:nvPr/>
        </p:nvSpPr>
        <p:spPr>
          <a:xfrm>
            <a:off x="6492240" y="1783080"/>
            <a:ext cx="502920" cy="502920"/>
          </a:xfrm>
          <a:prstGeom prst="ellipse">
            <a:avLst/>
          </a:prstGeom>
          <a:solidFill>
            <a:srgbClr val="1C8A56"/>
          </a:solidFill>
          <a:ln/>
        </p:spPr>
      </p:sp>
      <p:pic>
        <p:nvPicPr>
          <p:cNvPr id="11" name="Image 1" descr="/home/claude/kasir-ppt/icons/check_white.png"/>
          <p:cNvPicPr>
            <a:picLocks noChangeAspect="1"/>
          </p:cNvPicPr>
          <p:nvPr/>
        </p:nvPicPr>
        <p:blipFill>
          <a:blip r:embed="rId4"/>
          <a:stretch>
            <a:fillRect/>
          </a:stretch>
        </p:blipFill>
        <p:spPr>
          <a:xfrm>
            <a:off x="6605397" y="1896237"/>
            <a:ext cx="276606" cy="276606"/>
          </a:xfrm>
          <a:prstGeom prst="rect">
            <a:avLst/>
          </a:prstGeom>
        </p:spPr>
      </p:pic>
      <p:sp>
        <p:nvSpPr>
          <p:cNvPr id="12" name="Text 8"/>
          <p:cNvSpPr/>
          <p:nvPr/>
        </p:nvSpPr>
        <p:spPr>
          <a:xfrm>
            <a:off x="7132320" y="1901952"/>
            <a:ext cx="4297680" cy="365760"/>
          </a:xfrm>
          <a:prstGeom prst="rect">
            <a:avLst/>
          </a:prstGeom>
          <a:noFill/>
          <a:ln/>
        </p:spPr>
        <p:txBody>
          <a:bodyPr wrap="square" lIns="0" tIns="0" rIns="0" bIns="0" rtlCol="0" anchor="ctr"/>
          <a:lstStyle/>
          <a:p>
            <a:pPr marL="0" indent="0">
              <a:buNone/>
            </a:pPr>
            <a:r>
              <a:rPr lang="en-US" sz="1600" b="1" dirty="0">
                <a:solidFill>
                  <a:srgbClr val="1C8A56"/>
                </a:solidFill>
                <a:latin typeface="Cambria" pitchFamily="34" charset="0"/>
                <a:ea typeface="Cambria" pitchFamily="34" charset="-122"/>
                <a:cs typeface="Cambria" pitchFamily="34" charset="-120"/>
              </a:rPr>
              <a:t>Solusi</a:t>
            </a:r>
            <a:endParaRPr lang="en-US" sz="1600" dirty="0"/>
          </a:p>
        </p:txBody>
      </p:sp>
      <p:sp>
        <p:nvSpPr>
          <p:cNvPr id="13" name="Shape 9"/>
          <p:cNvSpPr/>
          <p:nvPr/>
        </p:nvSpPr>
        <p:spPr>
          <a:xfrm>
            <a:off x="6492240" y="2377440"/>
            <a:ext cx="4846320" cy="1188720"/>
          </a:xfrm>
          <a:prstGeom prst="roundRect">
            <a:avLst>
              <a:gd name="adj" fmla="val 6154"/>
            </a:avLst>
          </a:prstGeom>
          <a:solidFill>
            <a:srgbClr val="151B4D"/>
          </a:solidFill>
          <a:ln/>
          <a:effectLst>
            <a:outerShdw blurRad="101600" dist="38100" dir="5400000" algn="bl" rotWithShape="0">
              <a:srgbClr val="000000">
                <a:alpha val="12000"/>
              </a:srgbClr>
            </a:outerShdw>
          </a:effectLst>
        </p:spPr>
      </p:sp>
      <p:sp>
        <p:nvSpPr>
          <p:cNvPr id="14" name="Text 10"/>
          <p:cNvSpPr/>
          <p:nvPr/>
        </p:nvSpPr>
        <p:spPr>
          <a:xfrm>
            <a:off x="6720840" y="2542032"/>
            <a:ext cx="4389120" cy="859536"/>
          </a:xfrm>
          <a:prstGeom prst="rect">
            <a:avLst/>
          </a:prstGeom>
          <a:noFill/>
          <a:ln/>
        </p:spPr>
        <p:txBody>
          <a:bodyPr wrap="square" lIns="0" tIns="0" rIns="0" bIns="0" rtlCol="0" anchor="t"/>
          <a:lstStyle/>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&lt;script src="./js/cookieUtils.js"&gt;&lt;/script&gt;</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&lt;script src="./js/auth.js"&gt;&lt;/script&gt;</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&lt;script src="./js/loginStyle.js"&gt;&lt;/script&gt;</a:t>
            </a:r>
            <a:endParaRPr lang="en-US" sz="1100" dirty="0"/>
          </a:p>
        </p:txBody>
      </p:sp>
      <p:sp>
        <p:nvSpPr>
          <p:cNvPr id="15" name="Text 11"/>
          <p:cNvSpPr/>
          <p:nvPr/>
        </p:nvSpPr>
        <p:spPr>
          <a:xfrm>
            <a:off x="6492240" y="3703320"/>
            <a:ext cx="4846320" cy="219456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Pisahkan fungsi cookie murni ke cookieUtils.js sendiri.</a:t>
            </a:r>
            <a:endParaRPr lang="en-US" sz="1250" dirty="0"/>
          </a:p>
          <a:p>
            <a:pPr marL="342900" indent="-3429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Tegakkan urutan load di semua HTML: cookieUtils → auth → (loginStyle / main / addProduct).</a:t>
            </a:r>
            <a:endParaRPr lang="en-US" sz="1250" dirty="0"/>
          </a:p>
          <a:p>
            <a:pPr marL="342900" indent="-3429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Hasil: isLoggedIn() selalu konsisten, loop redirect hilang total.</a:t>
            </a:r>
            <a:endParaRPr lang="en-US" sz="1250" dirty="0"/>
          </a:p>
        </p:txBody>
      </p:sp>
      <p:sp>
        <p:nvSpPr>
          <p:cNvPr id="16" name="Text 12"/>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17" name="Text 1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OUTPUT PROGRAM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Tampilan Aplikasi yang Berjalan</a:t>
            </a:r>
            <a:endParaRPr lang="en-US" sz="3000" dirty="0"/>
          </a:p>
        </p:txBody>
      </p:sp>
      <p:sp>
        <p:nvSpPr>
          <p:cNvPr id="4" name="Shape 2"/>
          <p:cNvSpPr/>
          <p:nvPr/>
        </p:nvSpPr>
        <p:spPr>
          <a:xfrm>
            <a:off x="502920" y="169164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5" name="Shape 3"/>
          <p:cNvSpPr/>
          <p:nvPr/>
        </p:nvSpPr>
        <p:spPr>
          <a:xfrm>
            <a:off x="731520" y="1920240"/>
            <a:ext cx="502920" cy="502920"/>
          </a:xfrm>
          <a:prstGeom prst="ellipse">
            <a:avLst/>
          </a:prstGeom>
          <a:solidFill>
            <a:srgbClr val="F2A900"/>
          </a:solidFill>
          <a:ln/>
        </p:spPr>
      </p:sp>
      <p:pic>
        <p:nvPicPr>
          <p:cNvPr id="6" name="Image 0" descr="/home/claude/kasir-ppt/icons/lock_white.png"/>
          <p:cNvPicPr>
            <a:picLocks noChangeAspect="1"/>
          </p:cNvPicPr>
          <p:nvPr/>
        </p:nvPicPr>
        <p:blipFill>
          <a:blip r:embed="rId3"/>
          <a:stretch>
            <a:fillRect/>
          </a:stretch>
        </p:blipFill>
        <p:spPr>
          <a:xfrm>
            <a:off x="844677" y="2033397"/>
            <a:ext cx="276606" cy="276606"/>
          </a:xfrm>
          <a:prstGeom prst="rect">
            <a:avLst/>
          </a:prstGeom>
        </p:spPr>
      </p:pic>
      <p:sp>
        <p:nvSpPr>
          <p:cNvPr id="7" name="Text 4"/>
          <p:cNvSpPr/>
          <p:nvPr/>
        </p:nvSpPr>
        <p:spPr>
          <a:xfrm>
            <a:off x="731520" y="256032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Halaman Login</a:t>
            </a:r>
            <a:endParaRPr lang="en-US" sz="1350" dirty="0"/>
          </a:p>
        </p:txBody>
      </p:sp>
      <p:sp>
        <p:nvSpPr>
          <p:cNvPr id="8" name="Text 5"/>
          <p:cNvSpPr/>
          <p:nvPr/>
        </p:nvSpPr>
        <p:spPr>
          <a:xfrm>
            <a:off x="731520" y="306324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Form login dengan validasi &amp; animasi panel signup</a:t>
            </a:r>
            <a:endParaRPr lang="en-US" sz="1050" dirty="0"/>
          </a:p>
        </p:txBody>
      </p:sp>
      <p:sp>
        <p:nvSpPr>
          <p:cNvPr id="9" name="Shape 6"/>
          <p:cNvSpPr/>
          <p:nvPr/>
        </p:nvSpPr>
        <p:spPr>
          <a:xfrm>
            <a:off x="4297680" y="169164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10" name="Shape 7"/>
          <p:cNvSpPr/>
          <p:nvPr/>
        </p:nvSpPr>
        <p:spPr>
          <a:xfrm>
            <a:off x="4526280" y="1920240"/>
            <a:ext cx="502920" cy="502920"/>
          </a:xfrm>
          <a:prstGeom prst="ellipse">
            <a:avLst/>
          </a:prstGeom>
          <a:solidFill>
            <a:srgbClr val="F2A900"/>
          </a:solidFill>
          <a:ln/>
        </p:spPr>
      </p:sp>
      <p:pic>
        <p:nvPicPr>
          <p:cNvPr id="11" name="Image 1" descr="/home/claude/kasir-ppt/icons/cashier_white.png"/>
          <p:cNvPicPr>
            <a:picLocks noChangeAspect="1"/>
          </p:cNvPicPr>
          <p:nvPr/>
        </p:nvPicPr>
        <p:blipFill>
          <a:blip r:embed="rId4"/>
          <a:stretch>
            <a:fillRect/>
          </a:stretch>
        </p:blipFill>
        <p:spPr>
          <a:xfrm>
            <a:off x="4639437" y="2033397"/>
            <a:ext cx="276606" cy="276606"/>
          </a:xfrm>
          <a:prstGeom prst="rect">
            <a:avLst/>
          </a:prstGeom>
        </p:spPr>
      </p:pic>
      <p:sp>
        <p:nvSpPr>
          <p:cNvPr id="12" name="Text 8"/>
          <p:cNvSpPr/>
          <p:nvPr/>
        </p:nvSpPr>
        <p:spPr>
          <a:xfrm>
            <a:off x="4526280" y="256032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Halaman Menu (index.html)</a:t>
            </a:r>
            <a:endParaRPr lang="en-US" sz="1350" dirty="0"/>
          </a:p>
        </p:txBody>
      </p:sp>
      <p:sp>
        <p:nvSpPr>
          <p:cNvPr id="13" name="Text 9"/>
          <p:cNvSpPr/>
          <p:nvPr/>
        </p:nvSpPr>
        <p:spPr>
          <a:xfrm>
            <a:off x="4526280" y="306324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Daftar menu per kategori + tombol Add to Cart</a:t>
            </a:r>
            <a:endParaRPr lang="en-US" sz="1050" dirty="0"/>
          </a:p>
        </p:txBody>
      </p:sp>
      <p:sp>
        <p:nvSpPr>
          <p:cNvPr id="14" name="Shape 10"/>
          <p:cNvSpPr/>
          <p:nvPr/>
        </p:nvSpPr>
        <p:spPr>
          <a:xfrm>
            <a:off x="8092440" y="169164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15" name="Shape 11"/>
          <p:cNvSpPr/>
          <p:nvPr/>
        </p:nvSpPr>
        <p:spPr>
          <a:xfrm>
            <a:off x="8321040" y="1920240"/>
            <a:ext cx="502920" cy="502920"/>
          </a:xfrm>
          <a:prstGeom prst="ellipse">
            <a:avLst/>
          </a:prstGeom>
          <a:solidFill>
            <a:srgbClr val="F2A900"/>
          </a:solidFill>
          <a:ln/>
        </p:spPr>
      </p:sp>
      <p:pic>
        <p:nvPicPr>
          <p:cNvPr id="16" name="Image 2" descr="/home/claude/kasir-ppt/icons/cart_white.png"/>
          <p:cNvPicPr>
            <a:picLocks noChangeAspect="1"/>
          </p:cNvPicPr>
          <p:nvPr/>
        </p:nvPicPr>
        <p:blipFill>
          <a:blip r:embed="rId5"/>
          <a:stretch>
            <a:fillRect/>
          </a:stretch>
        </p:blipFill>
        <p:spPr>
          <a:xfrm>
            <a:off x="8434197" y="2033397"/>
            <a:ext cx="276606" cy="276606"/>
          </a:xfrm>
          <a:prstGeom prst="rect">
            <a:avLst/>
          </a:prstGeom>
        </p:spPr>
      </p:pic>
      <p:sp>
        <p:nvSpPr>
          <p:cNvPr id="17" name="Text 12"/>
          <p:cNvSpPr/>
          <p:nvPr/>
        </p:nvSpPr>
        <p:spPr>
          <a:xfrm>
            <a:off x="8321040" y="256032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Offcanvas Keranjang</a:t>
            </a:r>
            <a:endParaRPr lang="en-US" sz="1350" dirty="0"/>
          </a:p>
        </p:txBody>
      </p:sp>
      <p:sp>
        <p:nvSpPr>
          <p:cNvPr id="18" name="Text 13"/>
          <p:cNvSpPr/>
          <p:nvPr/>
        </p:nvSpPr>
        <p:spPr>
          <a:xfrm>
            <a:off x="8321040" y="306324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Cart, form pembeli, rincian diskon/PPN/total</a:t>
            </a:r>
            <a:endParaRPr lang="en-US" sz="1050" dirty="0"/>
          </a:p>
        </p:txBody>
      </p:sp>
      <p:sp>
        <p:nvSpPr>
          <p:cNvPr id="19" name="Shape 14"/>
          <p:cNvSpPr/>
          <p:nvPr/>
        </p:nvSpPr>
        <p:spPr>
          <a:xfrm>
            <a:off x="502920" y="411480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20" name="Shape 15"/>
          <p:cNvSpPr/>
          <p:nvPr/>
        </p:nvSpPr>
        <p:spPr>
          <a:xfrm>
            <a:off x="731520" y="4343400"/>
            <a:ext cx="502920" cy="502920"/>
          </a:xfrm>
          <a:prstGeom prst="ellipse">
            <a:avLst/>
          </a:prstGeom>
          <a:solidFill>
            <a:srgbClr val="F2A900"/>
          </a:solidFill>
          <a:ln/>
        </p:spPr>
      </p:sp>
      <p:pic>
        <p:nvPicPr>
          <p:cNvPr id="21" name="Image 3" descr="/home/claude/kasir-ppt/icons/invoice_white.png"/>
          <p:cNvPicPr>
            <a:picLocks noChangeAspect="1"/>
          </p:cNvPicPr>
          <p:nvPr/>
        </p:nvPicPr>
        <p:blipFill>
          <a:blip r:embed="rId6"/>
          <a:stretch>
            <a:fillRect/>
          </a:stretch>
        </p:blipFill>
        <p:spPr>
          <a:xfrm>
            <a:off x="844677" y="4456557"/>
            <a:ext cx="276606" cy="276606"/>
          </a:xfrm>
          <a:prstGeom prst="rect">
            <a:avLst/>
          </a:prstGeom>
        </p:spPr>
      </p:pic>
      <p:sp>
        <p:nvSpPr>
          <p:cNvPr id="22" name="Text 16"/>
          <p:cNvSpPr/>
          <p:nvPr/>
        </p:nvSpPr>
        <p:spPr>
          <a:xfrm>
            <a:off x="731520" y="498348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Struk PDF (jsPDF)</a:t>
            </a:r>
            <a:endParaRPr lang="en-US" sz="1350" dirty="0"/>
          </a:p>
        </p:txBody>
      </p:sp>
      <p:sp>
        <p:nvSpPr>
          <p:cNvPr id="23" name="Text 17"/>
          <p:cNvSpPr/>
          <p:nvPr/>
        </p:nvSpPr>
        <p:spPr>
          <a:xfrm>
            <a:off x="731520" y="548640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Struk thermal 90mm otomatis terunduh</a:t>
            </a:r>
            <a:endParaRPr lang="en-US" sz="1050" dirty="0"/>
          </a:p>
        </p:txBody>
      </p:sp>
      <p:sp>
        <p:nvSpPr>
          <p:cNvPr id="24" name="Shape 18"/>
          <p:cNvSpPr/>
          <p:nvPr/>
        </p:nvSpPr>
        <p:spPr>
          <a:xfrm>
            <a:off x="4297680" y="411480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25" name="Shape 19"/>
          <p:cNvSpPr/>
          <p:nvPr/>
        </p:nvSpPr>
        <p:spPr>
          <a:xfrm>
            <a:off x="4526280" y="4343400"/>
            <a:ext cx="502920" cy="502920"/>
          </a:xfrm>
          <a:prstGeom prst="ellipse">
            <a:avLst/>
          </a:prstGeom>
          <a:solidFill>
            <a:srgbClr val="F2A900"/>
          </a:solidFill>
          <a:ln/>
        </p:spPr>
      </p:sp>
      <p:pic>
        <p:nvPicPr>
          <p:cNvPr id="26" name="Image 4" descr="/home/claude/kasir-ppt/icons/plus_white.png"/>
          <p:cNvPicPr>
            <a:picLocks noChangeAspect="1"/>
          </p:cNvPicPr>
          <p:nvPr/>
        </p:nvPicPr>
        <p:blipFill>
          <a:blip r:embed="rId7"/>
          <a:stretch>
            <a:fillRect/>
          </a:stretch>
        </p:blipFill>
        <p:spPr>
          <a:xfrm>
            <a:off x="4639437" y="4456557"/>
            <a:ext cx="276606" cy="276606"/>
          </a:xfrm>
          <a:prstGeom prst="rect">
            <a:avLst/>
          </a:prstGeom>
        </p:spPr>
      </p:pic>
      <p:sp>
        <p:nvSpPr>
          <p:cNvPr id="27" name="Text 20"/>
          <p:cNvSpPr/>
          <p:nvPr/>
        </p:nvSpPr>
        <p:spPr>
          <a:xfrm>
            <a:off x="4526280" y="498348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Admin: Tambah Produk</a:t>
            </a:r>
            <a:endParaRPr lang="en-US" sz="1350" dirty="0"/>
          </a:p>
        </p:txBody>
      </p:sp>
      <p:sp>
        <p:nvSpPr>
          <p:cNvPr id="28" name="Text 21"/>
          <p:cNvSpPr/>
          <p:nvPr/>
        </p:nvSpPr>
        <p:spPr>
          <a:xfrm>
            <a:off x="4526280" y="548640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Form produk custom + preview gambar</a:t>
            </a:r>
            <a:endParaRPr lang="en-US" sz="1050" dirty="0"/>
          </a:p>
        </p:txBody>
      </p:sp>
      <p:sp>
        <p:nvSpPr>
          <p:cNvPr id="29" name="Shape 22"/>
          <p:cNvSpPr/>
          <p:nvPr/>
        </p:nvSpPr>
        <p:spPr>
          <a:xfrm>
            <a:off x="8092440" y="411480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30" name="Shape 23"/>
          <p:cNvSpPr/>
          <p:nvPr/>
        </p:nvSpPr>
        <p:spPr>
          <a:xfrm>
            <a:off x="8321040" y="4343400"/>
            <a:ext cx="502920" cy="502920"/>
          </a:xfrm>
          <a:prstGeom prst="ellipse">
            <a:avLst/>
          </a:prstGeom>
          <a:solidFill>
            <a:srgbClr val="F2A900"/>
          </a:solidFill>
          <a:ln/>
        </p:spPr>
      </p:sp>
      <p:pic>
        <p:nvPicPr>
          <p:cNvPr id="31" name="Image 5" descr="/home/claude/kasir-ppt/icons/edit_white.png"/>
          <p:cNvPicPr>
            <a:picLocks noChangeAspect="1"/>
          </p:cNvPicPr>
          <p:nvPr/>
        </p:nvPicPr>
        <p:blipFill>
          <a:blip r:embed="rId8"/>
          <a:stretch>
            <a:fillRect/>
          </a:stretch>
        </p:blipFill>
        <p:spPr>
          <a:xfrm>
            <a:off x="8434197" y="4456557"/>
            <a:ext cx="276606" cy="276606"/>
          </a:xfrm>
          <a:prstGeom prst="rect">
            <a:avLst/>
          </a:prstGeom>
        </p:spPr>
      </p:pic>
      <p:sp>
        <p:nvSpPr>
          <p:cNvPr id="32" name="Text 24"/>
          <p:cNvSpPr/>
          <p:nvPr/>
        </p:nvSpPr>
        <p:spPr>
          <a:xfrm>
            <a:off x="8321040" y="498348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Admin: Tabel Produk</a:t>
            </a:r>
            <a:endParaRPr lang="en-US" sz="1350" dirty="0"/>
          </a:p>
        </p:txBody>
      </p:sp>
      <p:sp>
        <p:nvSpPr>
          <p:cNvPr id="33" name="Text 25"/>
          <p:cNvSpPr/>
          <p:nvPr/>
        </p:nvSpPr>
        <p:spPr>
          <a:xfrm>
            <a:off x="8321040" y="548640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Daftar produk custom dengan Edit &amp; Delete</a:t>
            </a:r>
            <a:endParaRPr lang="en-US" sz="105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5"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51B4D"/>
          </a:solidFill>
          <a:ln/>
        </p:spPr>
      </p:sp>
      <p:sp>
        <p:nvSpPr>
          <p:cNvPr id="3" name="Shape 1"/>
          <p:cNvSpPr/>
          <p:nvPr/>
        </p:nvSpPr>
        <p:spPr>
          <a:xfrm>
            <a:off x="9875520" y="4572000"/>
            <a:ext cx="3657600" cy="3657600"/>
          </a:xfrm>
          <a:prstGeom prst="ellipse">
            <a:avLst/>
          </a:prstGeom>
          <a:solidFill>
            <a:srgbClr val="151B4D"/>
          </a:solidFill>
          <a:ln/>
        </p:spPr>
      </p:sp>
      <p:sp>
        <p:nvSpPr>
          <p:cNvPr id="4" name="Text 2"/>
          <p:cNvSpPr/>
          <p:nvPr/>
        </p:nvSpPr>
        <p:spPr>
          <a:xfrm>
            <a:off x="640080" y="594360"/>
            <a:ext cx="5486400" cy="365760"/>
          </a:xfrm>
          <a:prstGeom prst="rect">
            <a:avLst/>
          </a:prstGeom>
          <a:noFill/>
          <a:ln/>
        </p:spPr>
        <p:txBody>
          <a:bodyPr wrap="square" lIns="0" tIns="0" rIns="0" bIns="0" rtlCol="0" anchor="ctr"/>
          <a:lstStyle/>
          <a:p>
            <a:pPr marL="0" indent="0">
              <a:buNone/>
            </a:pPr>
            <a:r>
              <a:rPr lang="en-US" sz="1400" b="1" kern="0" spc="300" dirty="0">
                <a:solidFill>
                  <a:srgbClr val="F2A900"/>
                </a:solidFill>
                <a:latin typeface="Calibri" pitchFamily="34" charset="0"/>
                <a:ea typeface="Calibri" pitchFamily="34" charset="-122"/>
                <a:cs typeface="Calibri" pitchFamily="34" charset="-120"/>
              </a:rPr>
              <a:t>KESIMPULAN</a:t>
            </a:r>
            <a:endParaRPr lang="en-US" sz="1400" dirty="0"/>
          </a:p>
        </p:txBody>
      </p:sp>
      <p:sp>
        <p:nvSpPr>
          <p:cNvPr id="5" name="Text 3"/>
          <p:cNvSpPr/>
          <p:nvPr/>
        </p:nvSpPr>
        <p:spPr>
          <a:xfrm>
            <a:off x="594360" y="9601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Kasir Web Apps: Ringan, Mandiri, Siap Demo</a:t>
            </a:r>
            <a:endParaRPr lang="en-US" sz="3000" dirty="0"/>
          </a:p>
        </p:txBody>
      </p:sp>
      <p:sp>
        <p:nvSpPr>
          <p:cNvPr id="6" name="Shape 4"/>
          <p:cNvSpPr/>
          <p:nvPr/>
        </p:nvSpPr>
        <p:spPr>
          <a:xfrm>
            <a:off x="640080" y="1965960"/>
            <a:ext cx="502920" cy="502920"/>
          </a:xfrm>
          <a:prstGeom prst="ellipse">
            <a:avLst/>
          </a:prstGeom>
          <a:solidFill>
            <a:srgbClr val="F2A900"/>
          </a:solidFill>
          <a:ln/>
        </p:spPr>
      </p:sp>
      <p:pic>
        <p:nvPicPr>
          <p:cNvPr id="7" name="Image 0" descr="/home/claude/kasir-ppt/icons/check_white.png"/>
          <p:cNvPicPr>
            <a:picLocks noChangeAspect="1"/>
          </p:cNvPicPr>
          <p:nvPr/>
        </p:nvPicPr>
        <p:blipFill>
          <a:blip r:embed="rId3"/>
          <a:stretch>
            <a:fillRect/>
          </a:stretch>
        </p:blipFill>
        <p:spPr>
          <a:xfrm>
            <a:off x="753237" y="2079117"/>
            <a:ext cx="276606" cy="276606"/>
          </a:xfrm>
          <a:prstGeom prst="rect">
            <a:avLst/>
          </a:prstGeom>
        </p:spPr>
      </p:pic>
      <p:sp>
        <p:nvSpPr>
          <p:cNvPr id="8" name="Text 5"/>
          <p:cNvSpPr/>
          <p:nvPr/>
        </p:nvSpPr>
        <p:spPr>
          <a:xfrm>
            <a:off x="1371600" y="193852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Tanpa backend, tetap fungsional</a:t>
            </a:r>
            <a:endParaRPr lang="en-US" sz="1550" dirty="0"/>
          </a:p>
        </p:txBody>
      </p:sp>
      <p:sp>
        <p:nvSpPr>
          <p:cNvPr id="9" name="Text 6"/>
          <p:cNvSpPr/>
          <p:nvPr/>
        </p:nvSpPr>
        <p:spPr>
          <a:xfrm>
            <a:off x="1371600" y="225856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Semua logika transaksi &amp; auth berjalan penuh di sisi client.</a:t>
            </a:r>
            <a:endParaRPr lang="en-US" sz="1200" dirty="0"/>
          </a:p>
        </p:txBody>
      </p:sp>
      <p:sp>
        <p:nvSpPr>
          <p:cNvPr id="10" name="Shape 7"/>
          <p:cNvSpPr/>
          <p:nvPr/>
        </p:nvSpPr>
        <p:spPr>
          <a:xfrm>
            <a:off x="640080" y="2926080"/>
            <a:ext cx="502920" cy="502920"/>
          </a:xfrm>
          <a:prstGeom prst="ellipse">
            <a:avLst/>
          </a:prstGeom>
          <a:solidFill>
            <a:srgbClr val="F2A900"/>
          </a:solidFill>
          <a:ln/>
        </p:spPr>
      </p:sp>
      <p:pic>
        <p:nvPicPr>
          <p:cNvPr id="11" name="Image 1" descr="/home/claude/kasir-ppt/icons/sync_white.png"/>
          <p:cNvPicPr>
            <a:picLocks noChangeAspect="1"/>
          </p:cNvPicPr>
          <p:nvPr/>
        </p:nvPicPr>
        <p:blipFill>
          <a:blip r:embed="rId4"/>
          <a:stretch>
            <a:fillRect/>
          </a:stretch>
        </p:blipFill>
        <p:spPr>
          <a:xfrm>
            <a:off x="753237" y="3039237"/>
            <a:ext cx="276606" cy="276606"/>
          </a:xfrm>
          <a:prstGeom prst="rect">
            <a:avLst/>
          </a:prstGeom>
        </p:spPr>
      </p:pic>
      <p:sp>
        <p:nvSpPr>
          <p:cNvPr id="12" name="Text 8"/>
          <p:cNvSpPr/>
          <p:nvPr/>
        </p:nvSpPr>
        <p:spPr>
          <a:xfrm>
            <a:off x="1371600" y="289864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Data persisten via localStorage</a:t>
            </a:r>
            <a:endParaRPr lang="en-US" sz="1550" dirty="0"/>
          </a:p>
        </p:txBody>
      </p:sp>
      <p:sp>
        <p:nvSpPr>
          <p:cNvPr id="13" name="Text 9"/>
          <p:cNvSpPr/>
          <p:nvPr/>
        </p:nvSpPr>
        <p:spPr>
          <a:xfrm>
            <a:off x="1371600" y="321868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Cart, login, dan produk custom tetap ada selama browser tidak di-clear.</a:t>
            </a:r>
            <a:endParaRPr lang="en-US" sz="1200" dirty="0"/>
          </a:p>
        </p:txBody>
      </p:sp>
      <p:sp>
        <p:nvSpPr>
          <p:cNvPr id="14" name="Shape 10"/>
          <p:cNvSpPr/>
          <p:nvPr/>
        </p:nvSpPr>
        <p:spPr>
          <a:xfrm>
            <a:off x="640080" y="3886200"/>
            <a:ext cx="502920" cy="502920"/>
          </a:xfrm>
          <a:prstGeom prst="ellipse">
            <a:avLst/>
          </a:prstGeom>
          <a:solidFill>
            <a:srgbClr val="F2A900"/>
          </a:solidFill>
          <a:ln/>
        </p:spPr>
      </p:sp>
      <p:pic>
        <p:nvPicPr>
          <p:cNvPr id="15" name="Image 2" descr="/home/claude/kasir-ppt/icons/shield_white.png"/>
          <p:cNvPicPr>
            <a:picLocks noChangeAspect="1"/>
          </p:cNvPicPr>
          <p:nvPr/>
        </p:nvPicPr>
        <p:blipFill>
          <a:blip r:embed="rId5"/>
          <a:stretch>
            <a:fillRect/>
          </a:stretch>
        </p:blipFill>
        <p:spPr>
          <a:xfrm>
            <a:off x="753237" y="3999357"/>
            <a:ext cx="276606" cy="276606"/>
          </a:xfrm>
          <a:prstGeom prst="rect">
            <a:avLst/>
          </a:prstGeom>
        </p:spPr>
      </p:pic>
      <p:sp>
        <p:nvSpPr>
          <p:cNvPr id="16" name="Text 11"/>
          <p:cNvSpPr/>
          <p:nvPr/>
        </p:nvSpPr>
        <p:spPr>
          <a:xfrm>
            <a:off x="1371600" y="385876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Auth guard konsisten</a:t>
            </a:r>
            <a:endParaRPr lang="en-US" sz="1550" dirty="0"/>
          </a:p>
        </p:txBody>
      </p:sp>
      <p:sp>
        <p:nvSpPr>
          <p:cNvPr id="17" name="Text 12"/>
          <p:cNvSpPr/>
          <p:nvPr/>
        </p:nvSpPr>
        <p:spPr>
          <a:xfrm>
            <a:off x="1371600" y="417880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Pengecekan ganda localStorage + cookie di setiap halaman terlindungi.</a:t>
            </a:r>
            <a:endParaRPr lang="en-US" sz="1200" dirty="0"/>
          </a:p>
        </p:txBody>
      </p:sp>
      <p:sp>
        <p:nvSpPr>
          <p:cNvPr id="18" name="Shape 13"/>
          <p:cNvSpPr/>
          <p:nvPr/>
        </p:nvSpPr>
        <p:spPr>
          <a:xfrm>
            <a:off x="640080" y="4846320"/>
            <a:ext cx="502920" cy="502920"/>
          </a:xfrm>
          <a:prstGeom prst="ellipse">
            <a:avLst/>
          </a:prstGeom>
          <a:solidFill>
            <a:srgbClr val="F2A900"/>
          </a:solidFill>
          <a:ln/>
        </p:spPr>
      </p:sp>
      <p:pic>
        <p:nvPicPr>
          <p:cNvPr id="19" name="Image 3" descr="/home/claude/kasir-ppt/icons/invoice_white.png"/>
          <p:cNvPicPr>
            <a:picLocks noChangeAspect="1"/>
          </p:cNvPicPr>
          <p:nvPr/>
        </p:nvPicPr>
        <p:blipFill>
          <a:blip r:embed="rId6"/>
          <a:stretch>
            <a:fillRect/>
          </a:stretch>
        </p:blipFill>
        <p:spPr>
          <a:xfrm>
            <a:off x="753237" y="4959477"/>
            <a:ext cx="276606" cy="276606"/>
          </a:xfrm>
          <a:prstGeom prst="rect">
            <a:avLst/>
          </a:prstGeom>
        </p:spPr>
      </p:pic>
      <p:sp>
        <p:nvSpPr>
          <p:cNvPr id="20" name="Text 14"/>
          <p:cNvSpPr/>
          <p:nvPr/>
        </p:nvSpPr>
        <p:spPr>
          <a:xfrm>
            <a:off x="1371600" y="481888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Struk PDF native di browser</a:t>
            </a:r>
            <a:endParaRPr lang="en-US" sz="1550" dirty="0"/>
          </a:p>
        </p:txBody>
      </p:sp>
      <p:sp>
        <p:nvSpPr>
          <p:cNvPr id="21" name="Text 15"/>
          <p:cNvSpPr/>
          <p:nvPr/>
        </p:nvSpPr>
        <p:spPr>
          <a:xfrm>
            <a:off x="1371600" y="513892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jsPDF menggantikan reportlab tanpa kehilangan fitur cetak.</a:t>
            </a:r>
            <a:endParaRPr lang="en-US" sz="1200" dirty="0"/>
          </a:p>
        </p:txBody>
      </p:sp>
      <p:sp>
        <p:nvSpPr>
          <p:cNvPr id="22" name="Shape 16"/>
          <p:cNvSpPr/>
          <p:nvPr/>
        </p:nvSpPr>
        <p:spPr>
          <a:xfrm>
            <a:off x="640080" y="5943600"/>
            <a:ext cx="10881360" cy="0"/>
          </a:xfrm>
          <a:prstGeom prst="line">
            <a:avLst/>
          </a:prstGeom>
          <a:noFill/>
          <a:ln w="9525">
            <a:solidFill>
              <a:srgbClr val="3A4485"/>
            </a:solidFill>
            <a:prstDash val="solid"/>
          </a:ln>
        </p:spPr>
      </p:sp>
      <p:sp>
        <p:nvSpPr>
          <p:cNvPr id="23" name="Text 17"/>
          <p:cNvSpPr/>
          <p:nvPr/>
        </p:nvSpPr>
        <p:spPr>
          <a:xfrm>
            <a:off x="640080" y="6080760"/>
            <a:ext cx="64008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Terima Kasih — Kelompok 5</a:t>
            </a:r>
            <a:endParaRPr lang="en-US" sz="1600" dirty="0"/>
          </a:p>
        </p:txBody>
      </p:sp>
      <p:sp>
        <p:nvSpPr>
          <p:cNvPr id="24" name="Text 18"/>
          <p:cNvSpPr/>
          <p:nvPr/>
        </p:nvSpPr>
        <p:spPr>
          <a:xfrm>
            <a:off x="8686800" y="6080760"/>
            <a:ext cx="2834640" cy="411480"/>
          </a:xfrm>
          <a:prstGeom prst="rect">
            <a:avLst/>
          </a:prstGeom>
          <a:noFill/>
          <a:ln/>
        </p:spPr>
        <p:txBody>
          <a:bodyPr wrap="square" lIns="0" tIns="0" rIns="0" bIns="0" rtlCol="0" anchor="ctr"/>
          <a:lstStyle/>
          <a:p>
            <a:pPr marL="0" indent="0" algn="r">
              <a:buNone/>
            </a:pPr>
            <a:r>
              <a:rPr lang="en-US" sz="1400" i="1" dirty="0">
                <a:solidFill>
                  <a:srgbClr val="F2A900"/>
                </a:solidFill>
                <a:latin typeface="Calibri" pitchFamily="34" charset="0"/>
                <a:ea typeface="Calibri" pitchFamily="34" charset="-122"/>
                <a:cs typeface="Calibri" pitchFamily="34" charset="-120"/>
              </a:rPr>
              <a:t>Sesi Tanya Jawab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2493</Words>
  <Application>Microsoft Office PowerPoint</Application>
  <PresentationFormat>Widescreen</PresentationFormat>
  <Paragraphs>282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Kasir Web Apps - Static HTML/JS</dc:title>
  <dc:subject>PptxGenJS Presentation</dc:subject>
  <dc:creator>Kelompok 5</dc:creator>
  <cp:lastModifiedBy>R. Mahendra</cp:lastModifiedBy>
  <cp:revision>2</cp:revision>
  <dcterms:created xsi:type="dcterms:W3CDTF">2026-06-29T07:14:31Z</dcterms:created>
  <dcterms:modified xsi:type="dcterms:W3CDTF">2026-06-29T07:37:59Z</dcterms:modified>
</cp:coreProperties>
</file>