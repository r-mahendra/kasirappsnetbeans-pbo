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31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8023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pagi/siang, perkenalkan kami dari Kelompok 5. Hari ini kami akan mempresentasikan proyek Kasir Web Apps, sebuah aplikasi kasir berbasis web yang dibangun murni dengan HTML, CSS, dan JavaScript vanilla, tanpa backend server. Seluruh logika yang biasanya berjalan di server kami pindahkan ke browser, menggunakan localStorage sebagai pengganti database dan session.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Berikut agenda presentasi kami. Kami akan mulai dari gambaran umum project, lalu masuk ke arsitektur kode, logika autentikasi, logika transaksi, contoh penulisan kode, dan diakhiri dengan demo output serta kesimpulan.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Kasir Web Apps awalnya dibangun dengan Python Flask, Jinja2 untuk template, dan reportlab untuk cetak struk PDF. Karena kebutuhan deployment yang lebih ringan, seluruh aplikasi kami konversi total menjadi static HTML dan vanilla JavaScript. Session login diganti localStorage dan cookie, cetak struk diganti jsPDF yang berjalan di browser, dan data menu diambil dari file JSON statis.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Struktur JavaScript kami dipecah jadi modul-modul kecil agar mudah dipelihara. cookieUtils.js berisi helper cookie dan harus dimuat paling pertama, karena auth.js bergantung pada fungsi-fungsi di dalamnya. loginStyle.js khusus menangani logika halaman login. main.js adalah otak dari aplikasi kasir: menu, cart, dan struk. addProduct.js menangani fitur tambah produk oleh admin, dan menu.json adalah sumber data menu default kami.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adalah alur logika autentikasi kami. Ketika user membuka halaman login, sistem mengecek dulu apakah dia sudah login lewat fungsi isLoggedIn(). Jika user memasukkan email dan password, sistem mencocokkannya dengan kredensial yang sudah ditentukan. Jika valid, fungsi setLoggedIn() dipanggil untuk menyimpan status login ke localStorage dan cookie sekaligus, lalu user diarahkan ke index.html. Jika tidak valid, muncul pesan error. Di sisi lain, setiap halaman yang butuh login — seperti index.html dan addproduct.html — punya authGuard() yang otomatis mengecek status login di awal eksekusi, dan langsung redirect ke login.html kalau belum login.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Berikut contoh penulisan kode untuk autentikasi. Fungsi setCookie menyimpan cookie dengan masa berlaku tertentu dalam hari. Fungsi isLoggedIn melakukan validasi ganda: mengecek localStorage DAN cookie sekaligus, supaya tidak ada celah keamanan sederhana jika salah satu disimpan tapi yang lain terhapus. Auth guard ditulis sebagai IIFE — function yang langsung dieksekusi saat file dimuat — sehingga setiap halaman yang memuat script ini otomatis terlindungi tanpa perlu memanggil fungsi secara manual.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inti alur logika dari project yang kami buat, dari awal hingga akhir. Diawali login, lalu sistem memuat data menu dari menu.json yang digabung dengan produk custom dari localStorage. Pengguna menambahkan item ke cart, mengatur jumlahnya dengan tombol plus minus, lalu memproses pembayaran di mana sistem otomatis menghitung diskon, PPN 10 persen, total, dan kembalian. Terakhir, struk dicetak dalam format PDF berukuran thermal 90mm menggunakan library jsPDF langsung di browser, tanpa perlu request ke server.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Fungsi updateCart adalah jantung dari logika keranjang. Cart disimpan sebagai object dengan key berupa id produk, sehingga pencarian dan update item jadi cepat tanpa perlu looping. Setiap kali ada aksi tambah, kurang, atau hapus, sistem otomatis menghitung ulang subtotal dan menyimpannya ke localStorage lewat saveCartToStorage. Jika quantity sampai nol, item otomatis dihapus dari cart. Setelah itu refreshCartUI dipanggil untuk merender ulang tampilan, termasuk badge jumlah item di pojok ikon cart.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perhitungan finansial, kami punya fungsi hitungTotal yang menghitung diskon 10 persen dari subtotal, lalu menghitung DPP, yaitu subtotal dikurangi diskon, kemudian PPN 10 persen dihitung dari DPP tersebut. Totalnya adalah DPP ditambah PPN. Sebagai contoh, untuk subtotal 100 ribu rupiah, setelah diskon dan PPN, totalnya menjadi 99 ribu rupiah. Sebelum transaksi diproses, sistem memvalidasi apakah uang yang dibayarkan cukup; jika tidak, muncul peringatan dan proses dihentikan.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Halaman admin dashboard memungkinkan penambahan, pengeditan, dan penghapusan produk tanpa backend, semuanya tersimpan di localStorage dengan key kasir_custom_products. Setiap produk baru mendapat ID unik dari fungsi generateId, yang mengombinasikan timestamp dan angka random agar tidak bentrok dengan ID produk default di menu.json yang biasanya berupa kode singkat. Produk custom ini nantinya digabung otomatis dengan menu.json saat halaman utama memuat menu, lewat fungsi mergeCustomProducts.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kita masuk ke tampilan output aplikasi yang sudah berjalan. Mulai dari halaman login dengan animasi panel, halaman menu utama yang menampilkan produk per kategori, offcanvas keranjang belanja lengkap dengan form pembeli dan rincian pembayaran, struk PDF yang otomatis terunduh dalam format thermal 90mm, hingga halaman admin untuk menambah dan mengelola produk custom. (Slide ini bisa diisi screenshot asli dari aplikasi saat demo langsung.)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Sebagai kesimpulan, Kasir Web Apps membuktikan bahwa aplikasi kasir yang fungsional bisa dibangun tanpa backend sama sekali — seluruh logika transaksi dan autentikasi berjalan penuh di sisi client. Data tetap persisten lewat localStorage, auth guard konsisten di setiap halaman yang dilindungi, dan struk pembayaran tetap bisa dicetak dalam format PDF langsung dari browser menggunakan jsPDF. Demikian presentasi dari kami, Kelompok 5. Terima kasih atas perhatiannya, kami persilakan jika ada pertanyaan.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5.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7.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5.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3.png"/><Relationship Id="rId4" Type="http://schemas.openxmlformats.org/officeDocument/2006/relationships/image" Target="../media/image9.pn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6.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0.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418320" y="-1645920"/>
            <a:ext cx="4572000" cy="4572000"/>
          </a:xfrm>
          <a:prstGeom prst="ellipse">
            <a:avLst/>
          </a:prstGeom>
          <a:solidFill>
            <a:srgbClr val="151B4D"/>
          </a:solidFill>
          <a:ln/>
        </p:spPr>
      </p:sp>
      <p:sp>
        <p:nvSpPr>
          <p:cNvPr id="3" name="Shape 1"/>
          <p:cNvSpPr/>
          <p:nvPr/>
        </p:nvSpPr>
        <p:spPr>
          <a:xfrm>
            <a:off x="10607040" y="4206240"/>
            <a:ext cx="2926080" cy="2926080"/>
          </a:xfrm>
          <a:prstGeom prst="ellipse">
            <a:avLst/>
          </a:prstGeom>
          <a:solidFill>
            <a:srgbClr val="151B4D"/>
          </a:solidFill>
          <a:ln/>
        </p:spPr>
      </p:sp>
      <p:sp>
        <p:nvSpPr>
          <p:cNvPr id="6" name="Text 3"/>
          <p:cNvSpPr/>
          <p:nvPr/>
        </p:nvSpPr>
        <p:spPr>
          <a:xfrm>
            <a:off x="4345477" y="645283"/>
            <a:ext cx="3501044" cy="752304"/>
          </a:xfrm>
          <a:prstGeom prst="rect">
            <a:avLst/>
          </a:prstGeom>
          <a:noFill/>
          <a:ln/>
        </p:spPr>
        <p:txBody>
          <a:bodyPr wrap="square" lIns="0" tIns="0" rIns="0" bIns="0" rtlCol="0" anchor="ctr"/>
          <a:lstStyle/>
          <a:p>
            <a:pPr marL="0" indent="0" algn="ctr">
              <a:buNone/>
            </a:pPr>
            <a:r>
              <a:rPr lang="en-US" sz="2000" b="1" kern="0" spc="300" dirty="0">
                <a:solidFill>
                  <a:srgbClr val="F2A900"/>
                </a:solidFill>
                <a:latin typeface="Calibri" pitchFamily="34" charset="0"/>
                <a:ea typeface="Calibri" pitchFamily="34" charset="-122"/>
                <a:cs typeface="Calibri" pitchFamily="34" charset="-120"/>
              </a:rPr>
              <a:t>FINAL PROJECT KELOMPOK 5</a:t>
            </a:r>
            <a:endParaRPr lang="en-US" sz="2000" dirty="0"/>
          </a:p>
        </p:txBody>
      </p:sp>
      <p:sp>
        <p:nvSpPr>
          <p:cNvPr id="7" name="Text 4"/>
          <p:cNvSpPr/>
          <p:nvPr/>
        </p:nvSpPr>
        <p:spPr>
          <a:xfrm>
            <a:off x="3475412" y="1353940"/>
            <a:ext cx="5241175" cy="791785"/>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Kasir Web Apps</a:t>
            </a:r>
            <a:endParaRPr lang="en-US" sz="5400" dirty="0"/>
          </a:p>
        </p:txBody>
      </p:sp>
      <p:sp>
        <p:nvSpPr>
          <p:cNvPr id="8" name="Text 5"/>
          <p:cNvSpPr/>
          <p:nvPr/>
        </p:nvSpPr>
        <p:spPr>
          <a:xfrm>
            <a:off x="4724400" y="2194562"/>
            <a:ext cx="2743200" cy="548640"/>
          </a:xfrm>
          <a:prstGeom prst="rect">
            <a:avLst/>
          </a:prstGeom>
          <a:noFill/>
          <a:ln/>
        </p:spPr>
        <p:txBody>
          <a:bodyPr wrap="square" lIns="0" tIns="0" rIns="0" bIns="0" rtlCol="0" anchor="ctr"/>
          <a:lstStyle/>
          <a:p>
            <a:pPr marL="0" indent="0">
              <a:buNone/>
            </a:pPr>
            <a:r>
              <a:rPr lang="en-US" sz="2400" i="1" dirty="0">
                <a:solidFill>
                  <a:srgbClr val="CADCFC"/>
                </a:solidFill>
                <a:latin typeface="Calibri" pitchFamily="34" charset="0"/>
                <a:ea typeface="Calibri" pitchFamily="34" charset="-122"/>
                <a:cs typeface="Calibri" pitchFamily="34" charset="-120"/>
              </a:rPr>
              <a:t>Point Of Sale (POS)</a:t>
            </a:r>
            <a:endParaRPr lang="en-US" sz="2400" dirty="0"/>
          </a:p>
        </p:txBody>
      </p:sp>
      <p:sp>
        <p:nvSpPr>
          <p:cNvPr id="9" name="Shape 6"/>
          <p:cNvSpPr/>
          <p:nvPr/>
        </p:nvSpPr>
        <p:spPr>
          <a:xfrm>
            <a:off x="3374967" y="2830482"/>
            <a:ext cx="5187835" cy="0"/>
          </a:xfrm>
          <a:prstGeom prst="line">
            <a:avLst/>
          </a:prstGeom>
          <a:noFill/>
          <a:ln w="19050">
            <a:solidFill>
              <a:srgbClr val="F2A900"/>
            </a:solidFill>
            <a:prstDash val="solid"/>
          </a:ln>
        </p:spPr>
        <p:txBody>
          <a:bodyPr/>
          <a:lstStyle/>
          <a:p>
            <a:endParaRPr lang="id-ID" dirty="0"/>
          </a:p>
        </p:txBody>
      </p:sp>
      <p:sp>
        <p:nvSpPr>
          <p:cNvPr id="10" name="Text 7"/>
          <p:cNvSpPr/>
          <p:nvPr/>
        </p:nvSpPr>
        <p:spPr>
          <a:xfrm>
            <a:off x="3931920" y="3547454"/>
            <a:ext cx="4023360" cy="1893226"/>
          </a:xfrm>
          <a:prstGeom prst="rect">
            <a:avLst/>
          </a:prstGeom>
          <a:noFill/>
          <a:ln/>
        </p:spPr>
        <p:txBody>
          <a:bodyPr wrap="square" lIns="0" tIns="0" rIns="0" bIns="0" rtlCol="0" anchor="ctr"/>
          <a:lstStyle/>
          <a:p>
            <a:pPr>
              <a:spcAft>
                <a:spcPts val="600"/>
              </a:spcAft>
            </a:pPr>
            <a:r>
              <a:rPr lang="en-US" sz="2000" b="1" noProof="1">
                <a:solidFill>
                  <a:srgbClr val="FFFFFF"/>
                </a:solidFill>
                <a:latin typeface="Calibri" pitchFamily="34" charset="0"/>
                <a:ea typeface="Calibri" pitchFamily="34" charset="-122"/>
                <a:cs typeface="Calibri" pitchFamily="34" charset="-120"/>
              </a:rPr>
              <a:t>Rifqy Ardian Adinata	(17250522)</a:t>
            </a:r>
          </a:p>
          <a:p>
            <a:pPr>
              <a:spcAft>
                <a:spcPts val="600"/>
              </a:spcAft>
            </a:pPr>
            <a:r>
              <a:rPr lang="en-US" sz="2000" b="1" noProof="1">
                <a:solidFill>
                  <a:srgbClr val="FFFFFF"/>
                </a:solidFill>
                <a:latin typeface="Calibri" pitchFamily="34" charset="0"/>
                <a:ea typeface="Calibri" pitchFamily="34" charset="-122"/>
                <a:cs typeface="Calibri" pitchFamily="34" charset="-120"/>
              </a:rPr>
              <a:t>Reza Mahendra		(17250007)</a:t>
            </a:r>
          </a:p>
          <a:p>
            <a:pPr>
              <a:spcAft>
                <a:spcPts val="600"/>
              </a:spcAft>
            </a:pPr>
            <a:r>
              <a:rPr lang="en-US" sz="2000" b="1" noProof="1">
                <a:solidFill>
                  <a:srgbClr val="FFFFFF"/>
                </a:solidFill>
                <a:latin typeface="Calibri" pitchFamily="34" charset="0"/>
                <a:ea typeface="Calibri" pitchFamily="34" charset="-122"/>
                <a:cs typeface="Calibri" pitchFamily="34" charset="-120"/>
              </a:rPr>
              <a:t>Fitria Haryani		(17250012)</a:t>
            </a:r>
          </a:p>
          <a:p>
            <a:pPr>
              <a:spcAft>
                <a:spcPts val="600"/>
              </a:spcAft>
            </a:pPr>
            <a:r>
              <a:rPr lang="en-US" sz="2000" b="1" noProof="1">
                <a:solidFill>
                  <a:srgbClr val="FFFFFF"/>
                </a:solidFill>
                <a:latin typeface="Calibri" pitchFamily="34" charset="0"/>
                <a:ea typeface="Calibri" pitchFamily="34" charset="-122"/>
                <a:cs typeface="Calibri" pitchFamily="34" charset="-120"/>
              </a:rPr>
              <a:t>Cheril Aprillia Putri	(17250385)</a:t>
            </a:r>
          </a:p>
          <a:p>
            <a:pPr>
              <a:spcAft>
                <a:spcPts val="600"/>
              </a:spcAft>
            </a:pPr>
            <a:r>
              <a:rPr lang="en-US" sz="2000" b="1" noProof="1">
                <a:solidFill>
                  <a:srgbClr val="FFFFFF"/>
                </a:solidFill>
                <a:latin typeface="Calibri" pitchFamily="34" charset="0"/>
                <a:ea typeface="Calibri" pitchFamily="34" charset="-122"/>
                <a:cs typeface="Calibri" pitchFamily="34" charset="-120"/>
              </a:rPr>
              <a:t>Muhamad Bagas Triandy	(17250036)</a:t>
            </a:r>
            <a:endParaRPr lang="en-US" sz="2000" noProof="1"/>
          </a:p>
        </p:txBody>
      </p:sp>
      <p:sp>
        <p:nvSpPr>
          <p:cNvPr id="11" name="Text 8"/>
          <p:cNvSpPr/>
          <p:nvPr/>
        </p:nvSpPr>
        <p:spPr>
          <a:xfrm>
            <a:off x="640080" y="6309360"/>
            <a:ext cx="7315200" cy="320040"/>
          </a:xfrm>
          <a:prstGeom prst="rect">
            <a:avLst/>
          </a:prstGeom>
          <a:noFill/>
          <a:ln/>
        </p:spPr>
        <p:txBody>
          <a:bodyPr wrap="square" lIns="0" tIns="0" rIns="0" bIns="0" rtlCol="0" anchor="ctr"/>
          <a:lstStyle/>
          <a:p>
            <a:pPr marL="0" indent="0">
              <a:buNone/>
            </a:pPr>
            <a:r>
              <a:rPr lang="en-US" sz="1100" noProof="1">
                <a:solidFill>
                  <a:srgbClr val="5B6688"/>
                </a:solidFill>
                <a:latin typeface="Calibri" pitchFamily="34" charset="0"/>
                <a:ea typeface="Calibri" pitchFamily="34" charset="-122"/>
                <a:cs typeface="Calibri" pitchFamily="34" charset="-120"/>
              </a:rPr>
              <a:t>Teknologi Informasi •  Universitas Bina Sarana Informatika</a:t>
            </a:r>
            <a:endParaRPr lang="en-US" sz="1100" noProof="1"/>
          </a:p>
        </p:txBody>
      </p:sp>
      <p:pic>
        <p:nvPicPr>
          <p:cNvPr id="13" name="Picture 12">
            <a:extLst>
              <a:ext uri="{FF2B5EF4-FFF2-40B4-BE49-F238E27FC236}">
                <a16:creationId xmlns:a16="http://schemas.microsoft.com/office/drawing/2014/main" id="{0E32F65E-37F4-53F7-B618-4C09F62F1C2C}"/>
              </a:ext>
            </a:extLst>
          </p:cNvPr>
          <p:cNvPicPr>
            <a:picLocks noChangeAspect="1"/>
          </p:cNvPicPr>
          <p:nvPr/>
        </p:nvPicPr>
        <p:blipFill>
          <a:blip r:embed="rId3"/>
          <a:stretch>
            <a:fillRect/>
          </a:stretch>
        </p:blipFill>
        <p:spPr>
          <a:xfrm>
            <a:off x="202359" y="218882"/>
            <a:ext cx="529160" cy="533747"/>
          </a:xfrm>
          <a:prstGeom prst="rect">
            <a:avLst/>
          </a:prstGeom>
        </p:spPr>
      </p:pic>
      <p:pic>
        <p:nvPicPr>
          <p:cNvPr id="15" name="Picture 14">
            <a:extLst>
              <a:ext uri="{FF2B5EF4-FFF2-40B4-BE49-F238E27FC236}">
                <a16:creationId xmlns:a16="http://schemas.microsoft.com/office/drawing/2014/main" id="{D3143EF0-2DF7-353C-36EA-072C15327236}"/>
              </a:ext>
            </a:extLst>
          </p:cNvPr>
          <p:cNvPicPr>
            <a:picLocks noChangeAspect="1"/>
          </p:cNvPicPr>
          <p:nvPr/>
        </p:nvPicPr>
        <p:blipFill>
          <a:blip r:embed="rId4"/>
          <a:stretch>
            <a:fillRect/>
          </a:stretch>
        </p:blipFill>
        <p:spPr>
          <a:xfrm>
            <a:off x="805299" y="228602"/>
            <a:ext cx="761997" cy="50291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F2A900"/>
                </a:solidFill>
                <a:latin typeface="Calibri" pitchFamily="34" charset="0"/>
                <a:ea typeface="Calibri" pitchFamily="34" charset="-122"/>
                <a:cs typeface="Calibri" pitchFamily="34" charset="-120"/>
              </a:rPr>
              <a:t>AGENDA</a:t>
            </a:r>
            <a:endParaRPr lang="en-US" sz="13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Apa yang Akan Dibahas</a:t>
            </a:r>
            <a:endParaRPr lang="en-US" sz="3000" dirty="0"/>
          </a:p>
        </p:txBody>
      </p:sp>
      <p:sp>
        <p:nvSpPr>
          <p:cNvPr id="4" name="Shape 2"/>
          <p:cNvSpPr/>
          <p:nvPr/>
        </p:nvSpPr>
        <p:spPr>
          <a:xfrm>
            <a:off x="548640" y="1600200"/>
            <a:ext cx="5394960" cy="1417320"/>
          </a:xfrm>
          <a:prstGeom prst="roundRect">
            <a:avLst>
              <a:gd name="adj" fmla="val 6452"/>
            </a:avLst>
          </a:prstGeom>
          <a:solidFill>
            <a:srgbClr val="EAF0FC"/>
          </a:solidFill>
          <a:ln/>
          <a:effectLst>
            <a:outerShdw blurRad="101600" dist="38100" dir="5400000" algn="bl" rotWithShape="0">
              <a:srgbClr val="000000">
                <a:alpha val="12000"/>
              </a:srgbClr>
            </a:outerShdw>
          </a:effectLst>
        </p:spPr>
      </p:sp>
      <p:sp>
        <p:nvSpPr>
          <p:cNvPr id="5" name="Shape 3"/>
          <p:cNvSpPr/>
          <p:nvPr/>
        </p:nvSpPr>
        <p:spPr>
          <a:xfrm>
            <a:off x="822960" y="1892808"/>
            <a:ext cx="566928" cy="566928"/>
          </a:xfrm>
          <a:prstGeom prst="ellipse">
            <a:avLst/>
          </a:prstGeom>
          <a:solidFill>
            <a:srgbClr val="1E2761"/>
          </a:solidFill>
          <a:ln/>
        </p:spPr>
      </p:sp>
      <p:pic>
        <p:nvPicPr>
          <p:cNvPr id="6" name="Image 0" descr="/home/claude/kasir-ppt/icons/diagram_white.png"/>
          <p:cNvPicPr>
            <a:picLocks noChangeAspect="1"/>
          </p:cNvPicPr>
          <p:nvPr/>
        </p:nvPicPr>
        <p:blipFill>
          <a:blip r:embed="rId3"/>
          <a:stretch>
            <a:fillRect/>
          </a:stretch>
        </p:blipFill>
        <p:spPr>
          <a:xfrm>
            <a:off x="950519" y="2020367"/>
            <a:ext cx="311810" cy="311810"/>
          </a:xfrm>
          <a:prstGeom prst="rect">
            <a:avLst/>
          </a:prstGeom>
        </p:spPr>
      </p:pic>
      <p:sp>
        <p:nvSpPr>
          <p:cNvPr id="7" name="Text 4"/>
          <p:cNvSpPr/>
          <p:nvPr/>
        </p:nvSpPr>
        <p:spPr>
          <a:xfrm>
            <a:off x="1554480" y="1801368"/>
            <a:ext cx="4206240" cy="365760"/>
          </a:xfrm>
          <a:prstGeom prst="rect">
            <a:avLst/>
          </a:prstGeom>
          <a:noFill/>
          <a:ln/>
        </p:spPr>
        <p:txBody>
          <a:bodyPr wrap="square" lIns="0" tIns="0" rIns="0" bIns="0"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1.  Gambaran Umum Project</a:t>
            </a:r>
            <a:endParaRPr lang="en-US" sz="1550" dirty="0"/>
          </a:p>
        </p:txBody>
      </p:sp>
      <p:sp>
        <p:nvSpPr>
          <p:cNvPr id="8" name="Text 5"/>
          <p:cNvSpPr/>
          <p:nvPr/>
        </p:nvSpPr>
        <p:spPr>
          <a:xfrm>
            <a:off x="1554480" y="2194560"/>
            <a:ext cx="4206240" cy="731520"/>
          </a:xfrm>
          <a:prstGeom prst="rect">
            <a:avLst/>
          </a:prstGeom>
          <a:noFill/>
          <a:ln/>
        </p:spPr>
        <p:txBody>
          <a:bodyPr wrap="square" lIns="0" tIns="0" rIns="0" bIns="0" rtlCol="0" anchor="ctr"/>
          <a:lstStyle/>
          <a:p>
            <a:pPr marL="0" indent="0">
              <a:buNone/>
            </a:pPr>
            <a:r>
              <a:rPr lang="en-US" sz="1200" dirty="0">
                <a:solidFill>
                  <a:srgbClr val="1B1F3B"/>
                </a:solidFill>
                <a:latin typeface="Calibri" pitchFamily="34" charset="0"/>
                <a:ea typeface="Calibri" pitchFamily="34" charset="-122"/>
                <a:cs typeface="Calibri" pitchFamily="34" charset="-120"/>
              </a:rPr>
              <a:t>Latar belakang &amp; tujuan aplikasi kasir static</a:t>
            </a:r>
            <a:endParaRPr lang="en-US" sz="1200" dirty="0"/>
          </a:p>
        </p:txBody>
      </p:sp>
      <p:sp>
        <p:nvSpPr>
          <p:cNvPr id="9" name="Shape 6"/>
          <p:cNvSpPr/>
          <p:nvPr/>
        </p:nvSpPr>
        <p:spPr>
          <a:xfrm>
            <a:off x="6309360" y="1600200"/>
            <a:ext cx="5394960" cy="1417320"/>
          </a:xfrm>
          <a:prstGeom prst="roundRect">
            <a:avLst>
              <a:gd name="adj" fmla="val 6452"/>
            </a:avLst>
          </a:prstGeom>
          <a:solidFill>
            <a:srgbClr val="EAF0FC"/>
          </a:solidFill>
          <a:ln/>
          <a:effectLst>
            <a:outerShdw blurRad="101600" dist="38100" dir="5400000" algn="bl" rotWithShape="0">
              <a:srgbClr val="000000">
                <a:alpha val="12000"/>
              </a:srgbClr>
            </a:outerShdw>
          </a:effectLst>
        </p:spPr>
      </p:sp>
      <p:sp>
        <p:nvSpPr>
          <p:cNvPr id="10" name="Shape 7"/>
          <p:cNvSpPr/>
          <p:nvPr/>
        </p:nvSpPr>
        <p:spPr>
          <a:xfrm>
            <a:off x="6583680" y="1892808"/>
            <a:ext cx="566928" cy="566928"/>
          </a:xfrm>
          <a:prstGeom prst="ellipse">
            <a:avLst/>
          </a:prstGeom>
          <a:solidFill>
            <a:srgbClr val="1E2761"/>
          </a:solidFill>
          <a:ln/>
        </p:spPr>
      </p:sp>
      <p:pic>
        <p:nvPicPr>
          <p:cNvPr id="11" name="Image 1" descr="/home/claude/kasir-ppt/icons/layers_white.png"/>
          <p:cNvPicPr>
            <a:picLocks noChangeAspect="1"/>
          </p:cNvPicPr>
          <p:nvPr/>
        </p:nvPicPr>
        <p:blipFill>
          <a:blip r:embed="rId4"/>
          <a:stretch>
            <a:fillRect/>
          </a:stretch>
        </p:blipFill>
        <p:spPr>
          <a:xfrm>
            <a:off x="6711239" y="2020367"/>
            <a:ext cx="311810" cy="311810"/>
          </a:xfrm>
          <a:prstGeom prst="rect">
            <a:avLst/>
          </a:prstGeom>
        </p:spPr>
      </p:pic>
      <p:sp>
        <p:nvSpPr>
          <p:cNvPr id="12" name="Text 8"/>
          <p:cNvSpPr/>
          <p:nvPr/>
        </p:nvSpPr>
        <p:spPr>
          <a:xfrm>
            <a:off x="7315200" y="1801368"/>
            <a:ext cx="4206240" cy="365760"/>
          </a:xfrm>
          <a:prstGeom prst="rect">
            <a:avLst/>
          </a:prstGeom>
          <a:noFill/>
          <a:ln/>
        </p:spPr>
        <p:txBody>
          <a:bodyPr wrap="square" lIns="0" tIns="0" rIns="0" bIns="0"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2.  Arsitektur &amp; Struktur Kode</a:t>
            </a:r>
            <a:endParaRPr lang="en-US" sz="1550" dirty="0"/>
          </a:p>
        </p:txBody>
      </p:sp>
      <p:sp>
        <p:nvSpPr>
          <p:cNvPr id="13" name="Text 9"/>
          <p:cNvSpPr/>
          <p:nvPr/>
        </p:nvSpPr>
        <p:spPr>
          <a:xfrm>
            <a:off x="7315200" y="2194560"/>
            <a:ext cx="4206240" cy="731520"/>
          </a:xfrm>
          <a:prstGeom prst="rect">
            <a:avLst/>
          </a:prstGeom>
          <a:noFill/>
          <a:ln/>
        </p:spPr>
        <p:txBody>
          <a:bodyPr wrap="square" lIns="0" tIns="0" rIns="0" bIns="0" rtlCol="0" anchor="ctr"/>
          <a:lstStyle/>
          <a:p>
            <a:pPr marL="0" indent="0">
              <a:buNone/>
            </a:pPr>
            <a:r>
              <a:rPr lang="en-US" sz="1200" dirty="0">
                <a:solidFill>
                  <a:srgbClr val="1B1F3B"/>
                </a:solidFill>
                <a:latin typeface="Calibri" pitchFamily="34" charset="0"/>
                <a:ea typeface="Calibri" pitchFamily="34" charset="-122"/>
                <a:cs typeface="Calibri" pitchFamily="34" charset="-120"/>
              </a:rPr>
              <a:t>Pembagian file HTML, CSS, dan modul JavaScript</a:t>
            </a:r>
            <a:endParaRPr lang="en-US" sz="1200" dirty="0"/>
          </a:p>
        </p:txBody>
      </p:sp>
      <p:sp>
        <p:nvSpPr>
          <p:cNvPr id="14" name="Shape 10"/>
          <p:cNvSpPr/>
          <p:nvPr/>
        </p:nvSpPr>
        <p:spPr>
          <a:xfrm>
            <a:off x="548640" y="3154680"/>
            <a:ext cx="5394960" cy="1417320"/>
          </a:xfrm>
          <a:prstGeom prst="roundRect">
            <a:avLst>
              <a:gd name="adj" fmla="val 6452"/>
            </a:avLst>
          </a:prstGeom>
          <a:solidFill>
            <a:srgbClr val="EAF0FC"/>
          </a:solidFill>
          <a:ln/>
          <a:effectLst>
            <a:outerShdw blurRad="101600" dist="38100" dir="5400000" algn="bl" rotWithShape="0">
              <a:srgbClr val="000000">
                <a:alpha val="12000"/>
              </a:srgbClr>
            </a:outerShdw>
          </a:effectLst>
        </p:spPr>
      </p:sp>
      <p:sp>
        <p:nvSpPr>
          <p:cNvPr id="15" name="Shape 11"/>
          <p:cNvSpPr/>
          <p:nvPr/>
        </p:nvSpPr>
        <p:spPr>
          <a:xfrm>
            <a:off x="822960" y="3447288"/>
            <a:ext cx="566928" cy="566928"/>
          </a:xfrm>
          <a:prstGeom prst="ellipse">
            <a:avLst/>
          </a:prstGeom>
          <a:solidFill>
            <a:srgbClr val="1E2761"/>
          </a:solidFill>
          <a:ln/>
        </p:spPr>
      </p:sp>
      <p:pic>
        <p:nvPicPr>
          <p:cNvPr id="16" name="Image 2" descr="/home/claude/kasir-ppt/icons/lock_white.png"/>
          <p:cNvPicPr>
            <a:picLocks noChangeAspect="1"/>
          </p:cNvPicPr>
          <p:nvPr/>
        </p:nvPicPr>
        <p:blipFill>
          <a:blip r:embed="rId5"/>
          <a:stretch>
            <a:fillRect/>
          </a:stretch>
        </p:blipFill>
        <p:spPr>
          <a:xfrm>
            <a:off x="950519" y="3574847"/>
            <a:ext cx="311810" cy="311810"/>
          </a:xfrm>
          <a:prstGeom prst="rect">
            <a:avLst/>
          </a:prstGeom>
        </p:spPr>
      </p:pic>
      <p:sp>
        <p:nvSpPr>
          <p:cNvPr id="17" name="Text 12"/>
          <p:cNvSpPr/>
          <p:nvPr/>
        </p:nvSpPr>
        <p:spPr>
          <a:xfrm>
            <a:off x="1554480" y="3355848"/>
            <a:ext cx="4206240" cy="365760"/>
          </a:xfrm>
          <a:prstGeom prst="rect">
            <a:avLst/>
          </a:prstGeom>
          <a:noFill/>
          <a:ln/>
        </p:spPr>
        <p:txBody>
          <a:bodyPr wrap="square" lIns="0" tIns="0" rIns="0" bIns="0"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3.  Logika Autentikasi</a:t>
            </a:r>
            <a:endParaRPr lang="en-US" sz="1550" dirty="0"/>
          </a:p>
        </p:txBody>
      </p:sp>
      <p:sp>
        <p:nvSpPr>
          <p:cNvPr id="18" name="Text 13"/>
          <p:cNvSpPr/>
          <p:nvPr/>
        </p:nvSpPr>
        <p:spPr>
          <a:xfrm>
            <a:off x="1554480" y="3749040"/>
            <a:ext cx="4206240" cy="731520"/>
          </a:xfrm>
          <a:prstGeom prst="rect">
            <a:avLst/>
          </a:prstGeom>
          <a:noFill/>
          <a:ln/>
        </p:spPr>
        <p:txBody>
          <a:bodyPr wrap="square" lIns="0" tIns="0" rIns="0" bIns="0" rtlCol="0" anchor="ctr"/>
          <a:lstStyle/>
          <a:p>
            <a:pPr marL="0" indent="0">
              <a:buNone/>
            </a:pPr>
            <a:r>
              <a:rPr lang="en-US" sz="1200" dirty="0">
                <a:solidFill>
                  <a:srgbClr val="1B1F3B"/>
                </a:solidFill>
                <a:latin typeface="Calibri" pitchFamily="34" charset="0"/>
                <a:ea typeface="Calibri" pitchFamily="34" charset="-122"/>
                <a:cs typeface="Calibri" pitchFamily="34" charset="-120"/>
              </a:rPr>
              <a:t>Alur login, cookie, dan auth guard</a:t>
            </a:r>
            <a:endParaRPr lang="en-US" sz="1200" dirty="0"/>
          </a:p>
        </p:txBody>
      </p:sp>
      <p:sp>
        <p:nvSpPr>
          <p:cNvPr id="19" name="Shape 14"/>
          <p:cNvSpPr/>
          <p:nvPr/>
        </p:nvSpPr>
        <p:spPr>
          <a:xfrm>
            <a:off x="6309360" y="3154680"/>
            <a:ext cx="5394960" cy="1417320"/>
          </a:xfrm>
          <a:prstGeom prst="roundRect">
            <a:avLst>
              <a:gd name="adj" fmla="val 6452"/>
            </a:avLst>
          </a:prstGeom>
          <a:solidFill>
            <a:srgbClr val="EAF0FC"/>
          </a:solidFill>
          <a:ln/>
          <a:effectLst>
            <a:outerShdw blurRad="101600" dist="38100" dir="5400000" algn="bl" rotWithShape="0">
              <a:srgbClr val="000000">
                <a:alpha val="12000"/>
              </a:srgbClr>
            </a:outerShdw>
          </a:effectLst>
        </p:spPr>
      </p:sp>
      <p:sp>
        <p:nvSpPr>
          <p:cNvPr id="20" name="Shape 15"/>
          <p:cNvSpPr/>
          <p:nvPr/>
        </p:nvSpPr>
        <p:spPr>
          <a:xfrm>
            <a:off x="6583680" y="3447288"/>
            <a:ext cx="566928" cy="566928"/>
          </a:xfrm>
          <a:prstGeom prst="ellipse">
            <a:avLst/>
          </a:prstGeom>
          <a:solidFill>
            <a:srgbClr val="1E2761"/>
          </a:solidFill>
          <a:ln/>
        </p:spPr>
      </p:sp>
      <p:pic>
        <p:nvPicPr>
          <p:cNvPr id="21" name="Image 3" descr="/home/claude/kasir-ppt/icons/cart_white.png"/>
          <p:cNvPicPr>
            <a:picLocks noChangeAspect="1"/>
          </p:cNvPicPr>
          <p:nvPr/>
        </p:nvPicPr>
        <p:blipFill>
          <a:blip r:embed="rId6"/>
          <a:stretch>
            <a:fillRect/>
          </a:stretch>
        </p:blipFill>
        <p:spPr>
          <a:xfrm>
            <a:off x="6711239" y="3574847"/>
            <a:ext cx="311810" cy="311810"/>
          </a:xfrm>
          <a:prstGeom prst="rect">
            <a:avLst/>
          </a:prstGeom>
        </p:spPr>
      </p:pic>
      <p:sp>
        <p:nvSpPr>
          <p:cNvPr id="22" name="Text 16"/>
          <p:cNvSpPr/>
          <p:nvPr/>
        </p:nvSpPr>
        <p:spPr>
          <a:xfrm>
            <a:off x="7315200" y="3355848"/>
            <a:ext cx="4206240" cy="365760"/>
          </a:xfrm>
          <a:prstGeom prst="rect">
            <a:avLst/>
          </a:prstGeom>
          <a:noFill/>
          <a:ln/>
        </p:spPr>
        <p:txBody>
          <a:bodyPr wrap="square" lIns="0" tIns="0" rIns="0" bIns="0"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4.  Logika Transaksi</a:t>
            </a:r>
            <a:endParaRPr lang="en-US" sz="1550" dirty="0"/>
          </a:p>
        </p:txBody>
      </p:sp>
      <p:sp>
        <p:nvSpPr>
          <p:cNvPr id="23" name="Text 17"/>
          <p:cNvSpPr/>
          <p:nvPr/>
        </p:nvSpPr>
        <p:spPr>
          <a:xfrm>
            <a:off x="7315200" y="3749040"/>
            <a:ext cx="4206240" cy="731520"/>
          </a:xfrm>
          <a:prstGeom prst="rect">
            <a:avLst/>
          </a:prstGeom>
          <a:noFill/>
          <a:ln/>
        </p:spPr>
        <p:txBody>
          <a:bodyPr wrap="square" lIns="0" tIns="0" rIns="0" bIns="0" rtlCol="0" anchor="ctr"/>
          <a:lstStyle/>
          <a:p>
            <a:pPr marL="0" indent="0">
              <a:buNone/>
            </a:pPr>
            <a:r>
              <a:rPr lang="en-US" sz="1200" dirty="0">
                <a:solidFill>
                  <a:srgbClr val="1B1F3B"/>
                </a:solidFill>
                <a:latin typeface="Calibri" pitchFamily="34" charset="0"/>
                <a:ea typeface="Calibri" pitchFamily="34" charset="-122"/>
                <a:cs typeface="Calibri" pitchFamily="34" charset="-120"/>
              </a:rPr>
              <a:t>Cart, perhitungan total, hingga cetak struk</a:t>
            </a:r>
            <a:endParaRPr lang="en-US" sz="1200" dirty="0"/>
          </a:p>
        </p:txBody>
      </p:sp>
      <p:sp>
        <p:nvSpPr>
          <p:cNvPr id="24" name="Shape 18"/>
          <p:cNvSpPr/>
          <p:nvPr/>
        </p:nvSpPr>
        <p:spPr>
          <a:xfrm>
            <a:off x="548640" y="4709160"/>
            <a:ext cx="5394960" cy="1417320"/>
          </a:xfrm>
          <a:prstGeom prst="roundRect">
            <a:avLst>
              <a:gd name="adj" fmla="val 6452"/>
            </a:avLst>
          </a:prstGeom>
          <a:solidFill>
            <a:srgbClr val="EAF0FC"/>
          </a:solidFill>
          <a:ln/>
          <a:effectLst>
            <a:outerShdw blurRad="101600" dist="38100" dir="5400000" algn="bl" rotWithShape="0">
              <a:srgbClr val="000000">
                <a:alpha val="12000"/>
              </a:srgbClr>
            </a:outerShdw>
          </a:effectLst>
        </p:spPr>
      </p:sp>
      <p:sp>
        <p:nvSpPr>
          <p:cNvPr id="25" name="Shape 19"/>
          <p:cNvSpPr/>
          <p:nvPr/>
        </p:nvSpPr>
        <p:spPr>
          <a:xfrm>
            <a:off x="822960" y="5001768"/>
            <a:ext cx="566928" cy="566928"/>
          </a:xfrm>
          <a:prstGeom prst="ellipse">
            <a:avLst/>
          </a:prstGeom>
          <a:solidFill>
            <a:srgbClr val="1E2761"/>
          </a:solidFill>
          <a:ln/>
        </p:spPr>
      </p:sp>
      <p:pic>
        <p:nvPicPr>
          <p:cNvPr id="26" name="Image 4" descr="/home/claude/kasir-ppt/icons/filecode_white.png"/>
          <p:cNvPicPr>
            <a:picLocks noChangeAspect="1"/>
          </p:cNvPicPr>
          <p:nvPr/>
        </p:nvPicPr>
        <p:blipFill>
          <a:blip r:embed="rId7"/>
          <a:stretch>
            <a:fillRect/>
          </a:stretch>
        </p:blipFill>
        <p:spPr>
          <a:xfrm>
            <a:off x="950519" y="5129327"/>
            <a:ext cx="311810" cy="311810"/>
          </a:xfrm>
          <a:prstGeom prst="rect">
            <a:avLst/>
          </a:prstGeom>
        </p:spPr>
      </p:pic>
      <p:sp>
        <p:nvSpPr>
          <p:cNvPr id="27" name="Text 20"/>
          <p:cNvSpPr/>
          <p:nvPr/>
        </p:nvSpPr>
        <p:spPr>
          <a:xfrm>
            <a:off x="1554480" y="4910328"/>
            <a:ext cx="4206240" cy="365760"/>
          </a:xfrm>
          <a:prstGeom prst="rect">
            <a:avLst/>
          </a:prstGeom>
          <a:noFill/>
          <a:ln/>
        </p:spPr>
        <p:txBody>
          <a:bodyPr wrap="square" lIns="0" tIns="0" rIns="0" bIns="0"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5.  Penulisan Kode Program</a:t>
            </a:r>
            <a:endParaRPr lang="en-US" sz="1550" dirty="0"/>
          </a:p>
        </p:txBody>
      </p:sp>
      <p:sp>
        <p:nvSpPr>
          <p:cNvPr id="28" name="Text 21"/>
          <p:cNvSpPr/>
          <p:nvPr/>
        </p:nvSpPr>
        <p:spPr>
          <a:xfrm>
            <a:off x="1554480" y="5303520"/>
            <a:ext cx="4206240" cy="731520"/>
          </a:xfrm>
          <a:prstGeom prst="rect">
            <a:avLst/>
          </a:prstGeom>
          <a:noFill/>
          <a:ln/>
        </p:spPr>
        <p:txBody>
          <a:bodyPr wrap="square" lIns="0" tIns="0" rIns="0" bIns="0" rtlCol="0" anchor="ctr"/>
          <a:lstStyle/>
          <a:p>
            <a:pPr marL="0" indent="0">
              <a:buNone/>
            </a:pPr>
            <a:r>
              <a:rPr lang="en-US" sz="1200" dirty="0">
                <a:solidFill>
                  <a:srgbClr val="1B1F3B"/>
                </a:solidFill>
                <a:latin typeface="Calibri" pitchFamily="34" charset="0"/>
                <a:ea typeface="Calibri" pitchFamily="34" charset="-122"/>
                <a:cs typeface="Calibri" pitchFamily="34" charset="-120"/>
              </a:rPr>
              <a:t>Contoh-contoh kode kunci &amp; penjelasannya</a:t>
            </a:r>
            <a:endParaRPr lang="en-US" sz="1200" dirty="0"/>
          </a:p>
        </p:txBody>
      </p:sp>
      <p:sp>
        <p:nvSpPr>
          <p:cNvPr id="29" name="Shape 22"/>
          <p:cNvSpPr/>
          <p:nvPr/>
        </p:nvSpPr>
        <p:spPr>
          <a:xfrm>
            <a:off x="6309360" y="4709160"/>
            <a:ext cx="5394960" cy="1417320"/>
          </a:xfrm>
          <a:prstGeom prst="roundRect">
            <a:avLst>
              <a:gd name="adj" fmla="val 6452"/>
            </a:avLst>
          </a:prstGeom>
          <a:solidFill>
            <a:srgbClr val="EAF0FC"/>
          </a:solidFill>
          <a:ln/>
          <a:effectLst>
            <a:outerShdw blurRad="101600" dist="38100" dir="5400000" algn="bl" rotWithShape="0">
              <a:srgbClr val="000000">
                <a:alpha val="12000"/>
              </a:srgbClr>
            </a:outerShdw>
          </a:effectLst>
        </p:spPr>
      </p:sp>
      <p:sp>
        <p:nvSpPr>
          <p:cNvPr id="30" name="Shape 23"/>
          <p:cNvSpPr/>
          <p:nvPr/>
        </p:nvSpPr>
        <p:spPr>
          <a:xfrm>
            <a:off x="6583680" y="5001768"/>
            <a:ext cx="566928" cy="566928"/>
          </a:xfrm>
          <a:prstGeom prst="ellipse">
            <a:avLst/>
          </a:prstGeom>
          <a:solidFill>
            <a:srgbClr val="1E2761"/>
          </a:solidFill>
          <a:ln/>
        </p:spPr>
      </p:sp>
      <p:pic>
        <p:nvPicPr>
          <p:cNvPr id="31" name="Image 5" descr="/home/claude/kasir-ppt/icons/check_white.png"/>
          <p:cNvPicPr>
            <a:picLocks noChangeAspect="1"/>
          </p:cNvPicPr>
          <p:nvPr/>
        </p:nvPicPr>
        <p:blipFill>
          <a:blip r:embed="rId8"/>
          <a:stretch>
            <a:fillRect/>
          </a:stretch>
        </p:blipFill>
        <p:spPr>
          <a:xfrm>
            <a:off x="6711239" y="5129327"/>
            <a:ext cx="311810" cy="311810"/>
          </a:xfrm>
          <a:prstGeom prst="rect">
            <a:avLst/>
          </a:prstGeom>
        </p:spPr>
      </p:pic>
      <p:sp>
        <p:nvSpPr>
          <p:cNvPr id="32" name="Text 24"/>
          <p:cNvSpPr/>
          <p:nvPr/>
        </p:nvSpPr>
        <p:spPr>
          <a:xfrm>
            <a:off x="7315200" y="4910328"/>
            <a:ext cx="4206240" cy="365760"/>
          </a:xfrm>
          <a:prstGeom prst="rect">
            <a:avLst/>
          </a:prstGeom>
          <a:noFill/>
          <a:ln/>
        </p:spPr>
        <p:txBody>
          <a:bodyPr wrap="square" lIns="0" tIns="0" rIns="0" bIns="0" rtlCol="0" anchor="ctr"/>
          <a:lstStyle/>
          <a:p>
            <a:pPr marL="0" indent="0">
              <a:buNone/>
            </a:pPr>
            <a:r>
              <a:rPr lang="en-US" sz="1550" b="1" dirty="0">
                <a:solidFill>
                  <a:srgbClr val="1E2761"/>
                </a:solidFill>
                <a:latin typeface="Cambria" pitchFamily="34" charset="0"/>
                <a:ea typeface="Cambria" pitchFamily="34" charset="-122"/>
                <a:cs typeface="Cambria" pitchFamily="34" charset="-120"/>
              </a:rPr>
              <a:t>6.  Demo Output &amp; Kesimpulan</a:t>
            </a:r>
            <a:endParaRPr lang="en-US" sz="1550" dirty="0"/>
          </a:p>
        </p:txBody>
      </p:sp>
      <p:sp>
        <p:nvSpPr>
          <p:cNvPr id="33" name="Text 25"/>
          <p:cNvSpPr/>
          <p:nvPr/>
        </p:nvSpPr>
        <p:spPr>
          <a:xfrm>
            <a:off x="7315200" y="5303520"/>
            <a:ext cx="4206240" cy="731520"/>
          </a:xfrm>
          <a:prstGeom prst="rect">
            <a:avLst/>
          </a:prstGeom>
          <a:noFill/>
          <a:ln/>
        </p:spPr>
        <p:txBody>
          <a:bodyPr wrap="square" lIns="0" tIns="0" rIns="0" bIns="0" rtlCol="0" anchor="ctr"/>
          <a:lstStyle/>
          <a:p>
            <a:pPr marL="0" indent="0">
              <a:buNone/>
            </a:pPr>
            <a:r>
              <a:rPr lang="en-US" sz="1200" dirty="0">
                <a:solidFill>
                  <a:srgbClr val="1B1F3B"/>
                </a:solidFill>
                <a:latin typeface="Calibri" pitchFamily="34" charset="0"/>
                <a:ea typeface="Calibri" pitchFamily="34" charset="-122"/>
                <a:cs typeface="Calibri" pitchFamily="34" charset="-120"/>
              </a:rPr>
              <a:t>Tampilan hasil aplikasi yang berjalan</a:t>
            </a:r>
            <a:endParaRPr lang="en-US" sz="1200" dirty="0"/>
          </a:p>
        </p:txBody>
      </p:sp>
      <p:sp>
        <p:nvSpPr>
          <p:cNvPr id="34" name="Text 26"/>
          <p:cNvSpPr/>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5B6688"/>
                </a:solidFill>
                <a:latin typeface="Calibri" pitchFamily="34" charset="0"/>
                <a:ea typeface="Calibri" pitchFamily="34" charset="-122"/>
                <a:cs typeface="Calibri" pitchFamily="34" charset="-120"/>
              </a:rPr>
              <a:t>Kasir Web Apps  |  Kelompok 5</a:t>
            </a:r>
            <a:endParaRPr lang="en-US" sz="900" dirty="0"/>
          </a:p>
        </p:txBody>
      </p:sp>
      <p:sp>
        <p:nvSpPr>
          <p:cNvPr id="35" name="Text 27"/>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B668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F2A900"/>
                </a:solidFill>
                <a:latin typeface="Calibri" pitchFamily="34" charset="0"/>
                <a:ea typeface="Calibri" pitchFamily="34" charset="-122"/>
                <a:cs typeface="Calibri" pitchFamily="34" charset="-120"/>
              </a:rPr>
              <a:t>GAMBARAN UMUM</a:t>
            </a:r>
            <a:endParaRPr lang="en-US" sz="13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Apa itu Kasir Web Apps?</a:t>
            </a:r>
            <a:endParaRPr lang="en-US" sz="3000" dirty="0"/>
          </a:p>
        </p:txBody>
      </p:sp>
      <p:sp>
        <p:nvSpPr>
          <p:cNvPr id="4" name="Shape 2"/>
          <p:cNvSpPr/>
          <p:nvPr/>
        </p:nvSpPr>
        <p:spPr>
          <a:xfrm>
            <a:off x="548640" y="1554480"/>
            <a:ext cx="5760720" cy="4480560"/>
          </a:xfrm>
          <a:prstGeom prst="roundRect">
            <a:avLst>
              <a:gd name="adj" fmla="val 2041"/>
            </a:avLst>
          </a:prstGeom>
          <a:solidFill>
            <a:srgbClr val="EAF0FC"/>
          </a:solidFill>
          <a:ln/>
          <a:effectLst>
            <a:outerShdw blurRad="101600" dist="38100" dir="5400000" algn="bl" rotWithShape="0">
              <a:srgbClr val="000000">
                <a:alpha val="12000"/>
              </a:srgbClr>
            </a:outerShdw>
          </a:effectLst>
        </p:spPr>
        <p:txBody>
          <a:bodyPr/>
          <a:lstStyle/>
          <a:p>
            <a:endParaRPr lang="id-ID" dirty="0"/>
          </a:p>
        </p:txBody>
      </p:sp>
      <p:sp>
        <p:nvSpPr>
          <p:cNvPr id="5" name="Text 3"/>
          <p:cNvSpPr/>
          <p:nvPr/>
        </p:nvSpPr>
        <p:spPr>
          <a:xfrm>
            <a:off x="868680" y="1783080"/>
            <a:ext cx="5212080" cy="365760"/>
          </a:xfrm>
          <a:prstGeom prst="rect">
            <a:avLst/>
          </a:prstGeom>
          <a:noFill/>
          <a:ln/>
        </p:spPr>
        <p:txBody>
          <a:bodyPr wrap="square" lIns="0" tIns="0" rIns="0" bIns="0" rtlCol="0" anchor="ctr"/>
          <a:lstStyle/>
          <a:p>
            <a:pPr marL="0" indent="0">
              <a:buNone/>
            </a:pPr>
            <a:r>
              <a:rPr lang="en-US" sz="1700" b="1" dirty="0">
                <a:solidFill>
                  <a:srgbClr val="1E2761"/>
                </a:solidFill>
                <a:latin typeface="Cambria" pitchFamily="34" charset="0"/>
                <a:ea typeface="Cambria" pitchFamily="34" charset="-122"/>
                <a:cs typeface="Cambria" pitchFamily="34" charset="-120"/>
              </a:rPr>
              <a:t>Latar Belakang</a:t>
            </a:r>
            <a:endParaRPr lang="en-US" sz="1700" dirty="0"/>
          </a:p>
        </p:txBody>
      </p:sp>
      <p:sp>
        <p:nvSpPr>
          <p:cNvPr id="6" name="Text 4"/>
          <p:cNvSpPr/>
          <p:nvPr/>
        </p:nvSpPr>
        <p:spPr>
          <a:xfrm>
            <a:off x="868680" y="2286000"/>
            <a:ext cx="5166360" cy="356616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B1F3B"/>
                </a:solidFill>
                <a:latin typeface="Calibri" pitchFamily="34" charset="0"/>
                <a:ea typeface="Calibri" pitchFamily="34" charset="-122"/>
                <a:cs typeface="Calibri" pitchFamily="34" charset="-120"/>
              </a:rPr>
              <a:t>Aplikasi kasir restoran untuk mengelola menu, keranjang, dan transaksi pembayaran.</a:t>
            </a:r>
            <a:endParaRPr lang="en-US" sz="1350" dirty="0"/>
          </a:p>
          <a:p>
            <a:pPr marL="342900" indent="-342900">
              <a:spcAft>
                <a:spcPts val="1000"/>
              </a:spcAft>
              <a:buSzPct val="100000"/>
              <a:buChar char="•"/>
            </a:pPr>
            <a:r>
              <a:rPr lang="en-US" sz="1350" dirty="0">
                <a:solidFill>
                  <a:srgbClr val="1B1F3B"/>
                </a:solidFill>
                <a:latin typeface="Calibri" pitchFamily="34" charset="0"/>
                <a:ea typeface="Calibri" pitchFamily="34" charset="-122"/>
                <a:cs typeface="Calibri" pitchFamily="34" charset="-120"/>
              </a:rPr>
              <a:t>Awalnya dibangun dengan Python Flask + Jinja2 + reportlab.</a:t>
            </a:r>
            <a:endParaRPr lang="en-US" sz="1350" dirty="0"/>
          </a:p>
          <a:p>
            <a:pPr marL="342900" indent="-342900">
              <a:spcAft>
                <a:spcPts val="1000"/>
              </a:spcAft>
              <a:buSzPct val="100000"/>
              <a:buChar char="•"/>
            </a:pPr>
            <a:r>
              <a:rPr lang="en-US" sz="1350" dirty="0">
                <a:solidFill>
                  <a:srgbClr val="1B1F3B"/>
                </a:solidFill>
                <a:latin typeface="Calibri" pitchFamily="34" charset="0"/>
                <a:ea typeface="Calibri" pitchFamily="34" charset="-122"/>
                <a:cs typeface="Calibri" pitchFamily="34" charset="-120"/>
              </a:rPr>
              <a:t>Dikonversi total menjadi static HTML + vanilla JavaScript tanpa server backend.</a:t>
            </a:r>
            <a:endParaRPr lang="en-US" sz="1350" dirty="0"/>
          </a:p>
          <a:p>
            <a:pPr marL="342900" indent="-342900">
              <a:spcAft>
                <a:spcPts val="1000"/>
              </a:spcAft>
              <a:buSzPct val="100000"/>
              <a:buChar char="•"/>
            </a:pPr>
            <a:r>
              <a:rPr lang="en-US" sz="1350" dirty="0">
                <a:solidFill>
                  <a:srgbClr val="1B1F3B"/>
                </a:solidFill>
                <a:latin typeface="Calibri" pitchFamily="34" charset="0"/>
                <a:ea typeface="Calibri" pitchFamily="34" charset="-122"/>
                <a:cs typeface="Calibri" pitchFamily="34" charset="-120"/>
              </a:rPr>
              <a:t>Cocok untuk mode demo, prototipe, dan deployment ringan (tanpa hosting backend).</a:t>
            </a:r>
            <a:endParaRPr lang="en-US" sz="1350" dirty="0"/>
          </a:p>
        </p:txBody>
      </p:sp>
      <p:sp>
        <p:nvSpPr>
          <p:cNvPr id="7" name="Shape 5"/>
          <p:cNvSpPr/>
          <p:nvPr/>
        </p:nvSpPr>
        <p:spPr>
          <a:xfrm>
            <a:off x="6583680" y="1554480"/>
            <a:ext cx="5029200" cy="4480560"/>
          </a:xfrm>
          <a:prstGeom prst="roundRect">
            <a:avLst>
              <a:gd name="adj" fmla="val 2041"/>
            </a:avLst>
          </a:prstGeom>
          <a:solidFill>
            <a:srgbClr val="1E2761"/>
          </a:solidFill>
          <a:ln/>
          <a:effectLst>
            <a:outerShdw blurRad="101600" dist="38100" dir="5400000" algn="bl" rotWithShape="0">
              <a:srgbClr val="000000">
                <a:alpha val="12000"/>
              </a:srgbClr>
            </a:outerShdw>
          </a:effectLst>
        </p:spPr>
      </p:sp>
      <p:sp>
        <p:nvSpPr>
          <p:cNvPr id="8" name="Text 6"/>
          <p:cNvSpPr/>
          <p:nvPr/>
        </p:nvSpPr>
        <p:spPr>
          <a:xfrm>
            <a:off x="6903720" y="1783080"/>
            <a:ext cx="4480560" cy="365760"/>
          </a:xfrm>
          <a:prstGeom prst="rect">
            <a:avLst/>
          </a:prstGeom>
          <a:noFill/>
          <a:ln/>
        </p:spPr>
        <p:txBody>
          <a:bodyPr wrap="square" lIns="0" tIns="0" rIns="0" bIns="0" rtlCol="0" anchor="ctr"/>
          <a:lstStyle/>
          <a:p>
            <a:pPr marL="0" indent="0">
              <a:buNone/>
            </a:pPr>
            <a:r>
              <a:rPr lang="en-US" sz="1700" b="1" dirty="0">
                <a:solidFill>
                  <a:srgbClr val="F2A900"/>
                </a:solidFill>
                <a:latin typeface="Cambria" pitchFamily="34" charset="0"/>
                <a:ea typeface="Cambria" pitchFamily="34" charset="-122"/>
                <a:cs typeface="Cambria" pitchFamily="34" charset="-120"/>
              </a:rPr>
              <a:t>Pergantian Teknologi</a:t>
            </a:r>
            <a:endParaRPr lang="en-US" sz="1700" dirty="0"/>
          </a:p>
        </p:txBody>
      </p:sp>
      <p:sp>
        <p:nvSpPr>
          <p:cNvPr id="9" name="Text 7"/>
          <p:cNvSpPr/>
          <p:nvPr/>
        </p:nvSpPr>
        <p:spPr>
          <a:xfrm>
            <a:off x="6903720" y="2331720"/>
            <a:ext cx="1691640" cy="457200"/>
          </a:xfrm>
          <a:prstGeom prst="rect">
            <a:avLst/>
          </a:prstGeom>
          <a:noFill/>
          <a:ln/>
        </p:spPr>
        <p:txBody>
          <a:bodyPr wrap="square" lIns="0" tIns="0" rIns="0" bIns="0" rtlCol="0" anchor="ctr"/>
          <a:lstStyle/>
          <a:p>
            <a:pPr marL="0" indent="0">
              <a:buNone/>
            </a:pPr>
            <a:r>
              <a:rPr lang="en-US" sz="1150" b="1" dirty="0">
                <a:solidFill>
                  <a:srgbClr val="CADCFC"/>
                </a:solidFill>
                <a:latin typeface="Calibri" pitchFamily="34" charset="0"/>
                <a:ea typeface="Calibri" pitchFamily="34" charset="-122"/>
                <a:cs typeface="Calibri" pitchFamily="34" charset="-120"/>
              </a:rPr>
              <a:t>Backend Server</a:t>
            </a:r>
            <a:endParaRPr lang="en-US" sz="1150" dirty="0"/>
          </a:p>
        </p:txBody>
      </p:sp>
      <p:sp>
        <p:nvSpPr>
          <p:cNvPr id="10" name="Text 8"/>
          <p:cNvSpPr/>
          <p:nvPr/>
        </p:nvSpPr>
        <p:spPr>
          <a:xfrm>
            <a:off x="8595360" y="2331720"/>
            <a:ext cx="1417320" cy="457200"/>
          </a:xfrm>
          <a:prstGeom prst="rect">
            <a:avLst/>
          </a:prstGeom>
          <a:noFill/>
          <a:ln/>
        </p:spPr>
        <p:txBody>
          <a:bodyPr wrap="square" lIns="0" tIns="0" rIns="0" bIns="0" rtlCol="0" anchor="ctr"/>
          <a:lstStyle/>
          <a:p>
            <a:pPr marL="0" indent="0">
              <a:buNone/>
            </a:pPr>
            <a:r>
              <a:rPr lang="en-US" sz="1100" dirty="0">
                <a:solidFill>
                  <a:srgbClr val="8B97C9"/>
                </a:solidFill>
                <a:latin typeface="Calibri" pitchFamily="34" charset="0"/>
                <a:ea typeface="Calibri" pitchFamily="34" charset="-122"/>
                <a:cs typeface="Calibri" pitchFamily="34" charset="-120"/>
              </a:rPr>
              <a:t>Flask (Python)</a:t>
            </a:r>
            <a:endParaRPr lang="en-US" sz="1100" dirty="0"/>
          </a:p>
        </p:txBody>
      </p:sp>
      <p:pic>
        <p:nvPicPr>
          <p:cNvPr id="11" name="Image 0" descr="/home/claude/kasir-ppt/icons/arrow_white.png"/>
          <p:cNvPicPr>
            <a:picLocks noChangeAspect="1"/>
          </p:cNvPicPr>
          <p:nvPr/>
        </p:nvPicPr>
        <p:blipFill>
          <a:blip r:embed="rId3"/>
          <a:stretch>
            <a:fillRect/>
          </a:stretch>
        </p:blipFill>
        <p:spPr>
          <a:xfrm>
            <a:off x="10058400" y="2450592"/>
            <a:ext cx="201168" cy="201168"/>
          </a:xfrm>
          <a:prstGeom prst="rect">
            <a:avLst/>
          </a:prstGeom>
        </p:spPr>
      </p:pic>
      <p:sp>
        <p:nvSpPr>
          <p:cNvPr id="12" name="Text 9"/>
          <p:cNvSpPr/>
          <p:nvPr/>
        </p:nvSpPr>
        <p:spPr>
          <a:xfrm>
            <a:off x="10332720" y="2331720"/>
            <a:ext cx="1188720" cy="4572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Tidak ada (static)</a:t>
            </a:r>
            <a:endParaRPr lang="en-US" sz="1050" dirty="0"/>
          </a:p>
        </p:txBody>
      </p:sp>
      <p:sp>
        <p:nvSpPr>
          <p:cNvPr id="13" name="Shape 10"/>
          <p:cNvSpPr/>
          <p:nvPr/>
        </p:nvSpPr>
        <p:spPr>
          <a:xfrm>
            <a:off x="6903720" y="2788920"/>
            <a:ext cx="4434840" cy="0"/>
          </a:xfrm>
          <a:prstGeom prst="line">
            <a:avLst/>
          </a:prstGeom>
          <a:noFill/>
          <a:ln w="9525">
            <a:solidFill>
              <a:srgbClr val="3A4485"/>
            </a:solidFill>
            <a:prstDash val="solid"/>
          </a:ln>
        </p:spPr>
      </p:sp>
      <p:sp>
        <p:nvSpPr>
          <p:cNvPr id="14" name="Text 11"/>
          <p:cNvSpPr/>
          <p:nvPr/>
        </p:nvSpPr>
        <p:spPr>
          <a:xfrm>
            <a:off x="6903720" y="2898648"/>
            <a:ext cx="1691640" cy="457200"/>
          </a:xfrm>
          <a:prstGeom prst="rect">
            <a:avLst/>
          </a:prstGeom>
          <a:noFill/>
          <a:ln/>
        </p:spPr>
        <p:txBody>
          <a:bodyPr wrap="square" lIns="0" tIns="0" rIns="0" bIns="0" rtlCol="0" anchor="ctr"/>
          <a:lstStyle/>
          <a:p>
            <a:pPr marL="0" indent="0">
              <a:buNone/>
            </a:pPr>
            <a:r>
              <a:rPr lang="en-US" sz="1150" b="1" dirty="0">
                <a:solidFill>
                  <a:srgbClr val="CADCFC"/>
                </a:solidFill>
                <a:latin typeface="Calibri" pitchFamily="34" charset="0"/>
                <a:ea typeface="Calibri" pitchFamily="34" charset="-122"/>
                <a:cs typeface="Calibri" pitchFamily="34" charset="-120"/>
              </a:rPr>
              <a:t>Session/Login</a:t>
            </a:r>
            <a:endParaRPr lang="en-US" sz="1150" dirty="0"/>
          </a:p>
        </p:txBody>
      </p:sp>
      <p:sp>
        <p:nvSpPr>
          <p:cNvPr id="15" name="Text 12"/>
          <p:cNvSpPr/>
          <p:nvPr/>
        </p:nvSpPr>
        <p:spPr>
          <a:xfrm>
            <a:off x="8595360" y="2898648"/>
            <a:ext cx="1417320" cy="457200"/>
          </a:xfrm>
          <a:prstGeom prst="rect">
            <a:avLst/>
          </a:prstGeom>
          <a:noFill/>
          <a:ln/>
        </p:spPr>
        <p:txBody>
          <a:bodyPr wrap="square" lIns="0" tIns="0" rIns="0" bIns="0" rtlCol="0" anchor="ctr"/>
          <a:lstStyle/>
          <a:p>
            <a:pPr marL="0" indent="0">
              <a:buNone/>
            </a:pPr>
            <a:r>
              <a:rPr lang="en-US" sz="1100" dirty="0">
                <a:solidFill>
                  <a:srgbClr val="8B97C9"/>
                </a:solidFill>
                <a:latin typeface="Calibri" pitchFamily="34" charset="0"/>
                <a:ea typeface="Calibri" pitchFamily="34" charset="-122"/>
                <a:cs typeface="Calibri" pitchFamily="34" charset="-120"/>
              </a:rPr>
              <a:t>Flask session</a:t>
            </a:r>
            <a:endParaRPr lang="en-US" sz="1100" dirty="0"/>
          </a:p>
        </p:txBody>
      </p:sp>
      <p:pic>
        <p:nvPicPr>
          <p:cNvPr id="16" name="Image 1" descr="/home/claude/kasir-ppt/icons/arrow_white.png"/>
          <p:cNvPicPr>
            <a:picLocks noChangeAspect="1"/>
          </p:cNvPicPr>
          <p:nvPr/>
        </p:nvPicPr>
        <p:blipFill>
          <a:blip r:embed="rId3"/>
          <a:stretch>
            <a:fillRect/>
          </a:stretch>
        </p:blipFill>
        <p:spPr>
          <a:xfrm>
            <a:off x="10058400" y="3017520"/>
            <a:ext cx="201168" cy="201168"/>
          </a:xfrm>
          <a:prstGeom prst="rect">
            <a:avLst/>
          </a:prstGeom>
        </p:spPr>
      </p:pic>
      <p:sp>
        <p:nvSpPr>
          <p:cNvPr id="17" name="Text 13"/>
          <p:cNvSpPr/>
          <p:nvPr/>
        </p:nvSpPr>
        <p:spPr>
          <a:xfrm>
            <a:off x="10332720" y="2898648"/>
            <a:ext cx="1188720" cy="4572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localStorage + Cookie</a:t>
            </a:r>
            <a:endParaRPr lang="en-US" sz="1050" dirty="0"/>
          </a:p>
        </p:txBody>
      </p:sp>
      <p:sp>
        <p:nvSpPr>
          <p:cNvPr id="18" name="Shape 14"/>
          <p:cNvSpPr/>
          <p:nvPr/>
        </p:nvSpPr>
        <p:spPr>
          <a:xfrm>
            <a:off x="6903720" y="3355848"/>
            <a:ext cx="4434840" cy="0"/>
          </a:xfrm>
          <a:prstGeom prst="line">
            <a:avLst/>
          </a:prstGeom>
          <a:noFill/>
          <a:ln w="9525">
            <a:solidFill>
              <a:srgbClr val="3A4485"/>
            </a:solidFill>
            <a:prstDash val="solid"/>
          </a:ln>
        </p:spPr>
      </p:sp>
      <p:sp>
        <p:nvSpPr>
          <p:cNvPr id="19" name="Text 15"/>
          <p:cNvSpPr/>
          <p:nvPr/>
        </p:nvSpPr>
        <p:spPr>
          <a:xfrm>
            <a:off x="6903720" y="3465576"/>
            <a:ext cx="1691640" cy="457200"/>
          </a:xfrm>
          <a:prstGeom prst="rect">
            <a:avLst/>
          </a:prstGeom>
          <a:noFill/>
          <a:ln/>
        </p:spPr>
        <p:txBody>
          <a:bodyPr wrap="square" lIns="0" tIns="0" rIns="0" bIns="0" rtlCol="0" anchor="ctr"/>
          <a:lstStyle/>
          <a:p>
            <a:pPr marL="0" indent="0">
              <a:buNone/>
            </a:pPr>
            <a:r>
              <a:rPr lang="en-US" sz="1150" b="1" dirty="0">
                <a:solidFill>
                  <a:srgbClr val="CADCFC"/>
                </a:solidFill>
                <a:latin typeface="Calibri" pitchFamily="34" charset="0"/>
                <a:ea typeface="Calibri" pitchFamily="34" charset="-122"/>
                <a:cs typeface="Calibri" pitchFamily="34" charset="-120"/>
              </a:rPr>
              <a:t>Cetak Struk</a:t>
            </a:r>
            <a:endParaRPr lang="en-US" sz="1150" dirty="0"/>
          </a:p>
        </p:txBody>
      </p:sp>
      <p:sp>
        <p:nvSpPr>
          <p:cNvPr id="20" name="Text 16"/>
          <p:cNvSpPr/>
          <p:nvPr/>
        </p:nvSpPr>
        <p:spPr>
          <a:xfrm>
            <a:off x="8595360" y="3465576"/>
            <a:ext cx="1417320" cy="457200"/>
          </a:xfrm>
          <a:prstGeom prst="rect">
            <a:avLst/>
          </a:prstGeom>
          <a:noFill/>
          <a:ln/>
        </p:spPr>
        <p:txBody>
          <a:bodyPr wrap="square" lIns="0" tIns="0" rIns="0" bIns="0" rtlCol="0" anchor="ctr"/>
          <a:lstStyle/>
          <a:p>
            <a:pPr marL="0" indent="0">
              <a:buNone/>
            </a:pPr>
            <a:r>
              <a:rPr lang="en-US" sz="1100" dirty="0">
                <a:solidFill>
                  <a:srgbClr val="8B97C9"/>
                </a:solidFill>
                <a:latin typeface="Calibri" pitchFamily="34" charset="0"/>
                <a:ea typeface="Calibri" pitchFamily="34" charset="-122"/>
                <a:cs typeface="Calibri" pitchFamily="34" charset="-120"/>
              </a:rPr>
              <a:t>reportlab (server)</a:t>
            </a:r>
            <a:endParaRPr lang="en-US" sz="1100" dirty="0"/>
          </a:p>
        </p:txBody>
      </p:sp>
      <p:pic>
        <p:nvPicPr>
          <p:cNvPr id="21" name="Image 2" descr="/home/claude/kasir-ppt/icons/arrow_white.png"/>
          <p:cNvPicPr>
            <a:picLocks noChangeAspect="1"/>
          </p:cNvPicPr>
          <p:nvPr/>
        </p:nvPicPr>
        <p:blipFill>
          <a:blip r:embed="rId3"/>
          <a:stretch>
            <a:fillRect/>
          </a:stretch>
        </p:blipFill>
        <p:spPr>
          <a:xfrm>
            <a:off x="10058400" y="3584448"/>
            <a:ext cx="201168" cy="201168"/>
          </a:xfrm>
          <a:prstGeom prst="rect">
            <a:avLst/>
          </a:prstGeom>
        </p:spPr>
      </p:pic>
      <p:sp>
        <p:nvSpPr>
          <p:cNvPr id="22" name="Text 17"/>
          <p:cNvSpPr/>
          <p:nvPr/>
        </p:nvSpPr>
        <p:spPr>
          <a:xfrm>
            <a:off x="10332720" y="3465576"/>
            <a:ext cx="1188720" cy="4572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jsPDF (browser)</a:t>
            </a:r>
            <a:endParaRPr lang="en-US" sz="1050" dirty="0"/>
          </a:p>
        </p:txBody>
      </p:sp>
      <p:sp>
        <p:nvSpPr>
          <p:cNvPr id="23" name="Shape 18"/>
          <p:cNvSpPr/>
          <p:nvPr/>
        </p:nvSpPr>
        <p:spPr>
          <a:xfrm>
            <a:off x="6903720" y="3922776"/>
            <a:ext cx="4434840" cy="0"/>
          </a:xfrm>
          <a:prstGeom prst="line">
            <a:avLst/>
          </a:prstGeom>
          <a:noFill/>
          <a:ln w="9525">
            <a:solidFill>
              <a:srgbClr val="3A4485"/>
            </a:solidFill>
            <a:prstDash val="solid"/>
          </a:ln>
        </p:spPr>
      </p:sp>
      <p:sp>
        <p:nvSpPr>
          <p:cNvPr id="24" name="Text 19"/>
          <p:cNvSpPr/>
          <p:nvPr/>
        </p:nvSpPr>
        <p:spPr>
          <a:xfrm>
            <a:off x="6903720" y="4032504"/>
            <a:ext cx="1691640" cy="457200"/>
          </a:xfrm>
          <a:prstGeom prst="rect">
            <a:avLst/>
          </a:prstGeom>
          <a:noFill/>
          <a:ln/>
        </p:spPr>
        <p:txBody>
          <a:bodyPr wrap="square" lIns="0" tIns="0" rIns="0" bIns="0" rtlCol="0" anchor="ctr"/>
          <a:lstStyle/>
          <a:p>
            <a:pPr marL="0" indent="0">
              <a:buNone/>
            </a:pPr>
            <a:r>
              <a:rPr lang="en-US" sz="1150" b="1" dirty="0">
                <a:solidFill>
                  <a:srgbClr val="CADCFC"/>
                </a:solidFill>
                <a:latin typeface="Calibri" pitchFamily="34" charset="0"/>
                <a:ea typeface="Calibri" pitchFamily="34" charset="-122"/>
                <a:cs typeface="Calibri" pitchFamily="34" charset="-120"/>
              </a:rPr>
              <a:t>Data Menu</a:t>
            </a:r>
            <a:endParaRPr lang="en-US" sz="1150" dirty="0"/>
          </a:p>
        </p:txBody>
      </p:sp>
      <p:sp>
        <p:nvSpPr>
          <p:cNvPr id="25" name="Text 20"/>
          <p:cNvSpPr/>
          <p:nvPr/>
        </p:nvSpPr>
        <p:spPr>
          <a:xfrm>
            <a:off x="8595360" y="4032504"/>
            <a:ext cx="1417320" cy="457200"/>
          </a:xfrm>
          <a:prstGeom prst="rect">
            <a:avLst/>
          </a:prstGeom>
          <a:noFill/>
          <a:ln/>
        </p:spPr>
        <p:txBody>
          <a:bodyPr wrap="square" lIns="0" tIns="0" rIns="0" bIns="0" rtlCol="0" anchor="ctr"/>
          <a:lstStyle/>
          <a:p>
            <a:pPr marL="0" indent="0">
              <a:buNone/>
            </a:pPr>
            <a:r>
              <a:rPr lang="en-US" sz="1100" dirty="0">
                <a:solidFill>
                  <a:srgbClr val="8B97C9"/>
                </a:solidFill>
                <a:latin typeface="Calibri" pitchFamily="34" charset="0"/>
                <a:ea typeface="Calibri" pitchFamily="34" charset="-122"/>
                <a:cs typeface="Calibri" pitchFamily="34" charset="-120"/>
              </a:rPr>
              <a:t>Database / Flask route</a:t>
            </a:r>
            <a:endParaRPr lang="en-US" sz="1100" dirty="0"/>
          </a:p>
        </p:txBody>
      </p:sp>
      <p:pic>
        <p:nvPicPr>
          <p:cNvPr id="26" name="Image 3" descr="/home/claude/kasir-ppt/icons/arrow_white.png"/>
          <p:cNvPicPr>
            <a:picLocks noChangeAspect="1"/>
          </p:cNvPicPr>
          <p:nvPr/>
        </p:nvPicPr>
        <p:blipFill>
          <a:blip r:embed="rId3"/>
          <a:stretch>
            <a:fillRect/>
          </a:stretch>
        </p:blipFill>
        <p:spPr>
          <a:xfrm>
            <a:off x="10058400" y="4151376"/>
            <a:ext cx="201168" cy="201168"/>
          </a:xfrm>
          <a:prstGeom prst="rect">
            <a:avLst/>
          </a:prstGeom>
        </p:spPr>
      </p:pic>
      <p:sp>
        <p:nvSpPr>
          <p:cNvPr id="27" name="Text 21"/>
          <p:cNvSpPr/>
          <p:nvPr/>
        </p:nvSpPr>
        <p:spPr>
          <a:xfrm>
            <a:off x="10332720" y="4032504"/>
            <a:ext cx="1188720" cy="45720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fetch() menu.json</a:t>
            </a:r>
            <a:endParaRPr lang="en-US" sz="1050" dirty="0"/>
          </a:p>
        </p:txBody>
      </p:sp>
      <p:sp>
        <p:nvSpPr>
          <p:cNvPr id="28" name="Shape 22"/>
          <p:cNvSpPr/>
          <p:nvPr/>
        </p:nvSpPr>
        <p:spPr>
          <a:xfrm>
            <a:off x="6903720" y="4489704"/>
            <a:ext cx="4434840" cy="0"/>
          </a:xfrm>
          <a:prstGeom prst="line">
            <a:avLst/>
          </a:prstGeom>
          <a:noFill/>
          <a:ln w="9525">
            <a:solidFill>
              <a:srgbClr val="3A4485"/>
            </a:solidFill>
            <a:prstDash val="solid"/>
          </a:ln>
        </p:spPr>
      </p:sp>
      <p:sp>
        <p:nvSpPr>
          <p:cNvPr id="29" name="Text 23"/>
          <p:cNvSpPr/>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5B6688"/>
                </a:solidFill>
                <a:latin typeface="Calibri" pitchFamily="34" charset="0"/>
                <a:ea typeface="Calibri" pitchFamily="34" charset="-122"/>
                <a:cs typeface="Calibri" pitchFamily="34" charset="-120"/>
              </a:rPr>
              <a:t>Kasir Web Apps  |  Kelompok 5</a:t>
            </a:r>
            <a:endParaRPr lang="en-US" sz="900" dirty="0"/>
          </a:p>
        </p:txBody>
      </p:sp>
      <p:sp>
        <p:nvSpPr>
          <p:cNvPr id="30" name="Text 24"/>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B668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F2A900"/>
                </a:solidFill>
                <a:latin typeface="Calibri" pitchFamily="34" charset="0"/>
                <a:ea typeface="Calibri" pitchFamily="34" charset="-122"/>
                <a:cs typeface="Calibri" pitchFamily="34" charset="-120"/>
              </a:rPr>
              <a:t>ARSITEKTUR</a:t>
            </a:r>
            <a:endParaRPr lang="en-US" sz="13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Struktur File &amp; Modul JavaScript</a:t>
            </a:r>
            <a:endParaRPr lang="en-US" sz="3000" dirty="0"/>
          </a:p>
        </p:txBody>
      </p:sp>
      <p:sp>
        <p:nvSpPr>
          <p:cNvPr id="4" name="Shape 2"/>
          <p:cNvSpPr/>
          <p:nvPr/>
        </p:nvSpPr>
        <p:spPr>
          <a:xfrm>
            <a:off x="548640" y="1600200"/>
            <a:ext cx="3566160" cy="2148840"/>
          </a:xfrm>
          <a:prstGeom prst="roundRect">
            <a:avLst>
              <a:gd name="adj" fmla="val 4255"/>
            </a:avLst>
          </a:prstGeom>
          <a:solidFill>
            <a:srgbClr val="EAF0FC"/>
          </a:solidFill>
          <a:ln/>
          <a:effectLst>
            <a:outerShdw blurRad="101600" dist="38100" dir="5400000" algn="bl" rotWithShape="0">
              <a:srgbClr val="000000">
                <a:alpha val="12000"/>
              </a:srgbClr>
            </a:outerShdw>
          </a:effectLst>
        </p:spPr>
      </p:sp>
      <p:sp>
        <p:nvSpPr>
          <p:cNvPr id="5" name="Shape 3"/>
          <p:cNvSpPr/>
          <p:nvPr/>
        </p:nvSpPr>
        <p:spPr>
          <a:xfrm>
            <a:off x="777240" y="1828800"/>
            <a:ext cx="502920" cy="502920"/>
          </a:xfrm>
          <a:prstGeom prst="ellipse">
            <a:avLst/>
          </a:prstGeom>
          <a:solidFill>
            <a:srgbClr val="1E2761"/>
          </a:solidFill>
          <a:ln/>
        </p:spPr>
      </p:sp>
      <p:pic>
        <p:nvPicPr>
          <p:cNvPr id="6" name="Image 0" descr="/home/claude/kasir-ppt/icons/lock_white.png"/>
          <p:cNvPicPr>
            <a:picLocks noChangeAspect="1"/>
          </p:cNvPicPr>
          <p:nvPr/>
        </p:nvPicPr>
        <p:blipFill>
          <a:blip r:embed="rId3"/>
          <a:stretch>
            <a:fillRect/>
          </a:stretch>
        </p:blipFill>
        <p:spPr>
          <a:xfrm>
            <a:off x="890397" y="1941957"/>
            <a:ext cx="276606" cy="276606"/>
          </a:xfrm>
          <a:prstGeom prst="rect">
            <a:avLst/>
          </a:prstGeom>
        </p:spPr>
      </p:pic>
      <p:sp>
        <p:nvSpPr>
          <p:cNvPr id="7" name="Text 4"/>
          <p:cNvSpPr/>
          <p:nvPr/>
        </p:nvSpPr>
        <p:spPr>
          <a:xfrm>
            <a:off x="777240" y="2468880"/>
            <a:ext cx="3108960" cy="320040"/>
          </a:xfrm>
          <a:prstGeom prst="rect">
            <a:avLst/>
          </a:prstGeom>
          <a:noFill/>
          <a:ln/>
        </p:spPr>
        <p:txBody>
          <a:bodyPr wrap="square" lIns="0" tIns="0" rIns="0" bIns="0" rtlCol="0" anchor="ctr"/>
          <a:lstStyle/>
          <a:p>
            <a:pPr marL="0" indent="0">
              <a:buNone/>
            </a:pPr>
            <a:r>
              <a:rPr lang="en-US" sz="1450" b="1" dirty="0">
                <a:solidFill>
                  <a:srgbClr val="1E2761"/>
                </a:solidFill>
                <a:latin typeface="Courier New" pitchFamily="34" charset="0"/>
                <a:ea typeface="Courier New" pitchFamily="34" charset="-122"/>
                <a:cs typeface="Courier New" pitchFamily="34" charset="-120"/>
              </a:rPr>
              <a:t>cookieUtils.js</a:t>
            </a:r>
            <a:endParaRPr lang="en-US" sz="1450" dirty="0"/>
          </a:p>
        </p:txBody>
      </p:sp>
      <p:sp>
        <p:nvSpPr>
          <p:cNvPr id="8" name="Text 5"/>
          <p:cNvSpPr/>
          <p:nvPr/>
        </p:nvSpPr>
        <p:spPr>
          <a:xfrm>
            <a:off x="777240" y="2807208"/>
            <a:ext cx="3108960" cy="822960"/>
          </a:xfrm>
          <a:prstGeom prst="rect">
            <a:avLst/>
          </a:prstGeom>
          <a:noFill/>
          <a:ln/>
        </p:spPr>
        <p:txBody>
          <a:bodyPr wrap="square" lIns="0" tIns="0" rIns="0" bIns="0" rtlCol="0" anchor="ctr"/>
          <a:lstStyle/>
          <a:p>
            <a:pPr marL="0" indent="0">
              <a:buNone/>
            </a:pPr>
            <a:r>
              <a:rPr lang="en-US" sz="1100" dirty="0">
                <a:solidFill>
                  <a:srgbClr val="1B1F3B"/>
                </a:solidFill>
                <a:latin typeface="Calibri" pitchFamily="34" charset="0"/>
                <a:ea typeface="Calibri" pitchFamily="34" charset="-122"/>
                <a:cs typeface="Calibri" pitchFamily="34" charset="-120"/>
              </a:rPr>
              <a:t>Helper set/get/delete cookie. Wajib dimuat PERTAMA.</a:t>
            </a:r>
            <a:endParaRPr lang="en-US" sz="1100" dirty="0"/>
          </a:p>
        </p:txBody>
      </p:sp>
      <p:sp>
        <p:nvSpPr>
          <p:cNvPr id="9" name="Shape 6"/>
          <p:cNvSpPr/>
          <p:nvPr/>
        </p:nvSpPr>
        <p:spPr>
          <a:xfrm>
            <a:off x="4343400" y="1600200"/>
            <a:ext cx="3566160" cy="2148840"/>
          </a:xfrm>
          <a:prstGeom prst="roundRect">
            <a:avLst>
              <a:gd name="adj" fmla="val 4255"/>
            </a:avLst>
          </a:prstGeom>
          <a:solidFill>
            <a:srgbClr val="EAF0FC"/>
          </a:solidFill>
          <a:ln/>
          <a:effectLst>
            <a:outerShdw blurRad="101600" dist="38100" dir="5400000" algn="bl" rotWithShape="0">
              <a:srgbClr val="000000">
                <a:alpha val="12000"/>
              </a:srgbClr>
            </a:outerShdw>
          </a:effectLst>
        </p:spPr>
      </p:sp>
      <p:sp>
        <p:nvSpPr>
          <p:cNvPr id="10" name="Shape 7"/>
          <p:cNvSpPr/>
          <p:nvPr/>
        </p:nvSpPr>
        <p:spPr>
          <a:xfrm>
            <a:off x="4572000" y="1828800"/>
            <a:ext cx="502920" cy="502920"/>
          </a:xfrm>
          <a:prstGeom prst="ellipse">
            <a:avLst/>
          </a:prstGeom>
          <a:solidFill>
            <a:srgbClr val="1E2761"/>
          </a:solidFill>
          <a:ln/>
        </p:spPr>
      </p:sp>
      <p:pic>
        <p:nvPicPr>
          <p:cNvPr id="11" name="Image 1" descr="/home/claude/kasir-ppt/icons/shield_white.png"/>
          <p:cNvPicPr>
            <a:picLocks noChangeAspect="1"/>
          </p:cNvPicPr>
          <p:nvPr/>
        </p:nvPicPr>
        <p:blipFill>
          <a:blip r:embed="rId4"/>
          <a:stretch>
            <a:fillRect/>
          </a:stretch>
        </p:blipFill>
        <p:spPr>
          <a:xfrm>
            <a:off x="4685157" y="1941957"/>
            <a:ext cx="276606" cy="276606"/>
          </a:xfrm>
          <a:prstGeom prst="rect">
            <a:avLst/>
          </a:prstGeom>
        </p:spPr>
      </p:pic>
      <p:sp>
        <p:nvSpPr>
          <p:cNvPr id="12" name="Text 8"/>
          <p:cNvSpPr/>
          <p:nvPr/>
        </p:nvSpPr>
        <p:spPr>
          <a:xfrm>
            <a:off x="4572000" y="2468880"/>
            <a:ext cx="3108960" cy="320040"/>
          </a:xfrm>
          <a:prstGeom prst="rect">
            <a:avLst/>
          </a:prstGeom>
          <a:noFill/>
          <a:ln/>
        </p:spPr>
        <p:txBody>
          <a:bodyPr wrap="square" lIns="0" tIns="0" rIns="0" bIns="0" rtlCol="0" anchor="ctr"/>
          <a:lstStyle/>
          <a:p>
            <a:pPr marL="0" indent="0">
              <a:buNone/>
            </a:pPr>
            <a:r>
              <a:rPr lang="en-US" sz="1450" b="1" dirty="0">
                <a:solidFill>
                  <a:srgbClr val="1E2761"/>
                </a:solidFill>
                <a:latin typeface="Courier New" pitchFamily="34" charset="0"/>
                <a:ea typeface="Courier New" pitchFamily="34" charset="-122"/>
                <a:cs typeface="Courier New" pitchFamily="34" charset="-120"/>
              </a:rPr>
              <a:t>auth.js</a:t>
            </a:r>
            <a:endParaRPr lang="en-US" sz="1450" dirty="0"/>
          </a:p>
        </p:txBody>
      </p:sp>
      <p:sp>
        <p:nvSpPr>
          <p:cNvPr id="13" name="Text 9"/>
          <p:cNvSpPr/>
          <p:nvPr/>
        </p:nvSpPr>
        <p:spPr>
          <a:xfrm>
            <a:off x="4572000" y="2807208"/>
            <a:ext cx="3108960" cy="822960"/>
          </a:xfrm>
          <a:prstGeom prst="rect">
            <a:avLst/>
          </a:prstGeom>
          <a:noFill/>
          <a:ln/>
        </p:spPr>
        <p:txBody>
          <a:bodyPr wrap="square" lIns="0" tIns="0" rIns="0" bIns="0" rtlCol="0" anchor="ctr"/>
          <a:lstStyle/>
          <a:p>
            <a:pPr marL="0" indent="0">
              <a:buNone/>
            </a:pPr>
            <a:r>
              <a:rPr lang="en-US" sz="1100" dirty="0">
                <a:solidFill>
                  <a:srgbClr val="1B1F3B"/>
                </a:solidFill>
                <a:latin typeface="Calibri" pitchFamily="34" charset="0"/>
                <a:ea typeface="Calibri" pitchFamily="34" charset="-122"/>
                <a:cs typeface="Calibri" pitchFamily="34" charset="-120"/>
              </a:rPr>
              <a:t>Status login: isLoggedIn(), setLoggedIn(), clearLoggedIn().</a:t>
            </a:r>
            <a:endParaRPr lang="en-US" sz="1100" dirty="0"/>
          </a:p>
        </p:txBody>
      </p:sp>
      <p:sp>
        <p:nvSpPr>
          <p:cNvPr id="14" name="Shape 10"/>
          <p:cNvSpPr/>
          <p:nvPr/>
        </p:nvSpPr>
        <p:spPr>
          <a:xfrm>
            <a:off x="8138160" y="1600200"/>
            <a:ext cx="3566160" cy="2148840"/>
          </a:xfrm>
          <a:prstGeom prst="roundRect">
            <a:avLst>
              <a:gd name="adj" fmla="val 4255"/>
            </a:avLst>
          </a:prstGeom>
          <a:solidFill>
            <a:srgbClr val="EAF0FC"/>
          </a:solidFill>
          <a:ln/>
          <a:effectLst>
            <a:outerShdw blurRad="101600" dist="38100" dir="5400000" algn="bl" rotWithShape="0">
              <a:srgbClr val="000000">
                <a:alpha val="12000"/>
              </a:srgbClr>
            </a:outerShdw>
          </a:effectLst>
        </p:spPr>
      </p:sp>
      <p:sp>
        <p:nvSpPr>
          <p:cNvPr id="15" name="Shape 11"/>
          <p:cNvSpPr/>
          <p:nvPr/>
        </p:nvSpPr>
        <p:spPr>
          <a:xfrm>
            <a:off x="8366760" y="1828800"/>
            <a:ext cx="502920" cy="502920"/>
          </a:xfrm>
          <a:prstGeom prst="ellipse">
            <a:avLst/>
          </a:prstGeom>
          <a:solidFill>
            <a:srgbClr val="1E2761"/>
          </a:solidFill>
          <a:ln/>
        </p:spPr>
      </p:sp>
      <p:pic>
        <p:nvPicPr>
          <p:cNvPr id="16" name="Image 2" descr="/home/claude/kasir-ppt/icons/filecode_white.png"/>
          <p:cNvPicPr>
            <a:picLocks noChangeAspect="1"/>
          </p:cNvPicPr>
          <p:nvPr/>
        </p:nvPicPr>
        <p:blipFill>
          <a:blip r:embed="rId5"/>
          <a:stretch>
            <a:fillRect/>
          </a:stretch>
        </p:blipFill>
        <p:spPr>
          <a:xfrm>
            <a:off x="8479917" y="1941957"/>
            <a:ext cx="276606" cy="276606"/>
          </a:xfrm>
          <a:prstGeom prst="rect">
            <a:avLst/>
          </a:prstGeom>
        </p:spPr>
      </p:pic>
      <p:sp>
        <p:nvSpPr>
          <p:cNvPr id="17" name="Text 12"/>
          <p:cNvSpPr/>
          <p:nvPr/>
        </p:nvSpPr>
        <p:spPr>
          <a:xfrm>
            <a:off x="8366760" y="2468880"/>
            <a:ext cx="3108960" cy="320040"/>
          </a:xfrm>
          <a:prstGeom prst="rect">
            <a:avLst/>
          </a:prstGeom>
          <a:noFill/>
          <a:ln/>
        </p:spPr>
        <p:txBody>
          <a:bodyPr wrap="square" lIns="0" tIns="0" rIns="0" bIns="0" rtlCol="0" anchor="ctr"/>
          <a:lstStyle/>
          <a:p>
            <a:pPr marL="0" indent="0">
              <a:buNone/>
            </a:pPr>
            <a:r>
              <a:rPr lang="en-US" sz="1450" b="1" dirty="0">
                <a:solidFill>
                  <a:srgbClr val="1E2761"/>
                </a:solidFill>
                <a:latin typeface="Courier New" pitchFamily="34" charset="0"/>
                <a:ea typeface="Courier New" pitchFamily="34" charset="-122"/>
                <a:cs typeface="Courier New" pitchFamily="34" charset="-120"/>
              </a:rPr>
              <a:t>loginStyle.js</a:t>
            </a:r>
            <a:endParaRPr lang="en-US" sz="1450" dirty="0"/>
          </a:p>
        </p:txBody>
      </p:sp>
      <p:sp>
        <p:nvSpPr>
          <p:cNvPr id="18" name="Text 13"/>
          <p:cNvSpPr/>
          <p:nvPr/>
        </p:nvSpPr>
        <p:spPr>
          <a:xfrm>
            <a:off x="8366760" y="2807208"/>
            <a:ext cx="3108960" cy="822960"/>
          </a:xfrm>
          <a:prstGeom prst="rect">
            <a:avLst/>
          </a:prstGeom>
          <a:noFill/>
          <a:ln/>
        </p:spPr>
        <p:txBody>
          <a:bodyPr wrap="square" lIns="0" tIns="0" rIns="0" bIns="0" rtlCol="0" anchor="ctr"/>
          <a:lstStyle/>
          <a:p>
            <a:pPr marL="0" indent="0">
              <a:buNone/>
            </a:pPr>
            <a:r>
              <a:rPr lang="en-US" sz="1100" dirty="0">
                <a:solidFill>
                  <a:srgbClr val="1B1F3B"/>
                </a:solidFill>
                <a:latin typeface="Calibri" pitchFamily="34" charset="0"/>
                <a:ea typeface="Calibri" pitchFamily="34" charset="-122"/>
                <a:cs typeface="Calibri" pitchFamily="34" charset="-120"/>
              </a:rPr>
              <a:t>Validasi form login &amp; animasi panel login/signup.</a:t>
            </a:r>
            <a:endParaRPr lang="en-US" sz="1100" dirty="0"/>
          </a:p>
        </p:txBody>
      </p:sp>
      <p:sp>
        <p:nvSpPr>
          <p:cNvPr id="19" name="Shape 14"/>
          <p:cNvSpPr/>
          <p:nvPr/>
        </p:nvSpPr>
        <p:spPr>
          <a:xfrm>
            <a:off x="548640" y="3931920"/>
            <a:ext cx="3566160" cy="2148840"/>
          </a:xfrm>
          <a:prstGeom prst="roundRect">
            <a:avLst>
              <a:gd name="adj" fmla="val 4255"/>
            </a:avLst>
          </a:prstGeom>
          <a:solidFill>
            <a:srgbClr val="EAF0FC"/>
          </a:solidFill>
          <a:ln/>
          <a:effectLst>
            <a:outerShdw blurRad="101600" dist="38100" dir="5400000" algn="bl" rotWithShape="0">
              <a:srgbClr val="000000">
                <a:alpha val="12000"/>
              </a:srgbClr>
            </a:outerShdw>
          </a:effectLst>
        </p:spPr>
      </p:sp>
      <p:sp>
        <p:nvSpPr>
          <p:cNvPr id="20" name="Shape 15"/>
          <p:cNvSpPr/>
          <p:nvPr/>
        </p:nvSpPr>
        <p:spPr>
          <a:xfrm>
            <a:off x="777240" y="4160520"/>
            <a:ext cx="502920" cy="502920"/>
          </a:xfrm>
          <a:prstGeom prst="ellipse">
            <a:avLst/>
          </a:prstGeom>
          <a:solidFill>
            <a:srgbClr val="1E2761"/>
          </a:solidFill>
          <a:ln/>
        </p:spPr>
      </p:sp>
      <p:pic>
        <p:nvPicPr>
          <p:cNvPr id="21" name="Image 3" descr="/home/claude/kasir-ppt/icons/cashier_white.png"/>
          <p:cNvPicPr>
            <a:picLocks noChangeAspect="1"/>
          </p:cNvPicPr>
          <p:nvPr/>
        </p:nvPicPr>
        <p:blipFill>
          <a:blip r:embed="rId6"/>
          <a:stretch>
            <a:fillRect/>
          </a:stretch>
        </p:blipFill>
        <p:spPr>
          <a:xfrm>
            <a:off x="890397" y="4273677"/>
            <a:ext cx="276606" cy="276606"/>
          </a:xfrm>
          <a:prstGeom prst="rect">
            <a:avLst/>
          </a:prstGeom>
        </p:spPr>
      </p:pic>
      <p:sp>
        <p:nvSpPr>
          <p:cNvPr id="22" name="Text 16"/>
          <p:cNvSpPr/>
          <p:nvPr/>
        </p:nvSpPr>
        <p:spPr>
          <a:xfrm>
            <a:off x="777240" y="4800600"/>
            <a:ext cx="3108960" cy="320040"/>
          </a:xfrm>
          <a:prstGeom prst="rect">
            <a:avLst/>
          </a:prstGeom>
          <a:noFill/>
          <a:ln/>
        </p:spPr>
        <p:txBody>
          <a:bodyPr wrap="square" lIns="0" tIns="0" rIns="0" bIns="0" rtlCol="0" anchor="ctr"/>
          <a:lstStyle/>
          <a:p>
            <a:pPr marL="0" indent="0">
              <a:buNone/>
            </a:pPr>
            <a:r>
              <a:rPr lang="en-US" sz="1450" b="1" dirty="0">
                <a:solidFill>
                  <a:srgbClr val="1E2761"/>
                </a:solidFill>
                <a:latin typeface="Courier New" pitchFamily="34" charset="0"/>
                <a:ea typeface="Courier New" pitchFamily="34" charset="-122"/>
                <a:cs typeface="Courier New" pitchFamily="34" charset="-120"/>
              </a:rPr>
              <a:t>main.js</a:t>
            </a:r>
            <a:endParaRPr lang="en-US" sz="1450" dirty="0"/>
          </a:p>
        </p:txBody>
      </p:sp>
      <p:sp>
        <p:nvSpPr>
          <p:cNvPr id="23" name="Text 17"/>
          <p:cNvSpPr/>
          <p:nvPr/>
        </p:nvSpPr>
        <p:spPr>
          <a:xfrm>
            <a:off x="777240" y="5138928"/>
            <a:ext cx="3108960" cy="822960"/>
          </a:xfrm>
          <a:prstGeom prst="rect">
            <a:avLst/>
          </a:prstGeom>
          <a:noFill/>
          <a:ln/>
        </p:spPr>
        <p:txBody>
          <a:bodyPr wrap="square" lIns="0" tIns="0" rIns="0" bIns="0" rtlCol="0" anchor="ctr"/>
          <a:lstStyle/>
          <a:p>
            <a:pPr marL="0" indent="0">
              <a:buNone/>
            </a:pPr>
            <a:r>
              <a:rPr lang="en-US" sz="1100" dirty="0">
                <a:solidFill>
                  <a:srgbClr val="1B1F3B"/>
                </a:solidFill>
                <a:latin typeface="Calibri" pitchFamily="34" charset="0"/>
                <a:ea typeface="Calibri" pitchFamily="34" charset="-122"/>
                <a:cs typeface="Calibri" pitchFamily="34" charset="-120"/>
              </a:rPr>
              <a:t>Logika menu, cart, kalkulasi total, dan cetak struk PDF.</a:t>
            </a:r>
            <a:endParaRPr lang="en-US" sz="1100" dirty="0"/>
          </a:p>
        </p:txBody>
      </p:sp>
      <p:sp>
        <p:nvSpPr>
          <p:cNvPr id="24" name="Shape 18"/>
          <p:cNvSpPr/>
          <p:nvPr/>
        </p:nvSpPr>
        <p:spPr>
          <a:xfrm>
            <a:off x="4343400" y="3931920"/>
            <a:ext cx="3566160" cy="2148840"/>
          </a:xfrm>
          <a:prstGeom prst="roundRect">
            <a:avLst>
              <a:gd name="adj" fmla="val 4255"/>
            </a:avLst>
          </a:prstGeom>
          <a:solidFill>
            <a:srgbClr val="EAF0FC"/>
          </a:solidFill>
          <a:ln/>
          <a:effectLst>
            <a:outerShdw blurRad="101600" dist="38100" dir="5400000" algn="bl" rotWithShape="0">
              <a:srgbClr val="000000">
                <a:alpha val="12000"/>
              </a:srgbClr>
            </a:outerShdw>
          </a:effectLst>
        </p:spPr>
      </p:sp>
      <p:sp>
        <p:nvSpPr>
          <p:cNvPr id="25" name="Shape 19"/>
          <p:cNvSpPr/>
          <p:nvPr/>
        </p:nvSpPr>
        <p:spPr>
          <a:xfrm>
            <a:off x="4572000" y="4160520"/>
            <a:ext cx="502920" cy="502920"/>
          </a:xfrm>
          <a:prstGeom prst="ellipse">
            <a:avLst/>
          </a:prstGeom>
          <a:solidFill>
            <a:srgbClr val="1E2761"/>
          </a:solidFill>
          <a:ln/>
        </p:spPr>
      </p:sp>
      <p:pic>
        <p:nvPicPr>
          <p:cNvPr id="26" name="Image 4" descr="/home/claude/kasir-ppt/icons/plus_white.png"/>
          <p:cNvPicPr>
            <a:picLocks noChangeAspect="1"/>
          </p:cNvPicPr>
          <p:nvPr/>
        </p:nvPicPr>
        <p:blipFill>
          <a:blip r:embed="rId7"/>
          <a:stretch>
            <a:fillRect/>
          </a:stretch>
        </p:blipFill>
        <p:spPr>
          <a:xfrm>
            <a:off x="4685157" y="4273677"/>
            <a:ext cx="276606" cy="276606"/>
          </a:xfrm>
          <a:prstGeom prst="rect">
            <a:avLst/>
          </a:prstGeom>
        </p:spPr>
      </p:pic>
      <p:sp>
        <p:nvSpPr>
          <p:cNvPr id="27" name="Text 20"/>
          <p:cNvSpPr/>
          <p:nvPr/>
        </p:nvSpPr>
        <p:spPr>
          <a:xfrm>
            <a:off x="4572000" y="4800600"/>
            <a:ext cx="3108960" cy="320040"/>
          </a:xfrm>
          <a:prstGeom prst="rect">
            <a:avLst/>
          </a:prstGeom>
          <a:noFill/>
          <a:ln/>
        </p:spPr>
        <p:txBody>
          <a:bodyPr wrap="square" lIns="0" tIns="0" rIns="0" bIns="0" rtlCol="0" anchor="ctr"/>
          <a:lstStyle/>
          <a:p>
            <a:pPr marL="0" indent="0">
              <a:buNone/>
            </a:pPr>
            <a:r>
              <a:rPr lang="en-US" sz="1450" b="1" dirty="0">
                <a:solidFill>
                  <a:srgbClr val="1E2761"/>
                </a:solidFill>
                <a:latin typeface="Courier New" pitchFamily="34" charset="0"/>
                <a:ea typeface="Courier New" pitchFamily="34" charset="-122"/>
                <a:cs typeface="Courier New" pitchFamily="34" charset="-120"/>
              </a:rPr>
              <a:t>addProduct.js</a:t>
            </a:r>
            <a:endParaRPr lang="en-US" sz="1450" dirty="0"/>
          </a:p>
        </p:txBody>
      </p:sp>
      <p:sp>
        <p:nvSpPr>
          <p:cNvPr id="28" name="Text 21"/>
          <p:cNvSpPr/>
          <p:nvPr/>
        </p:nvSpPr>
        <p:spPr>
          <a:xfrm>
            <a:off x="4572000" y="5138928"/>
            <a:ext cx="3108960" cy="822960"/>
          </a:xfrm>
          <a:prstGeom prst="rect">
            <a:avLst/>
          </a:prstGeom>
          <a:noFill/>
          <a:ln/>
        </p:spPr>
        <p:txBody>
          <a:bodyPr wrap="square" lIns="0" tIns="0" rIns="0" bIns="0" rtlCol="0" anchor="ctr"/>
          <a:lstStyle/>
          <a:p>
            <a:pPr marL="0" indent="0">
              <a:buNone/>
            </a:pPr>
            <a:r>
              <a:rPr lang="en-US" sz="1100" dirty="0">
                <a:solidFill>
                  <a:srgbClr val="1B1F3B"/>
                </a:solidFill>
                <a:latin typeface="Calibri" pitchFamily="34" charset="0"/>
                <a:ea typeface="Calibri" pitchFamily="34" charset="-122"/>
                <a:cs typeface="Calibri" pitchFamily="34" charset="-120"/>
              </a:rPr>
              <a:t>CRUD produk custom tersimpan di localStorage.</a:t>
            </a:r>
            <a:endParaRPr lang="en-US" sz="1100" dirty="0"/>
          </a:p>
        </p:txBody>
      </p:sp>
      <p:sp>
        <p:nvSpPr>
          <p:cNvPr id="29" name="Shape 22"/>
          <p:cNvSpPr/>
          <p:nvPr/>
        </p:nvSpPr>
        <p:spPr>
          <a:xfrm>
            <a:off x="8138160" y="3931920"/>
            <a:ext cx="3566160" cy="2148840"/>
          </a:xfrm>
          <a:prstGeom prst="roundRect">
            <a:avLst>
              <a:gd name="adj" fmla="val 4255"/>
            </a:avLst>
          </a:prstGeom>
          <a:solidFill>
            <a:srgbClr val="EAF0FC"/>
          </a:solidFill>
          <a:ln/>
          <a:effectLst>
            <a:outerShdw blurRad="101600" dist="38100" dir="5400000" algn="bl" rotWithShape="0">
              <a:srgbClr val="000000">
                <a:alpha val="12000"/>
              </a:srgbClr>
            </a:outerShdw>
          </a:effectLst>
        </p:spPr>
      </p:sp>
      <p:sp>
        <p:nvSpPr>
          <p:cNvPr id="30" name="Shape 23"/>
          <p:cNvSpPr/>
          <p:nvPr/>
        </p:nvSpPr>
        <p:spPr>
          <a:xfrm>
            <a:off x="8366760" y="4160520"/>
            <a:ext cx="502920" cy="502920"/>
          </a:xfrm>
          <a:prstGeom prst="ellipse">
            <a:avLst/>
          </a:prstGeom>
          <a:solidFill>
            <a:srgbClr val="1E2761"/>
          </a:solidFill>
          <a:ln/>
        </p:spPr>
      </p:sp>
      <p:pic>
        <p:nvPicPr>
          <p:cNvPr id="31" name="Image 5" descr="/home/claude/kasir-ppt/icons/database_white.png"/>
          <p:cNvPicPr>
            <a:picLocks noChangeAspect="1"/>
          </p:cNvPicPr>
          <p:nvPr/>
        </p:nvPicPr>
        <p:blipFill>
          <a:blip r:embed="rId8"/>
          <a:stretch>
            <a:fillRect/>
          </a:stretch>
        </p:blipFill>
        <p:spPr>
          <a:xfrm>
            <a:off x="8479917" y="4273677"/>
            <a:ext cx="276606" cy="276606"/>
          </a:xfrm>
          <a:prstGeom prst="rect">
            <a:avLst/>
          </a:prstGeom>
        </p:spPr>
      </p:pic>
      <p:sp>
        <p:nvSpPr>
          <p:cNvPr id="32" name="Text 24"/>
          <p:cNvSpPr/>
          <p:nvPr/>
        </p:nvSpPr>
        <p:spPr>
          <a:xfrm>
            <a:off x="8366760" y="4800600"/>
            <a:ext cx="3108960" cy="320040"/>
          </a:xfrm>
          <a:prstGeom prst="rect">
            <a:avLst/>
          </a:prstGeom>
          <a:noFill/>
          <a:ln/>
        </p:spPr>
        <p:txBody>
          <a:bodyPr wrap="square" lIns="0" tIns="0" rIns="0" bIns="0" rtlCol="0" anchor="ctr"/>
          <a:lstStyle/>
          <a:p>
            <a:pPr marL="0" indent="0">
              <a:buNone/>
            </a:pPr>
            <a:r>
              <a:rPr lang="en-US" sz="1450" b="1" dirty="0">
                <a:solidFill>
                  <a:srgbClr val="1E2761"/>
                </a:solidFill>
                <a:latin typeface="Courier New" pitchFamily="34" charset="0"/>
                <a:ea typeface="Courier New" pitchFamily="34" charset="-122"/>
                <a:cs typeface="Courier New" pitchFamily="34" charset="-120"/>
              </a:rPr>
              <a:t>menu.json</a:t>
            </a:r>
            <a:endParaRPr lang="en-US" sz="1450" dirty="0"/>
          </a:p>
        </p:txBody>
      </p:sp>
      <p:sp>
        <p:nvSpPr>
          <p:cNvPr id="33" name="Text 25"/>
          <p:cNvSpPr/>
          <p:nvPr/>
        </p:nvSpPr>
        <p:spPr>
          <a:xfrm>
            <a:off x="8366760" y="5138928"/>
            <a:ext cx="3108960" cy="822960"/>
          </a:xfrm>
          <a:prstGeom prst="rect">
            <a:avLst/>
          </a:prstGeom>
          <a:noFill/>
          <a:ln/>
        </p:spPr>
        <p:txBody>
          <a:bodyPr wrap="square" lIns="0" tIns="0" rIns="0" bIns="0" rtlCol="0" anchor="ctr"/>
          <a:lstStyle/>
          <a:p>
            <a:pPr marL="0" indent="0">
              <a:buNone/>
            </a:pPr>
            <a:r>
              <a:rPr lang="en-US" sz="1100" dirty="0">
                <a:solidFill>
                  <a:srgbClr val="1B1F3B"/>
                </a:solidFill>
                <a:latin typeface="Calibri" pitchFamily="34" charset="0"/>
                <a:ea typeface="Calibri" pitchFamily="34" charset="-122"/>
                <a:cs typeface="Calibri" pitchFamily="34" charset="-120"/>
              </a:rPr>
              <a:t>Sumber data menu default (Makanan/Minuman/dll).</a:t>
            </a:r>
            <a:endParaRPr lang="en-US" sz="1100" dirty="0"/>
          </a:p>
        </p:txBody>
      </p:sp>
      <p:sp>
        <p:nvSpPr>
          <p:cNvPr id="34" name="Text 26"/>
          <p:cNvSpPr/>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5B6688"/>
                </a:solidFill>
                <a:latin typeface="Calibri" pitchFamily="34" charset="0"/>
                <a:ea typeface="Calibri" pitchFamily="34" charset="-122"/>
                <a:cs typeface="Calibri" pitchFamily="34" charset="-120"/>
              </a:rPr>
              <a:t>Kasir Web Apps  |  Kelompok 5</a:t>
            </a:r>
            <a:endParaRPr lang="en-US" sz="900" dirty="0"/>
          </a:p>
        </p:txBody>
      </p:sp>
      <p:sp>
        <p:nvSpPr>
          <p:cNvPr id="35" name="Text 27"/>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B668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F2A900"/>
                </a:solidFill>
                <a:latin typeface="Calibri" pitchFamily="34" charset="0"/>
                <a:ea typeface="Calibri" pitchFamily="34" charset="-122"/>
                <a:cs typeface="Calibri" pitchFamily="34" charset="-120"/>
              </a:rPr>
              <a:t>LOGIKA PROGRAM</a:t>
            </a:r>
            <a:endParaRPr lang="en-US" sz="13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Alur Logika Autentikasi (Login)</a:t>
            </a:r>
            <a:endParaRPr lang="en-US" sz="3000" dirty="0"/>
          </a:p>
        </p:txBody>
      </p:sp>
      <p:sp>
        <p:nvSpPr>
          <p:cNvPr id="4" name="Shape 2"/>
          <p:cNvSpPr/>
          <p:nvPr/>
        </p:nvSpPr>
        <p:spPr>
          <a:xfrm>
            <a:off x="548640" y="2011680"/>
            <a:ext cx="2286000" cy="914400"/>
          </a:xfrm>
          <a:prstGeom prst="roundRect">
            <a:avLst>
              <a:gd name="adj" fmla="val 10000"/>
            </a:avLst>
          </a:prstGeom>
          <a:solidFill>
            <a:srgbClr val="1E2761"/>
          </a:solidFill>
          <a:ln/>
          <a:effectLst>
            <a:outerShdw blurRad="101600" dist="38100" dir="5400000" algn="bl" rotWithShape="0">
              <a:srgbClr val="000000">
                <a:alpha val="12000"/>
              </a:srgbClr>
            </a:outerShdw>
          </a:effectLst>
        </p:spPr>
      </p:sp>
      <p:sp>
        <p:nvSpPr>
          <p:cNvPr id="5" name="Text 3"/>
          <p:cNvSpPr/>
          <p:nvPr/>
        </p:nvSpPr>
        <p:spPr>
          <a:xfrm>
            <a:off x="548640" y="1874520"/>
            <a:ext cx="2286000" cy="11887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User buka</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login.html</a:t>
            </a:r>
            <a:endParaRPr lang="en-US" sz="1300" dirty="0"/>
          </a:p>
        </p:txBody>
      </p:sp>
      <p:pic>
        <p:nvPicPr>
          <p:cNvPr id="6" name="Image 0" descr="/home/claude/kasir-ppt/icons/arrow_white.png"/>
          <p:cNvPicPr>
            <a:picLocks noChangeAspect="1"/>
          </p:cNvPicPr>
          <p:nvPr/>
        </p:nvPicPr>
        <p:blipFill>
          <a:blip r:embed="rId3"/>
          <a:stretch>
            <a:fillRect/>
          </a:stretch>
        </p:blipFill>
        <p:spPr>
          <a:xfrm>
            <a:off x="2926080" y="2359152"/>
            <a:ext cx="274320" cy="274320"/>
          </a:xfrm>
          <a:prstGeom prst="rect">
            <a:avLst/>
          </a:prstGeom>
          <a:solidFill>
            <a:srgbClr val="002060"/>
          </a:solidFill>
        </p:spPr>
      </p:pic>
      <p:sp>
        <p:nvSpPr>
          <p:cNvPr id="7" name="Shape 4"/>
          <p:cNvSpPr/>
          <p:nvPr/>
        </p:nvSpPr>
        <p:spPr>
          <a:xfrm>
            <a:off x="3337560" y="2011680"/>
            <a:ext cx="2286000" cy="914400"/>
          </a:xfrm>
          <a:prstGeom prst="roundRect">
            <a:avLst>
              <a:gd name="adj" fmla="val 10000"/>
            </a:avLst>
          </a:prstGeom>
          <a:solidFill>
            <a:srgbClr val="1E2761"/>
          </a:solidFill>
          <a:ln/>
          <a:effectLst>
            <a:outerShdw blurRad="101600" dist="38100" dir="5400000" algn="bl" rotWithShape="0">
              <a:srgbClr val="000000">
                <a:alpha val="12000"/>
              </a:srgbClr>
            </a:outerShdw>
          </a:effectLst>
        </p:spPr>
      </p:sp>
      <p:sp>
        <p:nvSpPr>
          <p:cNvPr id="8" name="Text 5"/>
          <p:cNvSpPr/>
          <p:nvPr/>
        </p:nvSpPr>
        <p:spPr>
          <a:xfrm>
            <a:off x="3337560" y="1874520"/>
            <a:ext cx="2286000" cy="11887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isLoggedIn()</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dicek</a:t>
            </a:r>
            <a:endParaRPr lang="en-US" sz="1300" dirty="0"/>
          </a:p>
        </p:txBody>
      </p:sp>
      <p:pic>
        <p:nvPicPr>
          <p:cNvPr id="9" name="Image 1" descr="/home/claude/kasir-ppt/icons/arrow_white.png"/>
          <p:cNvPicPr>
            <a:picLocks noChangeAspect="1"/>
          </p:cNvPicPr>
          <p:nvPr/>
        </p:nvPicPr>
        <p:blipFill>
          <a:blip r:embed="rId3"/>
          <a:stretch>
            <a:fillRect/>
          </a:stretch>
        </p:blipFill>
        <p:spPr>
          <a:xfrm>
            <a:off x="5715000" y="2359152"/>
            <a:ext cx="274320" cy="274320"/>
          </a:xfrm>
          <a:prstGeom prst="rect">
            <a:avLst/>
          </a:prstGeom>
          <a:solidFill>
            <a:srgbClr val="002060"/>
          </a:solidFill>
        </p:spPr>
      </p:pic>
      <p:sp>
        <p:nvSpPr>
          <p:cNvPr id="10" name="Shape 6"/>
          <p:cNvSpPr/>
          <p:nvPr/>
        </p:nvSpPr>
        <p:spPr>
          <a:xfrm>
            <a:off x="6126480" y="1874520"/>
            <a:ext cx="2286000" cy="1188720"/>
          </a:xfrm>
          <a:prstGeom prst="ellipse">
            <a:avLst/>
          </a:prstGeom>
          <a:solidFill>
            <a:srgbClr val="F2A900"/>
          </a:solidFill>
          <a:ln/>
          <a:effectLst>
            <a:outerShdw blurRad="101600" dist="38100" dir="5400000" algn="bl" rotWithShape="0">
              <a:srgbClr val="000000">
                <a:alpha val="12000"/>
              </a:srgbClr>
            </a:outerShdw>
          </a:effectLst>
        </p:spPr>
      </p:sp>
      <p:sp>
        <p:nvSpPr>
          <p:cNvPr id="11" name="Text 7"/>
          <p:cNvSpPr/>
          <p:nvPr/>
        </p:nvSpPr>
        <p:spPr>
          <a:xfrm>
            <a:off x="6126480" y="1874520"/>
            <a:ext cx="2286000" cy="11887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Login valid?</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(email &amp; pass)</a:t>
            </a:r>
            <a:endParaRPr lang="en-US" sz="1300" dirty="0"/>
          </a:p>
        </p:txBody>
      </p:sp>
      <p:sp>
        <p:nvSpPr>
          <p:cNvPr id="12" name="Text 8"/>
          <p:cNvSpPr/>
          <p:nvPr/>
        </p:nvSpPr>
        <p:spPr>
          <a:xfrm>
            <a:off x="6995160" y="3063240"/>
            <a:ext cx="548640" cy="274320"/>
          </a:xfrm>
          <a:prstGeom prst="rect">
            <a:avLst/>
          </a:prstGeom>
          <a:noFill/>
          <a:ln/>
        </p:spPr>
        <p:txBody>
          <a:bodyPr wrap="square" lIns="0" tIns="0" rIns="0" bIns="0" rtlCol="0" anchor="ctr"/>
          <a:lstStyle/>
          <a:p>
            <a:pPr marL="0" indent="0" algn="ctr">
              <a:buNone/>
            </a:pPr>
            <a:r>
              <a:rPr lang="en-US" sz="1400" b="1" dirty="0">
                <a:solidFill>
                  <a:srgbClr val="1C8A56"/>
                </a:solidFill>
                <a:latin typeface="Calibri" pitchFamily="34" charset="0"/>
                <a:ea typeface="Calibri" pitchFamily="34" charset="-122"/>
                <a:cs typeface="Calibri" pitchFamily="34" charset="-120"/>
              </a:rPr>
              <a:t>Ya</a:t>
            </a:r>
            <a:endParaRPr lang="en-US" sz="1100" dirty="0"/>
          </a:p>
        </p:txBody>
      </p:sp>
      <p:sp>
        <p:nvSpPr>
          <p:cNvPr id="13" name="Shape 9"/>
          <p:cNvSpPr/>
          <p:nvPr/>
        </p:nvSpPr>
        <p:spPr>
          <a:xfrm>
            <a:off x="5760720" y="3429000"/>
            <a:ext cx="3017520" cy="914400"/>
          </a:xfrm>
          <a:prstGeom prst="roundRect">
            <a:avLst>
              <a:gd name="adj" fmla="val 10000"/>
            </a:avLst>
          </a:prstGeom>
          <a:solidFill>
            <a:srgbClr val="1C8A56"/>
          </a:solidFill>
          <a:ln/>
          <a:effectLst>
            <a:outerShdw blurRad="101600" dist="38100" dir="5400000" algn="bl" rotWithShape="0">
              <a:srgbClr val="000000">
                <a:alpha val="12000"/>
              </a:srgbClr>
            </a:outerShdw>
          </a:effectLst>
        </p:spPr>
      </p:sp>
      <p:sp>
        <p:nvSpPr>
          <p:cNvPr id="14" name="Text 10"/>
          <p:cNvSpPr/>
          <p:nvPr/>
        </p:nvSpPr>
        <p:spPr>
          <a:xfrm>
            <a:off x="5760720" y="3429000"/>
            <a:ext cx="3017520" cy="9144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setLoggedIn(email)</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simpan localStorage + cookie</a:t>
            </a:r>
            <a:endParaRPr lang="en-US" sz="1200" dirty="0"/>
          </a:p>
        </p:txBody>
      </p:sp>
      <p:pic>
        <p:nvPicPr>
          <p:cNvPr id="15" name="Image 2" descr="/home/claude/kasir-ppt/icons/arrow_white.png"/>
          <p:cNvPicPr>
            <a:picLocks noChangeAspect="1"/>
          </p:cNvPicPr>
          <p:nvPr/>
        </p:nvPicPr>
        <p:blipFill>
          <a:blip r:embed="rId3"/>
          <a:stretch>
            <a:fillRect/>
          </a:stretch>
        </p:blipFill>
        <p:spPr>
          <a:xfrm rot="5400000">
            <a:off x="7132320" y="4434840"/>
            <a:ext cx="274320" cy="274320"/>
          </a:xfrm>
          <a:prstGeom prst="rect">
            <a:avLst/>
          </a:prstGeom>
          <a:solidFill>
            <a:srgbClr val="002060"/>
          </a:solidFill>
        </p:spPr>
      </p:pic>
      <p:sp>
        <p:nvSpPr>
          <p:cNvPr id="16" name="Shape 11"/>
          <p:cNvSpPr/>
          <p:nvPr/>
        </p:nvSpPr>
        <p:spPr>
          <a:xfrm>
            <a:off x="5760720" y="4800600"/>
            <a:ext cx="3017520" cy="777240"/>
          </a:xfrm>
          <a:prstGeom prst="roundRect">
            <a:avLst>
              <a:gd name="adj" fmla="val 11765"/>
            </a:avLst>
          </a:prstGeom>
          <a:solidFill>
            <a:srgbClr val="1E2761"/>
          </a:solidFill>
          <a:ln/>
          <a:effectLst>
            <a:outerShdw blurRad="101600" dist="38100" dir="5400000" algn="bl" rotWithShape="0">
              <a:srgbClr val="000000">
                <a:alpha val="12000"/>
              </a:srgbClr>
            </a:outerShdw>
          </a:effectLst>
        </p:spPr>
      </p:sp>
      <p:sp>
        <p:nvSpPr>
          <p:cNvPr id="17" name="Text 12"/>
          <p:cNvSpPr/>
          <p:nvPr/>
        </p:nvSpPr>
        <p:spPr>
          <a:xfrm>
            <a:off x="5760720" y="4800600"/>
            <a:ext cx="3017520" cy="7772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Redirect ke index.html</a:t>
            </a:r>
            <a:endParaRPr lang="en-US" sz="1250" dirty="0"/>
          </a:p>
        </p:txBody>
      </p:sp>
      <p:sp>
        <p:nvSpPr>
          <p:cNvPr id="18" name="Text 13"/>
          <p:cNvSpPr/>
          <p:nvPr/>
        </p:nvSpPr>
        <p:spPr>
          <a:xfrm>
            <a:off x="8428808" y="1633510"/>
            <a:ext cx="640080" cy="274320"/>
          </a:xfrm>
          <a:prstGeom prst="rect">
            <a:avLst/>
          </a:prstGeom>
          <a:noFill/>
          <a:ln/>
        </p:spPr>
        <p:txBody>
          <a:bodyPr wrap="square" lIns="0" tIns="0" rIns="0" bIns="0" rtlCol="0" anchor="ctr"/>
          <a:lstStyle/>
          <a:p>
            <a:pPr marL="0" indent="0" algn="ctr">
              <a:buNone/>
            </a:pPr>
            <a:r>
              <a:rPr lang="en-US" sz="1400" b="1" dirty="0">
                <a:solidFill>
                  <a:srgbClr val="C23B3B"/>
                </a:solidFill>
                <a:latin typeface="Calibri" pitchFamily="34" charset="0"/>
                <a:ea typeface="Calibri" pitchFamily="34" charset="-122"/>
                <a:cs typeface="Calibri" pitchFamily="34" charset="-120"/>
              </a:rPr>
              <a:t>Tidak</a:t>
            </a:r>
            <a:endParaRPr lang="en-US" sz="1400" dirty="0"/>
          </a:p>
        </p:txBody>
      </p:sp>
      <p:sp>
        <p:nvSpPr>
          <p:cNvPr id="19" name="Shape 14"/>
          <p:cNvSpPr/>
          <p:nvPr/>
        </p:nvSpPr>
        <p:spPr>
          <a:xfrm>
            <a:off x="9144000" y="1819656"/>
            <a:ext cx="2377440" cy="777240"/>
          </a:xfrm>
          <a:prstGeom prst="roundRect">
            <a:avLst>
              <a:gd name="adj" fmla="val 11765"/>
            </a:avLst>
          </a:prstGeom>
          <a:solidFill>
            <a:srgbClr val="C23B3B"/>
          </a:solidFill>
          <a:ln/>
          <a:effectLst>
            <a:outerShdw blurRad="101600" dist="38100" dir="5400000" algn="bl" rotWithShape="0">
              <a:srgbClr val="000000">
                <a:alpha val="12000"/>
              </a:srgbClr>
            </a:outerShdw>
          </a:effectLst>
        </p:spPr>
      </p:sp>
      <p:sp>
        <p:nvSpPr>
          <p:cNvPr id="20" name="Text 15"/>
          <p:cNvSpPr/>
          <p:nvPr/>
        </p:nvSpPr>
        <p:spPr>
          <a:xfrm>
            <a:off x="9106444" y="1795163"/>
            <a:ext cx="2377440" cy="77724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showLoginError()</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"Email/Password salah"</a:t>
            </a:r>
            <a:endParaRPr lang="en-US" sz="1150" dirty="0"/>
          </a:p>
        </p:txBody>
      </p:sp>
      <p:sp>
        <p:nvSpPr>
          <p:cNvPr id="21" name="Shape 16"/>
          <p:cNvSpPr/>
          <p:nvPr/>
        </p:nvSpPr>
        <p:spPr>
          <a:xfrm>
            <a:off x="9052560" y="3611880"/>
            <a:ext cx="2834640" cy="2377440"/>
          </a:xfrm>
          <a:prstGeom prst="roundRect">
            <a:avLst>
              <a:gd name="adj" fmla="val 3846"/>
            </a:avLst>
          </a:prstGeom>
          <a:solidFill>
            <a:srgbClr val="EAF0FC"/>
          </a:solidFill>
          <a:ln/>
          <a:effectLst>
            <a:outerShdw blurRad="101600" dist="38100" dir="5400000" algn="bl" rotWithShape="0">
              <a:srgbClr val="000000">
                <a:alpha val="12000"/>
              </a:srgbClr>
            </a:outerShdw>
          </a:effectLst>
        </p:spPr>
      </p:sp>
      <p:sp>
        <p:nvSpPr>
          <p:cNvPr id="22" name="Shape 17"/>
          <p:cNvSpPr/>
          <p:nvPr/>
        </p:nvSpPr>
        <p:spPr>
          <a:xfrm>
            <a:off x="9235440" y="3849624"/>
            <a:ext cx="457200" cy="457200"/>
          </a:xfrm>
          <a:prstGeom prst="ellipse">
            <a:avLst/>
          </a:prstGeom>
          <a:solidFill>
            <a:srgbClr val="1E2761"/>
          </a:solidFill>
          <a:ln/>
        </p:spPr>
      </p:sp>
      <p:pic>
        <p:nvPicPr>
          <p:cNvPr id="23" name="Image 3" descr="/home/claude/kasir-ppt/icons/shield_white.png"/>
          <p:cNvPicPr>
            <a:picLocks noChangeAspect="1"/>
          </p:cNvPicPr>
          <p:nvPr/>
        </p:nvPicPr>
        <p:blipFill>
          <a:blip r:embed="rId4"/>
          <a:stretch>
            <a:fillRect/>
          </a:stretch>
        </p:blipFill>
        <p:spPr>
          <a:xfrm>
            <a:off x="9339943" y="3952494"/>
            <a:ext cx="251460" cy="251460"/>
          </a:xfrm>
          <a:prstGeom prst="rect">
            <a:avLst/>
          </a:prstGeom>
        </p:spPr>
      </p:pic>
      <p:sp>
        <p:nvSpPr>
          <p:cNvPr id="24" name="Text 18"/>
          <p:cNvSpPr/>
          <p:nvPr/>
        </p:nvSpPr>
        <p:spPr>
          <a:xfrm>
            <a:off x="9237073" y="4418838"/>
            <a:ext cx="2377440" cy="32004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Auth Guard</a:t>
            </a:r>
            <a:endParaRPr lang="en-US" sz="1350" dirty="0"/>
          </a:p>
        </p:txBody>
      </p:sp>
      <p:sp>
        <p:nvSpPr>
          <p:cNvPr id="25" name="Text 19"/>
          <p:cNvSpPr/>
          <p:nvPr/>
        </p:nvSpPr>
        <p:spPr>
          <a:xfrm>
            <a:off x="9237073" y="4681728"/>
            <a:ext cx="2377440" cy="1280160"/>
          </a:xfrm>
          <a:prstGeom prst="rect">
            <a:avLst/>
          </a:prstGeom>
          <a:noFill/>
          <a:ln/>
        </p:spPr>
        <p:txBody>
          <a:bodyPr wrap="square" lIns="0" tIns="0" rIns="0" bIns="0" rtlCol="0" anchor="ctr"/>
          <a:lstStyle/>
          <a:p>
            <a:pPr marL="0" indent="0">
              <a:buNone/>
            </a:pPr>
            <a:r>
              <a:rPr lang="en-US" sz="1050" dirty="0">
                <a:solidFill>
                  <a:srgbClr val="1B1F3B"/>
                </a:solidFill>
                <a:latin typeface="Calibri" pitchFamily="34" charset="0"/>
                <a:ea typeface="Calibri" pitchFamily="34" charset="-122"/>
                <a:cs typeface="Calibri" pitchFamily="34" charset="-120"/>
              </a:rPr>
              <a:t>index.html &amp; addproduct.html memanggil authGuard() di awal script — jika belum login, langsung redirect balik ke login.html.</a:t>
            </a:r>
            <a:endParaRPr lang="en-US" sz="1050" dirty="0"/>
          </a:p>
        </p:txBody>
      </p:sp>
      <p:sp>
        <p:nvSpPr>
          <p:cNvPr id="26" name="Text 20"/>
          <p:cNvSpPr/>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5B6688"/>
                </a:solidFill>
                <a:latin typeface="Calibri" pitchFamily="34" charset="0"/>
                <a:ea typeface="Calibri" pitchFamily="34" charset="-122"/>
                <a:cs typeface="Calibri" pitchFamily="34" charset="-120"/>
              </a:rPr>
              <a:t>Kasir Web Apps  |  Kelompok 5</a:t>
            </a:r>
            <a:endParaRPr lang="en-US" sz="900" dirty="0"/>
          </a:p>
        </p:txBody>
      </p:sp>
      <p:sp>
        <p:nvSpPr>
          <p:cNvPr id="27" name="Text 21"/>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B668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F2A900"/>
                </a:solidFill>
                <a:latin typeface="Calibri" pitchFamily="34" charset="0"/>
                <a:ea typeface="Calibri" pitchFamily="34" charset="-122"/>
                <a:cs typeface="Calibri" pitchFamily="34" charset="-120"/>
              </a:rPr>
              <a:t>PENULISAN KODE</a:t>
            </a:r>
            <a:endParaRPr lang="en-US" sz="13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Auth Guard &amp; Cookie Utilities</a:t>
            </a:r>
            <a:endParaRPr lang="en-US" sz="3000" dirty="0"/>
          </a:p>
        </p:txBody>
      </p:sp>
      <p:sp>
        <p:nvSpPr>
          <p:cNvPr id="4" name="Text 2"/>
          <p:cNvSpPr/>
          <p:nvPr/>
        </p:nvSpPr>
        <p:spPr>
          <a:xfrm>
            <a:off x="548640" y="1463040"/>
            <a:ext cx="5486400" cy="32004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cookieUtils.js — fungsi dasar cookie</a:t>
            </a:r>
            <a:endParaRPr lang="en-US" sz="1350" dirty="0"/>
          </a:p>
        </p:txBody>
      </p:sp>
      <p:sp>
        <p:nvSpPr>
          <p:cNvPr id="5" name="Shape 3"/>
          <p:cNvSpPr/>
          <p:nvPr/>
        </p:nvSpPr>
        <p:spPr>
          <a:xfrm>
            <a:off x="548640" y="1828800"/>
            <a:ext cx="5486400" cy="2148840"/>
          </a:xfrm>
          <a:prstGeom prst="roundRect">
            <a:avLst>
              <a:gd name="adj" fmla="val 3404"/>
            </a:avLst>
          </a:prstGeom>
          <a:solidFill>
            <a:srgbClr val="151B4D"/>
          </a:solidFill>
          <a:ln/>
          <a:effectLst>
            <a:outerShdw blurRad="101600" dist="38100" dir="5400000" algn="bl" rotWithShape="0">
              <a:srgbClr val="000000">
                <a:alpha val="12000"/>
              </a:srgbClr>
            </a:outerShdw>
          </a:effectLst>
        </p:spPr>
      </p:sp>
      <p:sp>
        <p:nvSpPr>
          <p:cNvPr id="6" name="Text 4"/>
          <p:cNvSpPr/>
          <p:nvPr/>
        </p:nvSpPr>
        <p:spPr>
          <a:xfrm>
            <a:off x="777240" y="1993392"/>
            <a:ext cx="5029200" cy="1819656"/>
          </a:xfrm>
          <a:prstGeom prst="rect">
            <a:avLst/>
          </a:prstGeom>
          <a:noFill/>
          <a:ln/>
        </p:spPr>
        <p:txBody>
          <a:bodyPr wrap="square" lIns="0" tIns="0" rIns="0" bIns="0" rtlCol="0" anchor="t"/>
          <a:lstStyle/>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function setCookie(name, value, days) {</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  const date = new Date();</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  date.setTime(date.getTime() + days*864e5);</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  document.cookie = name + "=" + value +</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    "; expires=" + date.toUTCString() + "; path=/";</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a:t>
            </a:r>
            <a:endParaRPr lang="en-US" sz="1150" dirty="0"/>
          </a:p>
        </p:txBody>
      </p:sp>
      <p:sp>
        <p:nvSpPr>
          <p:cNvPr id="7" name="Text 5"/>
          <p:cNvSpPr/>
          <p:nvPr/>
        </p:nvSpPr>
        <p:spPr>
          <a:xfrm>
            <a:off x="548640" y="4160520"/>
            <a:ext cx="5486400" cy="32004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auth.js — validasi ganda (localStorage + cookie)</a:t>
            </a:r>
            <a:endParaRPr lang="en-US" sz="1350" dirty="0"/>
          </a:p>
        </p:txBody>
      </p:sp>
      <p:sp>
        <p:nvSpPr>
          <p:cNvPr id="8" name="Shape 6"/>
          <p:cNvSpPr/>
          <p:nvPr/>
        </p:nvSpPr>
        <p:spPr>
          <a:xfrm>
            <a:off x="548640" y="4526280"/>
            <a:ext cx="5486400" cy="1554480"/>
          </a:xfrm>
          <a:prstGeom prst="roundRect">
            <a:avLst>
              <a:gd name="adj" fmla="val 4706"/>
            </a:avLst>
          </a:prstGeom>
          <a:solidFill>
            <a:srgbClr val="151B4D"/>
          </a:solidFill>
          <a:ln/>
          <a:effectLst>
            <a:outerShdw blurRad="101600" dist="38100" dir="5400000" algn="bl" rotWithShape="0">
              <a:srgbClr val="000000">
                <a:alpha val="12000"/>
              </a:srgbClr>
            </a:outerShdw>
          </a:effectLst>
        </p:spPr>
      </p:sp>
      <p:sp>
        <p:nvSpPr>
          <p:cNvPr id="9" name="Text 7"/>
          <p:cNvSpPr/>
          <p:nvPr/>
        </p:nvSpPr>
        <p:spPr>
          <a:xfrm>
            <a:off x="777240" y="4690872"/>
            <a:ext cx="5029200" cy="1225296"/>
          </a:xfrm>
          <a:prstGeom prst="rect">
            <a:avLst/>
          </a:prstGeom>
          <a:noFill/>
          <a:ln/>
        </p:spPr>
        <p:txBody>
          <a:bodyPr wrap="square" lIns="0" tIns="0" rIns="0" bIns="0" rtlCol="0" anchor="t"/>
          <a:lstStyle/>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function isLoggedIn() {</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  return localStorage.getItem(AUTH_KEY) === "true"</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    &amp;&amp; getCookie("kasir_auth") === "true";</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a:t>
            </a:r>
            <a:endParaRPr lang="en-US" sz="1150" dirty="0"/>
          </a:p>
        </p:txBody>
      </p:sp>
      <p:sp>
        <p:nvSpPr>
          <p:cNvPr id="10" name="Text 8"/>
          <p:cNvSpPr/>
          <p:nvPr/>
        </p:nvSpPr>
        <p:spPr>
          <a:xfrm>
            <a:off x="6400800" y="1463040"/>
            <a:ext cx="5212080" cy="32004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main.js / addProduct.js — auth guard di setiap halaman</a:t>
            </a:r>
            <a:endParaRPr lang="en-US" sz="1350" dirty="0"/>
          </a:p>
        </p:txBody>
      </p:sp>
      <p:sp>
        <p:nvSpPr>
          <p:cNvPr id="11" name="Shape 9"/>
          <p:cNvSpPr/>
          <p:nvPr/>
        </p:nvSpPr>
        <p:spPr>
          <a:xfrm>
            <a:off x="6400800" y="1828800"/>
            <a:ext cx="5212080" cy="1691640"/>
          </a:xfrm>
          <a:prstGeom prst="roundRect">
            <a:avLst>
              <a:gd name="adj" fmla="val 4324"/>
            </a:avLst>
          </a:prstGeom>
          <a:solidFill>
            <a:srgbClr val="151B4D"/>
          </a:solidFill>
          <a:ln/>
          <a:effectLst>
            <a:outerShdw blurRad="101600" dist="38100" dir="5400000" algn="bl" rotWithShape="0">
              <a:srgbClr val="000000">
                <a:alpha val="12000"/>
              </a:srgbClr>
            </a:outerShdw>
          </a:effectLst>
        </p:spPr>
      </p:sp>
      <p:sp>
        <p:nvSpPr>
          <p:cNvPr id="12" name="Text 10"/>
          <p:cNvSpPr/>
          <p:nvPr/>
        </p:nvSpPr>
        <p:spPr>
          <a:xfrm>
            <a:off x="6629400" y="1993392"/>
            <a:ext cx="4754880" cy="1362456"/>
          </a:xfrm>
          <a:prstGeom prst="rect">
            <a:avLst/>
          </a:prstGeom>
          <a:noFill/>
          <a:ln/>
        </p:spPr>
        <p:txBody>
          <a:bodyPr wrap="square" lIns="0" tIns="0" rIns="0" bIns="0" rtlCol="0" anchor="t"/>
          <a:lstStyle/>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(function authGuard() {</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  if (!isLoggedIn()) {</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    window.location.href = "login.html";</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  }</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a:t>
            </a:r>
            <a:endParaRPr lang="en-US" sz="1200" dirty="0"/>
          </a:p>
        </p:txBody>
      </p:sp>
      <p:sp>
        <p:nvSpPr>
          <p:cNvPr id="13" name="Shape 11"/>
          <p:cNvSpPr/>
          <p:nvPr/>
        </p:nvSpPr>
        <p:spPr>
          <a:xfrm>
            <a:off x="6400800" y="3657600"/>
            <a:ext cx="5212080" cy="2377440"/>
          </a:xfrm>
          <a:prstGeom prst="roundRect">
            <a:avLst>
              <a:gd name="adj" fmla="val 3846"/>
            </a:avLst>
          </a:prstGeom>
          <a:solidFill>
            <a:srgbClr val="EAF0FC"/>
          </a:solidFill>
          <a:ln/>
          <a:effectLst>
            <a:outerShdw blurRad="101600" dist="38100" dir="5400000" algn="bl" rotWithShape="0">
              <a:srgbClr val="000000">
                <a:alpha val="12000"/>
              </a:srgbClr>
            </a:outerShdw>
          </a:effectLst>
        </p:spPr>
      </p:sp>
      <p:sp>
        <p:nvSpPr>
          <p:cNvPr id="14" name="Shape 12"/>
          <p:cNvSpPr/>
          <p:nvPr/>
        </p:nvSpPr>
        <p:spPr>
          <a:xfrm>
            <a:off x="6629400" y="3840480"/>
            <a:ext cx="457200" cy="457200"/>
          </a:xfrm>
          <a:prstGeom prst="ellipse">
            <a:avLst/>
          </a:prstGeom>
          <a:solidFill>
            <a:srgbClr val="F2A900"/>
          </a:solidFill>
          <a:ln/>
        </p:spPr>
      </p:sp>
      <p:pic>
        <p:nvPicPr>
          <p:cNvPr id="15" name="Image 0" descr="/home/claude/kasir-ppt/icons/bug_white.png"/>
          <p:cNvPicPr>
            <a:picLocks noChangeAspect="1"/>
          </p:cNvPicPr>
          <p:nvPr/>
        </p:nvPicPr>
        <p:blipFill>
          <a:blip r:embed="rId3"/>
          <a:stretch>
            <a:fillRect/>
          </a:stretch>
        </p:blipFill>
        <p:spPr>
          <a:xfrm>
            <a:off x="6732270" y="3943350"/>
            <a:ext cx="251460" cy="251460"/>
          </a:xfrm>
          <a:prstGeom prst="rect">
            <a:avLst/>
          </a:prstGeom>
        </p:spPr>
      </p:pic>
      <p:sp>
        <p:nvSpPr>
          <p:cNvPr id="16" name="Text 13"/>
          <p:cNvSpPr/>
          <p:nvPr/>
        </p:nvSpPr>
        <p:spPr>
          <a:xfrm>
            <a:off x="6629400" y="4370832"/>
            <a:ext cx="4754880" cy="32004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Kenapa dicek dua kali?</a:t>
            </a:r>
            <a:endParaRPr lang="en-US" sz="1350" dirty="0"/>
          </a:p>
        </p:txBody>
      </p:sp>
      <p:sp>
        <p:nvSpPr>
          <p:cNvPr id="17" name="Text 14"/>
          <p:cNvSpPr/>
          <p:nvPr/>
        </p:nvSpPr>
        <p:spPr>
          <a:xfrm>
            <a:off x="6629400" y="4709160"/>
            <a:ext cx="4754880" cy="123444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1B1F3B"/>
                </a:solidFill>
                <a:latin typeface="Calibri" pitchFamily="34" charset="0"/>
                <a:ea typeface="Calibri" pitchFamily="34" charset="-122"/>
                <a:cs typeface="Calibri" pitchFamily="34" charset="-120"/>
              </a:rPr>
              <a:t>Konsisten antara localStorage dan cookie mencegah celah jika salah satunya dihapus manual.</a:t>
            </a:r>
            <a:endParaRPr lang="en-US" sz="1150" dirty="0"/>
          </a:p>
          <a:p>
            <a:pPr marL="342900" indent="-342900">
              <a:spcAft>
                <a:spcPts val="600"/>
              </a:spcAft>
              <a:buSzPct val="100000"/>
              <a:buChar char="•"/>
            </a:pPr>
            <a:r>
              <a:rPr lang="en-US" sz="1150" dirty="0">
                <a:solidFill>
                  <a:srgbClr val="1B1F3B"/>
                </a:solidFill>
                <a:latin typeface="Calibri" pitchFamily="34" charset="0"/>
                <a:ea typeface="Calibri" pitchFamily="34" charset="-122"/>
                <a:cs typeface="Calibri" pitchFamily="34" charset="-120"/>
              </a:rPr>
              <a:t>IIFE (Immediately Invoked Function Expression) dijalankan otomatis saat script dimuat — tidak perlu dipanggil manual.</a:t>
            </a:r>
            <a:endParaRPr lang="en-US" sz="1150" dirty="0"/>
          </a:p>
        </p:txBody>
      </p:sp>
      <p:sp>
        <p:nvSpPr>
          <p:cNvPr id="18" name="Text 15"/>
          <p:cNvSpPr/>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5B6688"/>
                </a:solidFill>
                <a:latin typeface="Calibri" pitchFamily="34" charset="0"/>
                <a:ea typeface="Calibri" pitchFamily="34" charset="-122"/>
                <a:cs typeface="Calibri" pitchFamily="34" charset="-120"/>
              </a:rPr>
              <a:t>Kasir Web Apps  |  Kelompok 5</a:t>
            </a:r>
            <a:endParaRPr lang="en-US" sz="900" dirty="0"/>
          </a:p>
        </p:txBody>
      </p:sp>
      <p:sp>
        <p:nvSpPr>
          <p:cNvPr id="19" name="Text 16"/>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B668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F2A900"/>
                </a:solidFill>
                <a:latin typeface="Calibri" pitchFamily="34" charset="0"/>
                <a:ea typeface="Calibri" pitchFamily="34" charset="-122"/>
                <a:cs typeface="Calibri" pitchFamily="34" charset="-120"/>
              </a:rPr>
              <a:t>LOGIKA PROGRAM</a:t>
            </a:r>
            <a:endParaRPr lang="en-US" sz="13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Alur Proses Dari Project Yang Dibuat</a:t>
            </a:r>
            <a:endParaRPr lang="en-US" sz="3000" dirty="0"/>
          </a:p>
        </p:txBody>
      </p:sp>
      <p:sp>
        <p:nvSpPr>
          <p:cNvPr id="4" name="Text 2"/>
          <p:cNvSpPr/>
          <p:nvPr/>
        </p:nvSpPr>
        <p:spPr>
          <a:xfrm>
            <a:off x="548640" y="1188720"/>
            <a:ext cx="9144000" cy="320040"/>
          </a:xfrm>
          <a:prstGeom prst="rect">
            <a:avLst/>
          </a:prstGeom>
          <a:noFill/>
          <a:ln/>
        </p:spPr>
        <p:txBody>
          <a:bodyPr wrap="square" lIns="0" tIns="0" rIns="0" bIns="0"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Dari Buka Aplikasi sampai Struk Diunduh</a:t>
            </a:r>
            <a:endParaRPr lang="en-US" sz="1400" dirty="0"/>
          </a:p>
        </p:txBody>
      </p:sp>
      <p:sp>
        <p:nvSpPr>
          <p:cNvPr id="5" name="Shape 3"/>
          <p:cNvSpPr/>
          <p:nvPr/>
        </p:nvSpPr>
        <p:spPr>
          <a:xfrm>
            <a:off x="502920" y="2103120"/>
            <a:ext cx="1783080" cy="2331720"/>
          </a:xfrm>
          <a:prstGeom prst="roundRect">
            <a:avLst>
              <a:gd name="adj" fmla="val 5128"/>
            </a:avLst>
          </a:prstGeom>
          <a:solidFill>
            <a:srgbClr val="151B4D"/>
          </a:solidFill>
          <a:ln/>
          <a:effectLst>
            <a:outerShdw blurRad="101600" dist="38100" dir="5400000" algn="bl" rotWithShape="0">
              <a:srgbClr val="000000">
                <a:alpha val="12000"/>
              </a:srgbClr>
            </a:outerShdw>
          </a:effectLst>
        </p:spPr>
      </p:sp>
      <p:sp>
        <p:nvSpPr>
          <p:cNvPr id="6" name="Shape 4"/>
          <p:cNvSpPr/>
          <p:nvPr/>
        </p:nvSpPr>
        <p:spPr>
          <a:xfrm>
            <a:off x="1138428" y="2331720"/>
            <a:ext cx="512064" cy="512064"/>
          </a:xfrm>
          <a:prstGeom prst="ellipse">
            <a:avLst/>
          </a:prstGeom>
          <a:solidFill>
            <a:srgbClr val="F2A900"/>
          </a:solidFill>
          <a:ln/>
        </p:spPr>
      </p:sp>
      <p:sp>
        <p:nvSpPr>
          <p:cNvPr id="7" name="Text 5"/>
          <p:cNvSpPr/>
          <p:nvPr/>
        </p:nvSpPr>
        <p:spPr>
          <a:xfrm>
            <a:off x="1138428" y="2331720"/>
            <a:ext cx="512064" cy="512064"/>
          </a:xfrm>
          <a:prstGeom prst="rect">
            <a:avLst/>
          </a:prstGeom>
          <a:noFill/>
          <a:ln/>
        </p:spPr>
        <p:txBody>
          <a:bodyPr wrap="square" lIns="0" tIns="0" rIns="0" bIns="0" rtlCol="0" anchor="ctr"/>
          <a:lstStyle/>
          <a:p>
            <a:pPr marL="0" indent="0" algn="ctr">
              <a:buNone/>
            </a:pPr>
            <a:r>
              <a:rPr lang="en-US" sz="1600" b="1" dirty="0">
                <a:solidFill>
                  <a:srgbClr val="151B4D"/>
                </a:solidFill>
                <a:latin typeface="Cambria" pitchFamily="34" charset="0"/>
                <a:ea typeface="Cambria" pitchFamily="34" charset="-122"/>
                <a:cs typeface="Cambria" pitchFamily="34" charset="-120"/>
              </a:rPr>
              <a:t>1</a:t>
            </a:r>
            <a:endParaRPr lang="en-US" sz="1600" dirty="0"/>
          </a:p>
        </p:txBody>
      </p:sp>
      <p:pic>
        <p:nvPicPr>
          <p:cNvPr id="8" name="Image 0" descr="/home/claude/kasir-ppt/icons/lock_white.png"/>
          <p:cNvPicPr>
            <a:picLocks noChangeAspect="1"/>
          </p:cNvPicPr>
          <p:nvPr/>
        </p:nvPicPr>
        <p:blipFill>
          <a:blip r:embed="rId3"/>
          <a:stretch>
            <a:fillRect/>
          </a:stretch>
        </p:blipFill>
        <p:spPr>
          <a:xfrm>
            <a:off x="1229868" y="2971800"/>
            <a:ext cx="329184" cy="329184"/>
          </a:xfrm>
          <a:prstGeom prst="rect">
            <a:avLst/>
          </a:prstGeom>
        </p:spPr>
      </p:pic>
      <p:sp>
        <p:nvSpPr>
          <p:cNvPr id="9" name="Text 6"/>
          <p:cNvSpPr/>
          <p:nvPr/>
        </p:nvSpPr>
        <p:spPr>
          <a:xfrm>
            <a:off x="594360" y="3383280"/>
            <a:ext cx="160020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Login</a:t>
            </a:r>
            <a:endParaRPr lang="en-US" sz="1300" dirty="0"/>
          </a:p>
        </p:txBody>
      </p:sp>
      <p:sp>
        <p:nvSpPr>
          <p:cNvPr id="10" name="Text 7"/>
          <p:cNvSpPr/>
          <p:nvPr/>
        </p:nvSpPr>
        <p:spPr>
          <a:xfrm>
            <a:off x="612648" y="3703320"/>
            <a:ext cx="1563624" cy="685800"/>
          </a:xfrm>
          <a:prstGeom prst="rect">
            <a:avLst/>
          </a:prstGeom>
          <a:noFill/>
          <a:ln/>
        </p:spPr>
        <p:txBody>
          <a:bodyPr wrap="square" lIns="0" tIns="0" rIns="0" bIns="0"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Validasi kredensial, simpan sesi</a:t>
            </a:r>
            <a:endParaRPr lang="en-US" sz="950" dirty="0"/>
          </a:p>
        </p:txBody>
      </p:sp>
      <p:pic>
        <p:nvPicPr>
          <p:cNvPr id="11" name="Image 1" descr="/home/claude/kasir-ppt/icons/arrow_white.png"/>
          <p:cNvPicPr>
            <a:picLocks noChangeAspect="1"/>
          </p:cNvPicPr>
          <p:nvPr/>
        </p:nvPicPr>
        <p:blipFill>
          <a:blip r:embed="rId4"/>
          <a:stretch>
            <a:fillRect/>
          </a:stretch>
        </p:blipFill>
        <p:spPr>
          <a:xfrm>
            <a:off x="2295144" y="3177540"/>
            <a:ext cx="146304" cy="182880"/>
          </a:xfrm>
          <a:prstGeom prst="rect">
            <a:avLst/>
          </a:prstGeom>
        </p:spPr>
      </p:pic>
      <p:sp>
        <p:nvSpPr>
          <p:cNvPr id="12" name="Shape 8"/>
          <p:cNvSpPr/>
          <p:nvPr/>
        </p:nvSpPr>
        <p:spPr>
          <a:xfrm>
            <a:off x="2450592" y="2103120"/>
            <a:ext cx="1783080" cy="2331720"/>
          </a:xfrm>
          <a:prstGeom prst="roundRect">
            <a:avLst>
              <a:gd name="adj" fmla="val 5128"/>
            </a:avLst>
          </a:prstGeom>
          <a:solidFill>
            <a:srgbClr val="151B4D"/>
          </a:solidFill>
          <a:ln/>
          <a:effectLst>
            <a:outerShdw blurRad="101600" dist="38100" dir="5400000" algn="bl" rotWithShape="0">
              <a:srgbClr val="000000">
                <a:alpha val="12000"/>
              </a:srgbClr>
            </a:outerShdw>
          </a:effectLst>
        </p:spPr>
      </p:sp>
      <p:sp>
        <p:nvSpPr>
          <p:cNvPr id="13" name="Shape 9"/>
          <p:cNvSpPr/>
          <p:nvPr/>
        </p:nvSpPr>
        <p:spPr>
          <a:xfrm>
            <a:off x="3086100" y="2331720"/>
            <a:ext cx="512064" cy="512064"/>
          </a:xfrm>
          <a:prstGeom prst="ellipse">
            <a:avLst/>
          </a:prstGeom>
          <a:solidFill>
            <a:srgbClr val="F2A900"/>
          </a:solidFill>
          <a:ln/>
        </p:spPr>
      </p:sp>
      <p:sp>
        <p:nvSpPr>
          <p:cNvPr id="14" name="Text 10"/>
          <p:cNvSpPr/>
          <p:nvPr/>
        </p:nvSpPr>
        <p:spPr>
          <a:xfrm>
            <a:off x="3086100" y="2331720"/>
            <a:ext cx="512064" cy="512064"/>
          </a:xfrm>
          <a:prstGeom prst="rect">
            <a:avLst/>
          </a:prstGeom>
          <a:noFill/>
          <a:ln/>
        </p:spPr>
        <p:txBody>
          <a:bodyPr wrap="square" lIns="0" tIns="0" rIns="0" bIns="0" rtlCol="0" anchor="ctr"/>
          <a:lstStyle/>
          <a:p>
            <a:pPr marL="0" indent="0" algn="ctr">
              <a:buNone/>
            </a:pPr>
            <a:r>
              <a:rPr lang="en-US" sz="1600" b="1" dirty="0">
                <a:solidFill>
                  <a:srgbClr val="151B4D"/>
                </a:solidFill>
                <a:latin typeface="Cambria" pitchFamily="34" charset="0"/>
                <a:ea typeface="Cambria" pitchFamily="34" charset="-122"/>
                <a:cs typeface="Cambria" pitchFamily="34" charset="-120"/>
              </a:rPr>
              <a:t>2</a:t>
            </a:r>
            <a:endParaRPr lang="en-US" sz="1600" dirty="0"/>
          </a:p>
        </p:txBody>
      </p:sp>
      <p:pic>
        <p:nvPicPr>
          <p:cNvPr id="15" name="Image 2" descr="/home/claude/kasir-ppt/icons/database_white.png"/>
          <p:cNvPicPr>
            <a:picLocks noChangeAspect="1"/>
          </p:cNvPicPr>
          <p:nvPr/>
        </p:nvPicPr>
        <p:blipFill>
          <a:blip r:embed="rId5"/>
          <a:stretch>
            <a:fillRect/>
          </a:stretch>
        </p:blipFill>
        <p:spPr>
          <a:xfrm>
            <a:off x="3177540" y="2971800"/>
            <a:ext cx="329184" cy="329184"/>
          </a:xfrm>
          <a:prstGeom prst="rect">
            <a:avLst/>
          </a:prstGeom>
        </p:spPr>
      </p:pic>
      <p:sp>
        <p:nvSpPr>
          <p:cNvPr id="16" name="Text 11"/>
          <p:cNvSpPr/>
          <p:nvPr/>
        </p:nvSpPr>
        <p:spPr>
          <a:xfrm>
            <a:off x="2542032" y="3383280"/>
            <a:ext cx="160020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Load Menu</a:t>
            </a:r>
            <a:endParaRPr lang="en-US" sz="1300" dirty="0"/>
          </a:p>
        </p:txBody>
      </p:sp>
      <p:sp>
        <p:nvSpPr>
          <p:cNvPr id="17" name="Text 12"/>
          <p:cNvSpPr/>
          <p:nvPr/>
        </p:nvSpPr>
        <p:spPr>
          <a:xfrm>
            <a:off x="2560320" y="3703320"/>
            <a:ext cx="1563624" cy="685800"/>
          </a:xfrm>
          <a:prstGeom prst="rect">
            <a:avLst/>
          </a:prstGeom>
          <a:noFill/>
          <a:ln/>
        </p:spPr>
        <p:txBody>
          <a:bodyPr wrap="square" lIns="0" tIns="0" rIns="0" bIns="0"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fetch() menu.json + gabung produk custom</a:t>
            </a:r>
            <a:endParaRPr lang="en-US" sz="950" dirty="0"/>
          </a:p>
        </p:txBody>
      </p:sp>
      <p:pic>
        <p:nvPicPr>
          <p:cNvPr id="18" name="Image 3" descr="/home/claude/kasir-ppt/icons/arrow_white.png"/>
          <p:cNvPicPr>
            <a:picLocks noChangeAspect="1"/>
          </p:cNvPicPr>
          <p:nvPr/>
        </p:nvPicPr>
        <p:blipFill>
          <a:blip r:embed="rId4"/>
          <a:stretch>
            <a:fillRect/>
          </a:stretch>
        </p:blipFill>
        <p:spPr>
          <a:xfrm>
            <a:off x="4242816" y="3177540"/>
            <a:ext cx="146304" cy="182880"/>
          </a:xfrm>
          <a:prstGeom prst="rect">
            <a:avLst/>
          </a:prstGeom>
        </p:spPr>
      </p:pic>
      <p:sp>
        <p:nvSpPr>
          <p:cNvPr id="19" name="Shape 13"/>
          <p:cNvSpPr/>
          <p:nvPr/>
        </p:nvSpPr>
        <p:spPr>
          <a:xfrm>
            <a:off x="4398264" y="2103120"/>
            <a:ext cx="1783080" cy="2331720"/>
          </a:xfrm>
          <a:prstGeom prst="roundRect">
            <a:avLst>
              <a:gd name="adj" fmla="val 5128"/>
            </a:avLst>
          </a:prstGeom>
          <a:solidFill>
            <a:srgbClr val="151B4D"/>
          </a:solidFill>
          <a:ln/>
          <a:effectLst>
            <a:outerShdw blurRad="101600" dist="38100" dir="5400000" algn="bl" rotWithShape="0">
              <a:srgbClr val="000000">
                <a:alpha val="12000"/>
              </a:srgbClr>
            </a:outerShdw>
          </a:effectLst>
        </p:spPr>
      </p:sp>
      <p:sp>
        <p:nvSpPr>
          <p:cNvPr id="20" name="Shape 14"/>
          <p:cNvSpPr/>
          <p:nvPr/>
        </p:nvSpPr>
        <p:spPr>
          <a:xfrm>
            <a:off x="5033772" y="2331720"/>
            <a:ext cx="512064" cy="512064"/>
          </a:xfrm>
          <a:prstGeom prst="ellipse">
            <a:avLst/>
          </a:prstGeom>
          <a:solidFill>
            <a:srgbClr val="F2A900"/>
          </a:solidFill>
          <a:ln/>
        </p:spPr>
      </p:sp>
      <p:sp>
        <p:nvSpPr>
          <p:cNvPr id="21" name="Text 15"/>
          <p:cNvSpPr/>
          <p:nvPr/>
        </p:nvSpPr>
        <p:spPr>
          <a:xfrm>
            <a:off x="5033772" y="2331720"/>
            <a:ext cx="512064" cy="512064"/>
          </a:xfrm>
          <a:prstGeom prst="rect">
            <a:avLst/>
          </a:prstGeom>
          <a:noFill/>
          <a:ln/>
        </p:spPr>
        <p:txBody>
          <a:bodyPr wrap="square" lIns="0" tIns="0" rIns="0" bIns="0" rtlCol="0" anchor="ctr"/>
          <a:lstStyle/>
          <a:p>
            <a:pPr marL="0" indent="0" algn="ctr">
              <a:buNone/>
            </a:pPr>
            <a:r>
              <a:rPr lang="en-US" sz="1600" b="1" dirty="0">
                <a:solidFill>
                  <a:srgbClr val="151B4D"/>
                </a:solidFill>
                <a:latin typeface="Cambria" pitchFamily="34" charset="0"/>
                <a:ea typeface="Cambria" pitchFamily="34" charset="-122"/>
                <a:cs typeface="Cambria" pitchFamily="34" charset="-120"/>
              </a:rPr>
              <a:t>3</a:t>
            </a:r>
            <a:endParaRPr lang="en-US" sz="1600" dirty="0"/>
          </a:p>
        </p:txBody>
      </p:sp>
      <p:pic>
        <p:nvPicPr>
          <p:cNvPr id="22" name="Image 4" descr="/home/claude/kasir-ppt/icons/cart_white.png"/>
          <p:cNvPicPr>
            <a:picLocks noChangeAspect="1"/>
          </p:cNvPicPr>
          <p:nvPr/>
        </p:nvPicPr>
        <p:blipFill>
          <a:blip r:embed="rId6"/>
          <a:stretch>
            <a:fillRect/>
          </a:stretch>
        </p:blipFill>
        <p:spPr>
          <a:xfrm>
            <a:off x="5125212" y="2971800"/>
            <a:ext cx="329184" cy="329184"/>
          </a:xfrm>
          <a:prstGeom prst="rect">
            <a:avLst/>
          </a:prstGeom>
        </p:spPr>
      </p:pic>
      <p:sp>
        <p:nvSpPr>
          <p:cNvPr id="23" name="Text 16"/>
          <p:cNvSpPr/>
          <p:nvPr/>
        </p:nvSpPr>
        <p:spPr>
          <a:xfrm>
            <a:off x="4489704" y="3383280"/>
            <a:ext cx="160020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Tambah ke Cart</a:t>
            </a:r>
            <a:endParaRPr lang="en-US" sz="1300" dirty="0"/>
          </a:p>
        </p:txBody>
      </p:sp>
      <p:sp>
        <p:nvSpPr>
          <p:cNvPr id="24" name="Text 17"/>
          <p:cNvSpPr/>
          <p:nvPr/>
        </p:nvSpPr>
        <p:spPr>
          <a:xfrm>
            <a:off x="4507992" y="3703320"/>
            <a:ext cx="1563624" cy="685800"/>
          </a:xfrm>
          <a:prstGeom prst="rect">
            <a:avLst/>
          </a:prstGeom>
          <a:noFill/>
          <a:ln/>
        </p:spPr>
        <p:txBody>
          <a:bodyPr wrap="square" lIns="0" tIns="0" rIns="0" bIns="0"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Klik "Add to cart" → simpan ke localStorage</a:t>
            </a:r>
            <a:endParaRPr lang="en-US" sz="950" dirty="0"/>
          </a:p>
        </p:txBody>
      </p:sp>
      <p:pic>
        <p:nvPicPr>
          <p:cNvPr id="25" name="Image 5" descr="/home/claude/kasir-ppt/icons/arrow_white.png"/>
          <p:cNvPicPr>
            <a:picLocks noChangeAspect="1"/>
          </p:cNvPicPr>
          <p:nvPr/>
        </p:nvPicPr>
        <p:blipFill>
          <a:blip r:embed="rId4"/>
          <a:stretch>
            <a:fillRect/>
          </a:stretch>
        </p:blipFill>
        <p:spPr>
          <a:xfrm>
            <a:off x="6190488" y="3177540"/>
            <a:ext cx="146304" cy="182880"/>
          </a:xfrm>
          <a:prstGeom prst="rect">
            <a:avLst/>
          </a:prstGeom>
        </p:spPr>
      </p:pic>
      <p:sp>
        <p:nvSpPr>
          <p:cNvPr id="26" name="Shape 18"/>
          <p:cNvSpPr/>
          <p:nvPr/>
        </p:nvSpPr>
        <p:spPr>
          <a:xfrm>
            <a:off x="6345936" y="2103120"/>
            <a:ext cx="1783080" cy="2331720"/>
          </a:xfrm>
          <a:prstGeom prst="roundRect">
            <a:avLst>
              <a:gd name="adj" fmla="val 5128"/>
            </a:avLst>
          </a:prstGeom>
          <a:solidFill>
            <a:srgbClr val="151B4D"/>
          </a:solidFill>
          <a:ln/>
          <a:effectLst>
            <a:outerShdw blurRad="101600" dist="38100" dir="5400000" algn="bl" rotWithShape="0">
              <a:srgbClr val="000000">
                <a:alpha val="12000"/>
              </a:srgbClr>
            </a:outerShdw>
          </a:effectLst>
        </p:spPr>
      </p:sp>
      <p:sp>
        <p:nvSpPr>
          <p:cNvPr id="27" name="Shape 19"/>
          <p:cNvSpPr/>
          <p:nvPr/>
        </p:nvSpPr>
        <p:spPr>
          <a:xfrm>
            <a:off x="6981444" y="2331720"/>
            <a:ext cx="512064" cy="512064"/>
          </a:xfrm>
          <a:prstGeom prst="ellipse">
            <a:avLst/>
          </a:prstGeom>
          <a:solidFill>
            <a:srgbClr val="F2A900"/>
          </a:solidFill>
          <a:ln/>
        </p:spPr>
      </p:sp>
      <p:sp>
        <p:nvSpPr>
          <p:cNvPr id="28" name="Text 20"/>
          <p:cNvSpPr/>
          <p:nvPr/>
        </p:nvSpPr>
        <p:spPr>
          <a:xfrm>
            <a:off x="6981444" y="2331720"/>
            <a:ext cx="512064" cy="512064"/>
          </a:xfrm>
          <a:prstGeom prst="rect">
            <a:avLst/>
          </a:prstGeom>
          <a:noFill/>
          <a:ln/>
        </p:spPr>
        <p:txBody>
          <a:bodyPr wrap="square" lIns="0" tIns="0" rIns="0" bIns="0" rtlCol="0" anchor="ctr"/>
          <a:lstStyle/>
          <a:p>
            <a:pPr marL="0" indent="0" algn="ctr">
              <a:buNone/>
            </a:pPr>
            <a:r>
              <a:rPr lang="en-US" sz="1600" b="1" dirty="0">
                <a:solidFill>
                  <a:srgbClr val="151B4D"/>
                </a:solidFill>
                <a:latin typeface="Cambria" pitchFamily="34" charset="0"/>
                <a:ea typeface="Cambria" pitchFamily="34" charset="-122"/>
                <a:cs typeface="Cambria" pitchFamily="34" charset="-120"/>
              </a:rPr>
              <a:t>4</a:t>
            </a:r>
            <a:endParaRPr lang="en-US" sz="1600" dirty="0"/>
          </a:p>
        </p:txBody>
      </p:sp>
      <p:pic>
        <p:nvPicPr>
          <p:cNvPr id="29" name="Image 6" descr="/home/claude/kasir-ppt/icons/sync_white.png"/>
          <p:cNvPicPr>
            <a:picLocks noChangeAspect="1"/>
          </p:cNvPicPr>
          <p:nvPr/>
        </p:nvPicPr>
        <p:blipFill>
          <a:blip r:embed="rId7"/>
          <a:stretch>
            <a:fillRect/>
          </a:stretch>
        </p:blipFill>
        <p:spPr>
          <a:xfrm>
            <a:off x="7072884" y="2971800"/>
            <a:ext cx="329184" cy="329184"/>
          </a:xfrm>
          <a:prstGeom prst="rect">
            <a:avLst/>
          </a:prstGeom>
        </p:spPr>
      </p:pic>
      <p:sp>
        <p:nvSpPr>
          <p:cNvPr id="30" name="Text 21"/>
          <p:cNvSpPr/>
          <p:nvPr/>
        </p:nvSpPr>
        <p:spPr>
          <a:xfrm>
            <a:off x="6437376" y="3383280"/>
            <a:ext cx="160020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Atur Qty</a:t>
            </a:r>
            <a:endParaRPr lang="en-US" sz="1300" dirty="0"/>
          </a:p>
        </p:txBody>
      </p:sp>
      <p:sp>
        <p:nvSpPr>
          <p:cNvPr id="31" name="Text 22"/>
          <p:cNvSpPr/>
          <p:nvPr/>
        </p:nvSpPr>
        <p:spPr>
          <a:xfrm>
            <a:off x="6455664" y="3703320"/>
            <a:ext cx="1563624" cy="685800"/>
          </a:xfrm>
          <a:prstGeom prst="rect">
            <a:avLst/>
          </a:prstGeom>
          <a:noFill/>
          <a:ln/>
        </p:spPr>
        <p:txBody>
          <a:bodyPr wrap="square" lIns="0" tIns="0" rIns="0" bIns="0"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Tombol +/− mengubah qty &amp; subtotal real-time</a:t>
            </a:r>
            <a:endParaRPr lang="en-US" sz="950" dirty="0"/>
          </a:p>
        </p:txBody>
      </p:sp>
      <p:pic>
        <p:nvPicPr>
          <p:cNvPr id="32" name="Image 7" descr="/home/claude/kasir-ppt/icons/arrow_white.png"/>
          <p:cNvPicPr>
            <a:picLocks noChangeAspect="1"/>
          </p:cNvPicPr>
          <p:nvPr/>
        </p:nvPicPr>
        <p:blipFill>
          <a:blip r:embed="rId4"/>
          <a:stretch>
            <a:fillRect/>
          </a:stretch>
        </p:blipFill>
        <p:spPr>
          <a:xfrm>
            <a:off x="8138160" y="3177540"/>
            <a:ext cx="146304" cy="182880"/>
          </a:xfrm>
          <a:prstGeom prst="rect">
            <a:avLst/>
          </a:prstGeom>
        </p:spPr>
      </p:pic>
      <p:sp>
        <p:nvSpPr>
          <p:cNvPr id="33" name="Shape 23"/>
          <p:cNvSpPr/>
          <p:nvPr/>
        </p:nvSpPr>
        <p:spPr>
          <a:xfrm>
            <a:off x="8293608" y="2103120"/>
            <a:ext cx="1783080" cy="2331720"/>
          </a:xfrm>
          <a:prstGeom prst="roundRect">
            <a:avLst>
              <a:gd name="adj" fmla="val 5128"/>
            </a:avLst>
          </a:prstGeom>
          <a:solidFill>
            <a:srgbClr val="151B4D"/>
          </a:solidFill>
          <a:ln/>
          <a:effectLst>
            <a:outerShdw blurRad="101600" dist="38100" dir="5400000" algn="bl" rotWithShape="0">
              <a:srgbClr val="000000">
                <a:alpha val="12000"/>
              </a:srgbClr>
            </a:outerShdw>
          </a:effectLst>
        </p:spPr>
      </p:sp>
      <p:sp>
        <p:nvSpPr>
          <p:cNvPr id="34" name="Shape 24"/>
          <p:cNvSpPr/>
          <p:nvPr/>
        </p:nvSpPr>
        <p:spPr>
          <a:xfrm>
            <a:off x="8929116" y="2331720"/>
            <a:ext cx="512064" cy="512064"/>
          </a:xfrm>
          <a:prstGeom prst="ellipse">
            <a:avLst/>
          </a:prstGeom>
          <a:solidFill>
            <a:srgbClr val="F2A900"/>
          </a:solidFill>
          <a:ln/>
        </p:spPr>
      </p:sp>
      <p:sp>
        <p:nvSpPr>
          <p:cNvPr id="35" name="Text 25"/>
          <p:cNvSpPr/>
          <p:nvPr/>
        </p:nvSpPr>
        <p:spPr>
          <a:xfrm>
            <a:off x="8929116" y="2331720"/>
            <a:ext cx="512064" cy="512064"/>
          </a:xfrm>
          <a:prstGeom prst="rect">
            <a:avLst/>
          </a:prstGeom>
          <a:noFill/>
          <a:ln/>
        </p:spPr>
        <p:txBody>
          <a:bodyPr wrap="square" lIns="0" tIns="0" rIns="0" bIns="0" rtlCol="0" anchor="ctr"/>
          <a:lstStyle/>
          <a:p>
            <a:pPr marL="0" indent="0" algn="ctr">
              <a:buNone/>
            </a:pPr>
            <a:r>
              <a:rPr lang="en-US" sz="1600" b="1" dirty="0">
                <a:solidFill>
                  <a:srgbClr val="151B4D"/>
                </a:solidFill>
                <a:latin typeface="Cambria" pitchFamily="34" charset="0"/>
                <a:ea typeface="Cambria" pitchFamily="34" charset="-122"/>
                <a:cs typeface="Cambria" pitchFamily="34" charset="-120"/>
              </a:rPr>
              <a:t>5</a:t>
            </a:r>
            <a:endParaRPr lang="en-US" sz="1600" dirty="0"/>
          </a:p>
        </p:txBody>
      </p:sp>
      <p:pic>
        <p:nvPicPr>
          <p:cNvPr id="36" name="Image 8" descr="/home/claude/kasir-ppt/icons/invoice_white.png"/>
          <p:cNvPicPr>
            <a:picLocks noChangeAspect="1"/>
          </p:cNvPicPr>
          <p:nvPr/>
        </p:nvPicPr>
        <p:blipFill>
          <a:blip r:embed="rId8"/>
          <a:stretch>
            <a:fillRect/>
          </a:stretch>
        </p:blipFill>
        <p:spPr>
          <a:xfrm>
            <a:off x="9020556" y="2971800"/>
            <a:ext cx="329184" cy="329184"/>
          </a:xfrm>
          <a:prstGeom prst="rect">
            <a:avLst/>
          </a:prstGeom>
        </p:spPr>
      </p:pic>
      <p:sp>
        <p:nvSpPr>
          <p:cNvPr id="37" name="Text 26"/>
          <p:cNvSpPr/>
          <p:nvPr/>
        </p:nvSpPr>
        <p:spPr>
          <a:xfrm>
            <a:off x="8385048" y="3383280"/>
            <a:ext cx="160020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Proses Bayar</a:t>
            </a:r>
            <a:endParaRPr lang="en-US" sz="1300" dirty="0"/>
          </a:p>
        </p:txBody>
      </p:sp>
      <p:sp>
        <p:nvSpPr>
          <p:cNvPr id="38" name="Text 27"/>
          <p:cNvSpPr/>
          <p:nvPr/>
        </p:nvSpPr>
        <p:spPr>
          <a:xfrm>
            <a:off x="8403336" y="3703320"/>
            <a:ext cx="1563624" cy="685800"/>
          </a:xfrm>
          <a:prstGeom prst="rect">
            <a:avLst/>
          </a:prstGeom>
          <a:noFill/>
          <a:ln/>
        </p:spPr>
        <p:txBody>
          <a:bodyPr wrap="square" lIns="0" tIns="0" rIns="0" bIns="0"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Hitung diskon, PPN 10%, total &amp; kembalian</a:t>
            </a:r>
            <a:endParaRPr lang="en-US" sz="950" dirty="0"/>
          </a:p>
        </p:txBody>
      </p:sp>
      <p:pic>
        <p:nvPicPr>
          <p:cNvPr id="39" name="Image 9" descr="/home/claude/kasir-ppt/icons/arrow_white.png"/>
          <p:cNvPicPr>
            <a:picLocks noChangeAspect="1"/>
          </p:cNvPicPr>
          <p:nvPr/>
        </p:nvPicPr>
        <p:blipFill>
          <a:blip r:embed="rId4"/>
          <a:stretch>
            <a:fillRect/>
          </a:stretch>
        </p:blipFill>
        <p:spPr>
          <a:xfrm>
            <a:off x="10085832" y="3177540"/>
            <a:ext cx="146304" cy="182880"/>
          </a:xfrm>
          <a:prstGeom prst="rect">
            <a:avLst/>
          </a:prstGeom>
        </p:spPr>
      </p:pic>
      <p:sp>
        <p:nvSpPr>
          <p:cNvPr id="40" name="Shape 28"/>
          <p:cNvSpPr/>
          <p:nvPr/>
        </p:nvSpPr>
        <p:spPr>
          <a:xfrm>
            <a:off x="10241280" y="2103120"/>
            <a:ext cx="1783080" cy="2331720"/>
          </a:xfrm>
          <a:prstGeom prst="roundRect">
            <a:avLst>
              <a:gd name="adj" fmla="val 5128"/>
            </a:avLst>
          </a:prstGeom>
          <a:solidFill>
            <a:srgbClr val="151B4D"/>
          </a:solidFill>
          <a:ln/>
          <a:effectLst>
            <a:outerShdw blurRad="101600" dist="38100" dir="5400000" algn="bl" rotWithShape="0">
              <a:srgbClr val="000000">
                <a:alpha val="12000"/>
              </a:srgbClr>
            </a:outerShdw>
          </a:effectLst>
        </p:spPr>
      </p:sp>
      <p:sp>
        <p:nvSpPr>
          <p:cNvPr id="41" name="Shape 29"/>
          <p:cNvSpPr/>
          <p:nvPr/>
        </p:nvSpPr>
        <p:spPr>
          <a:xfrm>
            <a:off x="10876788" y="2331720"/>
            <a:ext cx="512064" cy="512064"/>
          </a:xfrm>
          <a:prstGeom prst="ellipse">
            <a:avLst/>
          </a:prstGeom>
          <a:solidFill>
            <a:srgbClr val="F2A900"/>
          </a:solidFill>
          <a:ln/>
        </p:spPr>
      </p:sp>
      <p:sp>
        <p:nvSpPr>
          <p:cNvPr id="42" name="Text 30"/>
          <p:cNvSpPr/>
          <p:nvPr/>
        </p:nvSpPr>
        <p:spPr>
          <a:xfrm>
            <a:off x="10876788" y="2331720"/>
            <a:ext cx="512064" cy="512064"/>
          </a:xfrm>
          <a:prstGeom prst="rect">
            <a:avLst/>
          </a:prstGeom>
          <a:noFill/>
          <a:ln/>
        </p:spPr>
        <p:txBody>
          <a:bodyPr wrap="square" lIns="0" tIns="0" rIns="0" bIns="0" rtlCol="0" anchor="ctr"/>
          <a:lstStyle/>
          <a:p>
            <a:pPr marL="0" indent="0" algn="ctr">
              <a:buNone/>
            </a:pPr>
            <a:r>
              <a:rPr lang="en-US" sz="1600" b="1" dirty="0">
                <a:solidFill>
                  <a:srgbClr val="151B4D"/>
                </a:solidFill>
                <a:latin typeface="Cambria" pitchFamily="34" charset="0"/>
                <a:ea typeface="Cambria" pitchFamily="34" charset="-122"/>
                <a:cs typeface="Cambria" pitchFamily="34" charset="-120"/>
              </a:rPr>
              <a:t>6</a:t>
            </a:r>
            <a:endParaRPr lang="en-US" sz="1600" dirty="0"/>
          </a:p>
        </p:txBody>
      </p:sp>
      <p:pic>
        <p:nvPicPr>
          <p:cNvPr id="43" name="Image 10" descr="/home/claude/kasir-ppt/icons/check_white.png"/>
          <p:cNvPicPr>
            <a:picLocks noChangeAspect="1"/>
          </p:cNvPicPr>
          <p:nvPr/>
        </p:nvPicPr>
        <p:blipFill>
          <a:blip r:embed="rId9"/>
          <a:stretch>
            <a:fillRect/>
          </a:stretch>
        </p:blipFill>
        <p:spPr>
          <a:xfrm>
            <a:off x="10968228" y="2971800"/>
            <a:ext cx="329184" cy="329184"/>
          </a:xfrm>
          <a:prstGeom prst="rect">
            <a:avLst/>
          </a:prstGeom>
        </p:spPr>
      </p:pic>
      <p:sp>
        <p:nvSpPr>
          <p:cNvPr id="44" name="Text 31"/>
          <p:cNvSpPr/>
          <p:nvPr/>
        </p:nvSpPr>
        <p:spPr>
          <a:xfrm>
            <a:off x="10332720" y="3383280"/>
            <a:ext cx="1600200" cy="32004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Cetak Struk</a:t>
            </a:r>
            <a:endParaRPr lang="en-US" sz="1300" dirty="0"/>
          </a:p>
        </p:txBody>
      </p:sp>
      <p:sp>
        <p:nvSpPr>
          <p:cNvPr id="45" name="Text 32"/>
          <p:cNvSpPr/>
          <p:nvPr/>
        </p:nvSpPr>
        <p:spPr>
          <a:xfrm>
            <a:off x="10351008" y="3703320"/>
            <a:ext cx="1563624" cy="685800"/>
          </a:xfrm>
          <a:prstGeom prst="rect">
            <a:avLst/>
          </a:prstGeom>
          <a:noFill/>
          <a:ln/>
        </p:spPr>
        <p:txBody>
          <a:bodyPr wrap="square" lIns="0" tIns="0" rIns="0" bIns="0" rtlCol="0" anchor="ctr"/>
          <a:lstStyle/>
          <a:p>
            <a:pPr marL="0" indent="0" algn="ctr">
              <a:buNone/>
            </a:pPr>
            <a:r>
              <a:rPr lang="en-US" sz="950" dirty="0">
                <a:solidFill>
                  <a:srgbClr val="CADCFC"/>
                </a:solidFill>
                <a:latin typeface="Calibri" pitchFamily="34" charset="0"/>
                <a:ea typeface="Calibri" pitchFamily="34" charset="-122"/>
                <a:cs typeface="Calibri" pitchFamily="34" charset="-120"/>
              </a:rPr>
              <a:t>jsPDF generate PDF struk thermal 90mm</a:t>
            </a:r>
            <a:endParaRPr lang="en-US" sz="950" dirty="0"/>
          </a:p>
        </p:txBody>
      </p:sp>
      <p:sp>
        <p:nvSpPr>
          <p:cNvPr id="46" name="Text 33"/>
          <p:cNvSpPr/>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5B6688"/>
                </a:solidFill>
                <a:latin typeface="Calibri" pitchFamily="34" charset="0"/>
                <a:ea typeface="Calibri" pitchFamily="34" charset="-122"/>
                <a:cs typeface="Calibri" pitchFamily="34" charset="-120"/>
              </a:rPr>
              <a:t>Kasir Web Apps  |  Kelompok 5</a:t>
            </a:r>
            <a:endParaRPr lang="en-US" sz="900" dirty="0"/>
          </a:p>
        </p:txBody>
      </p:sp>
      <p:sp>
        <p:nvSpPr>
          <p:cNvPr id="47" name="Text 34"/>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B668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F2A900"/>
                </a:solidFill>
                <a:latin typeface="Calibri" pitchFamily="34" charset="0"/>
                <a:ea typeface="Calibri" pitchFamily="34" charset="-122"/>
                <a:cs typeface="Calibri" pitchFamily="34" charset="-120"/>
              </a:rPr>
              <a:t>PENULISAN KODE</a:t>
            </a:r>
            <a:endParaRPr lang="en-US" sz="13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Logika Keranjang (Cart)</a:t>
            </a:r>
            <a:endParaRPr lang="en-US" sz="3000" dirty="0"/>
          </a:p>
        </p:txBody>
      </p:sp>
      <p:sp>
        <p:nvSpPr>
          <p:cNvPr id="4" name="Text 2"/>
          <p:cNvSpPr/>
          <p:nvPr/>
        </p:nvSpPr>
        <p:spPr>
          <a:xfrm>
            <a:off x="548640" y="1463040"/>
            <a:ext cx="6400800" cy="32004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updateCart(action, id) — main.js</a:t>
            </a:r>
            <a:endParaRPr lang="en-US" sz="1350" dirty="0"/>
          </a:p>
        </p:txBody>
      </p:sp>
      <p:sp>
        <p:nvSpPr>
          <p:cNvPr id="5" name="Shape 3"/>
          <p:cNvSpPr/>
          <p:nvPr/>
        </p:nvSpPr>
        <p:spPr>
          <a:xfrm>
            <a:off x="548640" y="1828800"/>
            <a:ext cx="6858000" cy="3931920"/>
          </a:xfrm>
          <a:prstGeom prst="roundRect">
            <a:avLst>
              <a:gd name="adj" fmla="val 1860"/>
            </a:avLst>
          </a:prstGeom>
          <a:solidFill>
            <a:srgbClr val="151B4D"/>
          </a:solidFill>
          <a:ln/>
          <a:effectLst>
            <a:outerShdw blurRad="101600" dist="38100" dir="5400000" algn="bl" rotWithShape="0">
              <a:srgbClr val="000000">
                <a:alpha val="12000"/>
              </a:srgbClr>
            </a:outerShdw>
          </a:effectLst>
        </p:spPr>
      </p:sp>
      <p:sp>
        <p:nvSpPr>
          <p:cNvPr id="6" name="Text 4"/>
          <p:cNvSpPr/>
          <p:nvPr/>
        </p:nvSpPr>
        <p:spPr>
          <a:xfrm>
            <a:off x="777240" y="1993392"/>
            <a:ext cx="6400800" cy="3602736"/>
          </a:xfrm>
          <a:prstGeom prst="rect">
            <a:avLst/>
          </a:prstGeom>
          <a:noFill/>
          <a:ln/>
        </p:spPr>
        <p:txBody>
          <a:bodyPr wrap="square" lIns="0" tIns="0" rIns="0" bIns="0" rtlCol="0" anchor="t"/>
          <a:lstStyle/>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function updateCart(action, id) {</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const target = cart[id];</a:t>
            </a:r>
            <a:endParaRPr lang="en-US" sz="1100" dirty="0"/>
          </a:p>
          <a:p>
            <a:pPr marL="0" indent="0" algn="l">
              <a:lnSpc>
                <a:spcPct val="115000"/>
              </a:lnSpc>
              <a:buNone/>
            </a:pP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if (action === "add") {</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if (!target) {</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const menuItem = findMenuItem(id);</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cart[id] = { ...menuItem, qty: 1,</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subtotal: menuItem.price };</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 else {</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target.qty += 1;</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target.subtotal = target.qty * target.price;</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 else if (action === "minus") {</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target.qty -= 1;</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if (target.qty &lt;= 0) delete cart[id];</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saveCartToStorage();</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  refreshCartUI();</a:t>
            </a:r>
            <a:endParaRPr lang="en-US" sz="1100" dirty="0"/>
          </a:p>
          <a:p>
            <a:pPr marL="0" indent="0" algn="l">
              <a:lnSpc>
                <a:spcPct val="115000"/>
              </a:lnSpc>
              <a:buNone/>
            </a:pPr>
            <a:r>
              <a:rPr lang="en-US" sz="1100" dirty="0">
                <a:solidFill>
                  <a:srgbClr val="CADCFC"/>
                </a:solidFill>
                <a:latin typeface="Courier New" pitchFamily="34" charset="0"/>
                <a:ea typeface="Courier New" pitchFamily="34" charset="-122"/>
                <a:cs typeface="Courier New" pitchFamily="34" charset="-120"/>
              </a:rPr>
              <a:t>}</a:t>
            </a:r>
            <a:endParaRPr lang="en-US" sz="1100" dirty="0"/>
          </a:p>
        </p:txBody>
      </p:sp>
      <p:sp>
        <p:nvSpPr>
          <p:cNvPr id="7" name="Shape 5"/>
          <p:cNvSpPr/>
          <p:nvPr/>
        </p:nvSpPr>
        <p:spPr>
          <a:xfrm>
            <a:off x="7635240" y="1828800"/>
            <a:ext cx="3977640" cy="3931920"/>
          </a:xfrm>
          <a:prstGeom prst="roundRect">
            <a:avLst>
              <a:gd name="adj" fmla="val 2326"/>
            </a:avLst>
          </a:prstGeom>
          <a:solidFill>
            <a:srgbClr val="EAF0FC"/>
          </a:solidFill>
          <a:ln/>
          <a:effectLst>
            <a:outerShdw blurRad="101600" dist="38100" dir="5400000" algn="bl" rotWithShape="0">
              <a:srgbClr val="000000">
                <a:alpha val="12000"/>
              </a:srgbClr>
            </a:outerShdw>
          </a:effectLst>
        </p:spPr>
      </p:sp>
      <p:sp>
        <p:nvSpPr>
          <p:cNvPr id="8" name="Shape 6"/>
          <p:cNvSpPr/>
          <p:nvPr/>
        </p:nvSpPr>
        <p:spPr>
          <a:xfrm>
            <a:off x="7909560" y="2057400"/>
            <a:ext cx="502920" cy="502920"/>
          </a:xfrm>
          <a:prstGeom prst="ellipse">
            <a:avLst/>
          </a:prstGeom>
          <a:solidFill>
            <a:srgbClr val="1E2761"/>
          </a:solidFill>
          <a:ln/>
        </p:spPr>
      </p:sp>
      <p:pic>
        <p:nvPicPr>
          <p:cNvPr id="9" name="Image 0" descr="/home/claude/kasir-ppt/icons/cart_white.png"/>
          <p:cNvPicPr>
            <a:picLocks noChangeAspect="1"/>
          </p:cNvPicPr>
          <p:nvPr/>
        </p:nvPicPr>
        <p:blipFill>
          <a:blip r:embed="rId3"/>
          <a:stretch>
            <a:fillRect/>
          </a:stretch>
        </p:blipFill>
        <p:spPr>
          <a:xfrm>
            <a:off x="8022717" y="2170557"/>
            <a:ext cx="276606" cy="276606"/>
          </a:xfrm>
          <a:prstGeom prst="rect">
            <a:avLst/>
          </a:prstGeom>
        </p:spPr>
      </p:pic>
      <p:sp>
        <p:nvSpPr>
          <p:cNvPr id="10" name="Text 7"/>
          <p:cNvSpPr/>
          <p:nvPr/>
        </p:nvSpPr>
        <p:spPr>
          <a:xfrm>
            <a:off x="7909560" y="2651760"/>
            <a:ext cx="3566160" cy="320040"/>
          </a:xfrm>
          <a:prstGeom prst="rect">
            <a:avLst/>
          </a:prstGeom>
          <a:noFill/>
          <a:ln/>
        </p:spPr>
        <p:txBody>
          <a:bodyPr wrap="square" lIns="0" tIns="0" rIns="0" bIns="0" rtlCol="0" anchor="ctr"/>
          <a:lstStyle/>
          <a:p>
            <a:pPr marL="0" indent="0">
              <a:buNone/>
            </a:pPr>
            <a:r>
              <a:rPr lang="en-US" sz="1400" b="1" dirty="0">
                <a:solidFill>
                  <a:srgbClr val="1E2761"/>
                </a:solidFill>
                <a:latin typeface="Cambria" pitchFamily="34" charset="0"/>
                <a:ea typeface="Cambria" pitchFamily="34" charset="-122"/>
                <a:cs typeface="Cambria" pitchFamily="34" charset="-120"/>
              </a:rPr>
              <a:t>Poin Penting</a:t>
            </a:r>
            <a:endParaRPr lang="en-US" sz="1400" dirty="0"/>
          </a:p>
        </p:txBody>
      </p:sp>
      <p:sp>
        <p:nvSpPr>
          <p:cNvPr id="11" name="Text 8"/>
          <p:cNvSpPr/>
          <p:nvPr/>
        </p:nvSpPr>
        <p:spPr>
          <a:xfrm>
            <a:off x="7909560" y="3017520"/>
            <a:ext cx="3566160" cy="265176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1B1F3B"/>
                </a:solidFill>
                <a:latin typeface="Calibri" pitchFamily="34" charset="0"/>
                <a:ea typeface="Calibri" pitchFamily="34" charset="-122"/>
                <a:cs typeface="Calibri" pitchFamily="34" charset="-120"/>
              </a:rPr>
              <a:t>Cart disimpan sebagai object (key = id produk) agar pencarian item cepat.</a:t>
            </a:r>
            <a:endParaRPr lang="en-US" sz="1150" dirty="0"/>
          </a:p>
          <a:p>
            <a:pPr marL="342900" indent="-342900">
              <a:spcAft>
                <a:spcPts val="800"/>
              </a:spcAft>
              <a:buSzPct val="100000"/>
              <a:buChar char="•"/>
            </a:pPr>
            <a:r>
              <a:rPr lang="en-US" sz="1150" dirty="0">
                <a:solidFill>
                  <a:srgbClr val="1B1F3B"/>
                </a:solidFill>
                <a:latin typeface="Calibri" pitchFamily="34" charset="0"/>
                <a:ea typeface="Calibri" pitchFamily="34" charset="-122"/>
                <a:cs typeface="Calibri" pitchFamily="34" charset="-120"/>
              </a:rPr>
              <a:t>Setiap aksi (add/plus/minus/remove) langsung memanggil saveCartToStorage().</a:t>
            </a:r>
            <a:endParaRPr lang="en-US" sz="1150" dirty="0"/>
          </a:p>
          <a:p>
            <a:pPr marL="342900" indent="-342900">
              <a:spcAft>
                <a:spcPts val="800"/>
              </a:spcAft>
              <a:buSzPct val="100000"/>
              <a:buChar char="•"/>
            </a:pPr>
            <a:r>
              <a:rPr lang="en-US" sz="1150" dirty="0">
                <a:solidFill>
                  <a:srgbClr val="1B1F3B"/>
                </a:solidFill>
                <a:latin typeface="Calibri" pitchFamily="34" charset="0"/>
                <a:ea typeface="Calibri" pitchFamily="34" charset="-122"/>
                <a:cs typeface="Calibri" pitchFamily="34" charset="-120"/>
              </a:rPr>
              <a:t>Qty 0 otomatis menghapus item dari cart.</a:t>
            </a:r>
            <a:endParaRPr lang="en-US" sz="1150" dirty="0"/>
          </a:p>
          <a:p>
            <a:pPr marL="342900" indent="-342900">
              <a:spcAft>
                <a:spcPts val="800"/>
              </a:spcAft>
              <a:buSzPct val="100000"/>
              <a:buChar char="•"/>
            </a:pPr>
            <a:r>
              <a:rPr lang="en-US" sz="1150" dirty="0">
                <a:solidFill>
                  <a:srgbClr val="1B1F3B"/>
                </a:solidFill>
                <a:latin typeface="Calibri" pitchFamily="34" charset="0"/>
                <a:ea typeface="Calibri" pitchFamily="34" charset="-122"/>
                <a:cs typeface="Calibri" pitchFamily="34" charset="-120"/>
              </a:rPr>
              <a:t>refreshCartUI() me-render ulang tampilan &amp; badge jumlah cart secara real-time.</a:t>
            </a:r>
            <a:endParaRPr lang="en-US" sz="1150" dirty="0"/>
          </a:p>
        </p:txBody>
      </p:sp>
      <p:sp>
        <p:nvSpPr>
          <p:cNvPr id="12" name="Text 9"/>
          <p:cNvSpPr/>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5B6688"/>
                </a:solidFill>
                <a:latin typeface="Calibri" pitchFamily="34" charset="0"/>
                <a:ea typeface="Calibri" pitchFamily="34" charset="-122"/>
                <a:cs typeface="Calibri" pitchFamily="34" charset="-120"/>
              </a:rPr>
              <a:t>Kasir Web Apps  |  Kelompok 5</a:t>
            </a:r>
            <a:endParaRPr lang="en-US" sz="900" dirty="0"/>
          </a:p>
        </p:txBody>
      </p:sp>
      <p:sp>
        <p:nvSpPr>
          <p:cNvPr id="13" name="Text 10"/>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B668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F2A900"/>
                </a:solidFill>
                <a:latin typeface="Calibri" pitchFamily="34" charset="0"/>
                <a:ea typeface="Calibri" pitchFamily="34" charset="-122"/>
                <a:cs typeface="Calibri" pitchFamily="34" charset="-120"/>
              </a:rPr>
              <a:t>PENULISAN KODE</a:t>
            </a:r>
            <a:endParaRPr lang="en-US" sz="13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Kalkulasi Diskon, PPN &amp; Total</a:t>
            </a:r>
            <a:endParaRPr lang="en-US" sz="3000" dirty="0"/>
          </a:p>
        </p:txBody>
      </p:sp>
      <p:sp>
        <p:nvSpPr>
          <p:cNvPr id="4" name="Text 2"/>
          <p:cNvSpPr/>
          <p:nvPr/>
        </p:nvSpPr>
        <p:spPr>
          <a:xfrm>
            <a:off x="548640" y="1463040"/>
            <a:ext cx="5486400" cy="32004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hitungTotal(subtotal) — main.js</a:t>
            </a:r>
            <a:endParaRPr lang="en-US" sz="1350" dirty="0"/>
          </a:p>
        </p:txBody>
      </p:sp>
      <p:sp>
        <p:nvSpPr>
          <p:cNvPr id="5" name="Shape 3"/>
          <p:cNvSpPr/>
          <p:nvPr/>
        </p:nvSpPr>
        <p:spPr>
          <a:xfrm>
            <a:off x="548640" y="1828800"/>
            <a:ext cx="5486400" cy="1920240"/>
          </a:xfrm>
          <a:prstGeom prst="roundRect">
            <a:avLst>
              <a:gd name="adj" fmla="val 3810"/>
            </a:avLst>
          </a:prstGeom>
          <a:solidFill>
            <a:srgbClr val="151B4D"/>
          </a:solidFill>
          <a:ln/>
          <a:effectLst>
            <a:outerShdw blurRad="101600" dist="38100" dir="5400000" algn="bl" rotWithShape="0">
              <a:srgbClr val="000000">
                <a:alpha val="12000"/>
              </a:srgbClr>
            </a:outerShdw>
          </a:effectLst>
        </p:spPr>
      </p:sp>
      <p:sp>
        <p:nvSpPr>
          <p:cNvPr id="6" name="Text 4"/>
          <p:cNvSpPr/>
          <p:nvPr/>
        </p:nvSpPr>
        <p:spPr>
          <a:xfrm>
            <a:off x="777240" y="1993392"/>
            <a:ext cx="5029200" cy="1591056"/>
          </a:xfrm>
          <a:prstGeom prst="rect">
            <a:avLst/>
          </a:prstGeom>
          <a:noFill/>
          <a:ln/>
        </p:spPr>
        <p:txBody>
          <a:bodyPr wrap="square" lIns="0" tIns="0" rIns="0" bIns="0" rtlCol="0" anchor="t"/>
          <a:lstStyle/>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function hitungTotal(subtotal) {</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  const diskon = Math.round(subtotal*0.1);</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  const dpp = subtotal - diskon;</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  const ppn = Math.round(dpp * 0.1);</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  const total = dpp + ppn;</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  return { diskon, ppn, total };</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548640" y="3931920"/>
            <a:ext cx="5486400" cy="32004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Validasi sebelum proses bayar</a:t>
            </a:r>
            <a:endParaRPr lang="en-US" sz="1350" dirty="0"/>
          </a:p>
        </p:txBody>
      </p:sp>
      <p:sp>
        <p:nvSpPr>
          <p:cNvPr id="8" name="Shape 6"/>
          <p:cNvSpPr/>
          <p:nvPr/>
        </p:nvSpPr>
        <p:spPr>
          <a:xfrm>
            <a:off x="548640" y="4297680"/>
            <a:ext cx="5486400" cy="1783080"/>
          </a:xfrm>
          <a:prstGeom prst="roundRect">
            <a:avLst>
              <a:gd name="adj" fmla="val 4103"/>
            </a:avLst>
          </a:prstGeom>
          <a:solidFill>
            <a:srgbClr val="151B4D"/>
          </a:solidFill>
          <a:ln/>
          <a:effectLst>
            <a:outerShdw blurRad="101600" dist="38100" dir="5400000" algn="bl" rotWithShape="0">
              <a:srgbClr val="000000">
                <a:alpha val="12000"/>
              </a:srgbClr>
            </a:outerShdw>
          </a:effectLst>
        </p:spPr>
      </p:sp>
      <p:sp>
        <p:nvSpPr>
          <p:cNvPr id="9" name="Text 7"/>
          <p:cNvSpPr/>
          <p:nvPr/>
        </p:nvSpPr>
        <p:spPr>
          <a:xfrm>
            <a:off x="777240" y="4462272"/>
            <a:ext cx="5029200" cy="1453896"/>
          </a:xfrm>
          <a:prstGeom prst="rect">
            <a:avLst/>
          </a:prstGeom>
          <a:noFill/>
          <a:ln/>
        </p:spPr>
        <p:txBody>
          <a:bodyPr wrap="square" lIns="0" tIns="0" rIns="0" bIns="0" rtlCol="0" anchor="t"/>
          <a:lstStyle/>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if (cash &lt; total) {</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  showWarning(</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    `Uang tidak cukup. Total: Rp ${total}`</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  );</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  return;</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a:t>
            </a:r>
            <a:endParaRPr lang="en-US" sz="1150" dirty="0"/>
          </a:p>
          <a:p>
            <a:pPr marL="0" indent="0" algn="l">
              <a:lnSpc>
                <a:spcPct val="115000"/>
              </a:lnSpc>
              <a:buNone/>
            </a:pPr>
            <a:r>
              <a:rPr lang="en-US" sz="1150" dirty="0">
                <a:solidFill>
                  <a:srgbClr val="CADCFC"/>
                </a:solidFill>
                <a:latin typeface="Courier New" pitchFamily="34" charset="0"/>
                <a:ea typeface="Courier New" pitchFamily="34" charset="-122"/>
                <a:cs typeface="Courier New" pitchFamily="34" charset="-120"/>
              </a:rPr>
              <a:t>const kembalian = cash - total;</a:t>
            </a:r>
            <a:endParaRPr lang="en-US" sz="1150" dirty="0"/>
          </a:p>
        </p:txBody>
      </p:sp>
      <p:sp>
        <p:nvSpPr>
          <p:cNvPr id="10" name="Shape 8"/>
          <p:cNvSpPr/>
          <p:nvPr/>
        </p:nvSpPr>
        <p:spPr>
          <a:xfrm>
            <a:off x="6400800" y="1463040"/>
            <a:ext cx="5212080" cy="4617720"/>
          </a:xfrm>
          <a:prstGeom prst="roundRect">
            <a:avLst>
              <a:gd name="adj" fmla="val 1980"/>
            </a:avLst>
          </a:prstGeom>
          <a:solidFill>
            <a:srgbClr val="1E2761"/>
          </a:solidFill>
          <a:ln/>
          <a:effectLst>
            <a:outerShdw blurRad="101600" dist="38100" dir="5400000" algn="bl" rotWithShape="0">
              <a:srgbClr val="000000">
                <a:alpha val="12000"/>
              </a:srgbClr>
            </a:outerShdw>
          </a:effectLst>
        </p:spPr>
      </p:sp>
      <p:sp>
        <p:nvSpPr>
          <p:cNvPr id="11" name="Text 9"/>
          <p:cNvSpPr/>
          <p:nvPr/>
        </p:nvSpPr>
        <p:spPr>
          <a:xfrm>
            <a:off x="6720840" y="1664208"/>
            <a:ext cx="4572000" cy="365760"/>
          </a:xfrm>
          <a:prstGeom prst="rect">
            <a:avLst/>
          </a:prstGeom>
          <a:noFill/>
          <a:ln/>
        </p:spPr>
        <p:txBody>
          <a:bodyPr wrap="square" lIns="0" tIns="0" rIns="0" bIns="0" rtlCol="0" anchor="ctr"/>
          <a:lstStyle/>
          <a:p>
            <a:pPr marL="0" indent="0">
              <a:buNone/>
            </a:pPr>
            <a:r>
              <a:rPr lang="en-US" sz="1600" b="1" dirty="0">
                <a:solidFill>
                  <a:srgbClr val="F2A900"/>
                </a:solidFill>
                <a:latin typeface="Cambria" pitchFamily="34" charset="0"/>
                <a:ea typeface="Cambria" pitchFamily="34" charset="-122"/>
                <a:cs typeface="Cambria" pitchFamily="34" charset="-120"/>
              </a:rPr>
              <a:t>Contoh Simulasi</a:t>
            </a:r>
            <a:endParaRPr lang="en-US" sz="1600" dirty="0"/>
          </a:p>
        </p:txBody>
      </p:sp>
      <p:sp>
        <p:nvSpPr>
          <p:cNvPr id="12" name="Text 10"/>
          <p:cNvSpPr/>
          <p:nvPr/>
        </p:nvSpPr>
        <p:spPr>
          <a:xfrm>
            <a:off x="6720840" y="2240280"/>
            <a:ext cx="2560320" cy="384048"/>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Subtotal</a:t>
            </a:r>
            <a:endParaRPr lang="en-US" sz="1300" dirty="0"/>
          </a:p>
        </p:txBody>
      </p:sp>
      <p:sp>
        <p:nvSpPr>
          <p:cNvPr id="13" name="Text 11"/>
          <p:cNvSpPr/>
          <p:nvPr/>
        </p:nvSpPr>
        <p:spPr>
          <a:xfrm>
            <a:off x="9235440" y="2240280"/>
            <a:ext cx="2194560" cy="384048"/>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Rp 100.000</a:t>
            </a:r>
            <a:endParaRPr lang="en-US" sz="1300" dirty="0"/>
          </a:p>
        </p:txBody>
      </p:sp>
      <p:sp>
        <p:nvSpPr>
          <p:cNvPr id="14" name="Shape 12"/>
          <p:cNvSpPr/>
          <p:nvPr/>
        </p:nvSpPr>
        <p:spPr>
          <a:xfrm>
            <a:off x="6720840" y="2624328"/>
            <a:ext cx="4709160" cy="0"/>
          </a:xfrm>
          <a:prstGeom prst="line">
            <a:avLst/>
          </a:prstGeom>
          <a:noFill/>
          <a:ln w="9525">
            <a:solidFill>
              <a:srgbClr val="3A4485"/>
            </a:solidFill>
            <a:prstDash val="solid"/>
          </a:ln>
        </p:spPr>
      </p:sp>
      <p:sp>
        <p:nvSpPr>
          <p:cNvPr id="15" name="Text 13"/>
          <p:cNvSpPr/>
          <p:nvPr/>
        </p:nvSpPr>
        <p:spPr>
          <a:xfrm>
            <a:off x="6720840" y="2697480"/>
            <a:ext cx="2560320" cy="384048"/>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Diskon (10%)</a:t>
            </a:r>
            <a:endParaRPr lang="en-US" sz="1300" dirty="0"/>
          </a:p>
        </p:txBody>
      </p:sp>
      <p:sp>
        <p:nvSpPr>
          <p:cNvPr id="16" name="Text 14"/>
          <p:cNvSpPr/>
          <p:nvPr/>
        </p:nvSpPr>
        <p:spPr>
          <a:xfrm>
            <a:off x="9235440" y="2697480"/>
            <a:ext cx="2194560" cy="384048"/>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 Rp 10.000</a:t>
            </a:r>
            <a:endParaRPr lang="en-US" sz="1300" dirty="0"/>
          </a:p>
        </p:txBody>
      </p:sp>
      <p:sp>
        <p:nvSpPr>
          <p:cNvPr id="17" name="Shape 15"/>
          <p:cNvSpPr/>
          <p:nvPr/>
        </p:nvSpPr>
        <p:spPr>
          <a:xfrm>
            <a:off x="6720840" y="3081528"/>
            <a:ext cx="4709160" cy="0"/>
          </a:xfrm>
          <a:prstGeom prst="line">
            <a:avLst/>
          </a:prstGeom>
          <a:noFill/>
          <a:ln w="9525">
            <a:solidFill>
              <a:srgbClr val="3A4485"/>
            </a:solidFill>
            <a:prstDash val="solid"/>
          </a:ln>
        </p:spPr>
      </p:sp>
      <p:sp>
        <p:nvSpPr>
          <p:cNvPr id="18" name="Text 16"/>
          <p:cNvSpPr/>
          <p:nvPr/>
        </p:nvSpPr>
        <p:spPr>
          <a:xfrm>
            <a:off x="6720840" y="3154680"/>
            <a:ext cx="2560320" cy="384048"/>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DPP</a:t>
            </a:r>
            <a:endParaRPr lang="en-US" sz="1300" dirty="0"/>
          </a:p>
        </p:txBody>
      </p:sp>
      <p:sp>
        <p:nvSpPr>
          <p:cNvPr id="19" name="Text 17"/>
          <p:cNvSpPr/>
          <p:nvPr/>
        </p:nvSpPr>
        <p:spPr>
          <a:xfrm>
            <a:off x="9235440" y="3154680"/>
            <a:ext cx="2194560" cy="384048"/>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Rp 90.000</a:t>
            </a:r>
            <a:endParaRPr lang="en-US" sz="1300" dirty="0"/>
          </a:p>
        </p:txBody>
      </p:sp>
      <p:sp>
        <p:nvSpPr>
          <p:cNvPr id="20" name="Shape 18"/>
          <p:cNvSpPr/>
          <p:nvPr/>
        </p:nvSpPr>
        <p:spPr>
          <a:xfrm>
            <a:off x="6720840" y="3538728"/>
            <a:ext cx="4709160" cy="0"/>
          </a:xfrm>
          <a:prstGeom prst="line">
            <a:avLst/>
          </a:prstGeom>
          <a:noFill/>
          <a:ln w="9525">
            <a:solidFill>
              <a:srgbClr val="3A4485"/>
            </a:solidFill>
            <a:prstDash val="solid"/>
          </a:ln>
        </p:spPr>
      </p:sp>
      <p:sp>
        <p:nvSpPr>
          <p:cNvPr id="21" name="Text 19"/>
          <p:cNvSpPr/>
          <p:nvPr/>
        </p:nvSpPr>
        <p:spPr>
          <a:xfrm>
            <a:off x="6720840" y="3611880"/>
            <a:ext cx="2560320" cy="384048"/>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PPN (10%)</a:t>
            </a:r>
            <a:endParaRPr lang="en-US" sz="1300" dirty="0"/>
          </a:p>
        </p:txBody>
      </p:sp>
      <p:sp>
        <p:nvSpPr>
          <p:cNvPr id="22" name="Text 20"/>
          <p:cNvSpPr/>
          <p:nvPr/>
        </p:nvSpPr>
        <p:spPr>
          <a:xfrm>
            <a:off x="9235440" y="3611880"/>
            <a:ext cx="2194560" cy="384048"/>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 Rp 9.000</a:t>
            </a:r>
            <a:endParaRPr lang="en-US" sz="1300" dirty="0"/>
          </a:p>
        </p:txBody>
      </p:sp>
      <p:sp>
        <p:nvSpPr>
          <p:cNvPr id="23" name="Shape 21"/>
          <p:cNvSpPr/>
          <p:nvPr/>
        </p:nvSpPr>
        <p:spPr>
          <a:xfrm>
            <a:off x="6720840" y="3995928"/>
            <a:ext cx="4709160" cy="0"/>
          </a:xfrm>
          <a:prstGeom prst="line">
            <a:avLst/>
          </a:prstGeom>
          <a:noFill/>
          <a:ln w="9525">
            <a:solidFill>
              <a:srgbClr val="3A4485"/>
            </a:solidFill>
            <a:prstDash val="solid"/>
          </a:ln>
        </p:spPr>
      </p:sp>
      <p:sp>
        <p:nvSpPr>
          <p:cNvPr id="24" name="Shape 22"/>
          <p:cNvSpPr/>
          <p:nvPr/>
        </p:nvSpPr>
        <p:spPr>
          <a:xfrm>
            <a:off x="6720840" y="4160520"/>
            <a:ext cx="4709160" cy="594360"/>
          </a:xfrm>
          <a:prstGeom prst="roundRect">
            <a:avLst>
              <a:gd name="adj" fmla="val 12308"/>
            </a:avLst>
          </a:prstGeom>
          <a:solidFill>
            <a:srgbClr val="F2A900"/>
          </a:solidFill>
          <a:ln/>
        </p:spPr>
      </p:sp>
      <p:sp>
        <p:nvSpPr>
          <p:cNvPr id="25" name="Text 23"/>
          <p:cNvSpPr/>
          <p:nvPr/>
        </p:nvSpPr>
        <p:spPr>
          <a:xfrm>
            <a:off x="6903720" y="4160520"/>
            <a:ext cx="2286000" cy="594360"/>
          </a:xfrm>
          <a:prstGeom prst="rect">
            <a:avLst/>
          </a:prstGeom>
          <a:noFill/>
          <a:ln/>
        </p:spPr>
        <p:txBody>
          <a:bodyPr wrap="square" lIns="0" tIns="0" rIns="0" bIns="0" rtlCol="0" anchor="ctr"/>
          <a:lstStyle/>
          <a:p>
            <a:pPr marL="0" indent="0">
              <a:buNone/>
            </a:pPr>
            <a:r>
              <a:rPr lang="en-US" sz="1500" b="1" dirty="0">
                <a:solidFill>
                  <a:srgbClr val="151B4D"/>
                </a:solidFill>
                <a:latin typeface="Cambria" pitchFamily="34" charset="0"/>
                <a:ea typeface="Cambria" pitchFamily="34" charset="-122"/>
                <a:cs typeface="Cambria" pitchFamily="34" charset="-120"/>
              </a:rPr>
              <a:t>TOTAL</a:t>
            </a:r>
            <a:endParaRPr lang="en-US" sz="1500" dirty="0"/>
          </a:p>
        </p:txBody>
      </p:sp>
      <p:sp>
        <p:nvSpPr>
          <p:cNvPr id="26" name="Text 24"/>
          <p:cNvSpPr/>
          <p:nvPr/>
        </p:nvSpPr>
        <p:spPr>
          <a:xfrm>
            <a:off x="9052560" y="4160520"/>
            <a:ext cx="2377440" cy="594360"/>
          </a:xfrm>
          <a:prstGeom prst="rect">
            <a:avLst/>
          </a:prstGeom>
          <a:noFill/>
          <a:ln/>
        </p:spPr>
        <p:txBody>
          <a:bodyPr wrap="square" lIns="0" tIns="0" rIns="0" bIns="0" rtlCol="0" anchor="ctr"/>
          <a:lstStyle/>
          <a:p>
            <a:pPr marL="0" indent="0" algn="r">
              <a:buNone/>
            </a:pPr>
            <a:r>
              <a:rPr lang="en-US" sz="1500" b="1" dirty="0">
                <a:solidFill>
                  <a:srgbClr val="151B4D"/>
                </a:solidFill>
                <a:latin typeface="Cambria" pitchFamily="34" charset="0"/>
                <a:ea typeface="Cambria" pitchFamily="34" charset="-122"/>
                <a:cs typeface="Cambria" pitchFamily="34" charset="-120"/>
              </a:rPr>
              <a:t>Rp 99.000</a:t>
            </a:r>
            <a:endParaRPr lang="en-US" sz="1500" dirty="0"/>
          </a:p>
        </p:txBody>
      </p:sp>
      <p:sp>
        <p:nvSpPr>
          <p:cNvPr id="27" name="Text 25"/>
          <p:cNvSpPr/>
          <p:nvPr/>
        </p:nvSpPr>
        <p:spPr>
          <a:xfrm>
            <a:off x="6720840" y="4937760"/>
            <a:ext cx="4709160" cy="365760"/>
          </a:xfrm>
          <a:prstGeom prst="rect">
            <a:avLst/>
          </a:prstGeom>
          <a:noFill/>
          <a:ln/>
        </p:spPr>
        <p:txBody>
          <a:bodyPr wrap="square" lIns="0" tIns="0" rIns="0" bIns="0" rtlCol="0" anchor="ctr"/>
          <a:lstStyle/>
          <a:p>
            <a:pPr marL="0" indent="0">
              <a:buNone/>
            </a:pPr>
            <a:r>
              <a:rPr lang="en-US" sz="1150" i="1" dirty="0">
                <a:solidFill>
                  <a:srgbClr val="CADCFC"/>
                </a:solidFill>
                <a:latin typeface="Calibri" pitchFamily="34" charset="0"/>
                <a:ea typeface="Calibri" pitchFamily="34" charset="-122"/>
                <a:cs typeface="Calibri" pitchFamily="34" charset="-120"/>
              </a:rPr>
              <a:t>Bayar Rp 100.000 → Kembalian Rp 1.000</a:t>
            </a:r>
            <a:endParaRPr lang="en-US" sz="1150" dirty="0"/>
          </a:p>
        </p:txBody>
      </p:sp>
      <p:sp>
        <p:nvSpPr>
          <p:cNvPr id="28" name="Text 26"/>
          <p:cNvSpPr/>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5B6688"/>
                </a:solidFill>
                <a:latin typeface="Calibri" pitchFamily="34" charset="0"/>
                <a:ea typeface="Calibri" pitchFamily="34" charset="-122"/>
                <a:cs typeface="Calibri" pitchFamily="34" charset="-120"/>
              </a:rPr>
              <a:t>Kasir Web Apps  |  Kelompok 5</a:t>
            </a:r>
            <a:endParaRPr lang="en-US" sz="900" dirty="0"/>
          </a:p>
        </p:txBody>
      </p:sp>
      <p:sp>
        <p:nvSpPr>
          <p:cNvPr id="29" name="Text 27"/>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B668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F2A900"/>
                </a:solidFill>
                <a:latin typeface="Calibri" pitchFamily="34" charset="0"/>
                <a:ea typeface="Calibri" pitchFamily="34" charset="-122"/>
                <a:cs typeface="Calibri" pitchFamily="34" charset="-120"/>
              </a:rPr>
              <a:t>PENULISAN KODE</a:t>
            </a:r>
            <a:endParaRPr lang="en-US" sz="13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CRUD Produk Custom (Admin Dashboard)</a:t>
            </a:r>
            <a:endParaRPr lang="en-US" sz="3000" dirty="0"/>
          </a:p>
        </p:txBody>
      </p:sp>
      <p:sp>
        <p:nvSpPr>
          <p:cNvPr id="4" name="Text 2"/>
          <p:cNvSpPr/>
          <p:nvPr/>
        </p:nvSpPr>
        <p:spPr>
          <a:xfrm>
            <a:off x="548640" y="1463040"/>
            <a:ext cx="5486400" cy="320040"/>
          </a:xfrm>
          <a:prstGeom prst="rect">
            <a:avLst/>
          </a:prstGeom>
          <a:noFill/>
          <a:ln/>
        </p:spPr>
        <p:txBody>
          <a:bodyPr wrap="square" lIns="0" tIns="0" rIns="0" bIns="0" rtlCol="0" anchor="ctr"/>
          <a:lstStyle/>
          <a:p>
            <a:pPr marL="0" indent="0">
              <a:buNone/>
            </a:pPr>
            <a:r>
              <a:rPr lang="en-US" sz="1350" b="1" dirty="0">
                <a:solidFill>
                  <a:srgbClr val="1E2761"/>
                </a:solidFill>
                <a:latin typeface="Cambria" pitchFamily="34" charset="0"/>
                <a:ea typeface="Cambria" pitchFamily="34" charset="-122"/>
                <a:cs typeface="Cambria" pitchFamily="34" charset="-120"/>
              </a:rPr>
              <a:t>addProduct.js — submit produk baru</a:t>
            </a:r>
            <a:endParaRPr lang="en-US" sz="1350" dirty="0"/>
          </a:p>
        </p:txBody>
      </p:sp>
      <p:sp>
        <p:nvSpPr>
          <p:cNvPr id="5" name="Shape 3"/>
          <p:cNvSpPr/>
          <p:nvPr/>
        </p:nvSpPr>
        <p:spPr>
          <a:xfrm>
            <a:off x="548640" y="1828800"/>
            <a:ext cx="5486400" cy="2743200"/>
          </a:xfrm>
          <a:prstGeom prst="roundRect">
            <a:avLst>
              <a:gd name="adj" fmla="val 2667"/>
            </a:avLst>
          </a:prstGeom>
          <a:solidFill>
            <a:srgbClr val="151B4D"/>
          </a:solidFill>
          <a:ln/>
          <a:effectLst>
            <a:outerShdw blurRad="101600" dist="38100" dir="5400000" algn="bl" rotWithShape="0">
              <a:srgbClr val="000000">
                <a:alpha val="12000"/>
              </a:srgbClr>
            </a:outerShdw>
          </a:effectLst>
        </p:spPr>
      </p:sp>
      <p:sp>
        <p:nvSpPr>
          <p:cNvPr id="6" name="Text 4"/>
          <p:cNvSpPr/>
          <p:nvPr/>
        </p:nvSpPr>
        <p:spPr>
          <a:xfrm>
            <a:off x="777240" y="1993392"/>
            <a:ext cx="5029200" cy="2414016"/>
          </a:xfrm>
          <a:prstGeom prst="rect">
            <a:avLst/>
          </a:prstGeom>
          <a:noFill/>
          <a:ln/>
        </p:spPr>
        <p:txBody>
          <a:bodyPr wrap="square" lIns="0" tIns="0" rIns="0" bIns="0" rtlCol="0" anchor="t"/>
          <a:lstStyle/>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const newProduct = {</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  id: generateId(),</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  nama, price: Number(price),</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  img: img || "/static/default.jpg",</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  category,</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a:t>
            </a:r>
            <a:endParaRPr lang="en-US" sz="1200" dirty="0"/>
          </a:p>
          <a:p>
            <a:pPr marL="0" indent="0" algn="l">
              <a:lnSpc>
                <a:spcPct val="115000"/>
              </a:lnSpc>
              <a:buNone/>
            </a:pP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const products = loadCustomProducts();</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products.push(newProduct);</a:t>
            </a:r>
            <a:endParaRPr lang="en-US" sz="1200" dirty="0"/>
          </a:p>
          <a:p>
            <a:pPr marL="0" indent="0" algn="l">
              <a:lnSpc>
                <a:spcPct val="115000"/>
              </a:lnSpc>
              <a:buNone/>
            </a:pPr>
            <a:r>
              <a:rPr lang="en-US" sz="1200" dirty="0">
                <a:solidFill>
                  <a:srgbClr val="CADCFC"/>
                </a:solidFill>
                <a:latin typeface="Courier New" pitchFamily="34" charset="0"/>
                <a:ea typeface="Courier New" pitchFamily="34" charset="-122"/>
                <a:cs typeface="Courier New" pitchFamily="34" charset="-120"/>
              </a:rPr>
              <a:t>saveCustomProducts(products);</a:t>
            </a:r>
            <a:endParaRPr lang="en-US" sz="1200" dirty="0"/>
          </a:p>
        </p:txBody>
      </p:sp>
      <p:sp>
        <p:nvSpPr>
          <p:cNvPr id="7" name="Text 5"/>
          <p:cNvSpPr/>
          <p:nvPr/>
        </p:nvSpPr>
        <p:spPr>
          <a:xfrm>
            <a:off x="548640" y="4709160"/>
            <a:ext cx="5486400" cy="320040"/>
          </a:xfrm>
          <a:prstGeom prst="rect">
            <a:avLst/>
          </a:prstGeom>
          <a:noFill/>
          <a:ln/>
        </p:spPr>
        <p:txBody>
          <a:bodyPr wrap="square" lIns="0" tIns="0" rIns="0" bIns="0" rtlCol="0" anchor="ctr"/>
          <a:lstStyle/>
          <a:p>
            <a:pPr marL="0" indent="0">
              <a:buNone/>
            </a:pPr>
            <a:r>
              <a:rPr lang="en-US" sz="1250" b="1" dirty="0">
                <a:solidFill>
                  <a:srgbClr val="1E2761"/>
                </a:solidFill>
                <a:latin typeface="Cambria" pitchFamily="34" charset="0"/>
                <a:ea typeface="Cambria" pitchFamily="34" charset="-122"/>
                <a:cs typeface="Cambria" pitchFamily="34" charset="-120"/>
              </a:rPr>
              <a:t>generateId() — anti bentrok dengan menu.json</a:t>
            </a:r>
            <a:endParaRPr lang="en-US" sz="1250" dirty="0"/>
          </a:p>
        </p:txBody>
      </p:sp>
      <p:sp>
        <p:nvSpPr>
          <p:cNvPr id="8" name="Shape 6"/>
          <p:cNvSpPr/>
          <p:nvPr/>
        </p:nvSpPr>
        <p:spPr>
          <a:xfrm>
            <a:off x="548640" y="5029200"/>
            <a:ext cx="5486400" cy="914400"/>
          </a:xfrm>
          <a:prstGeom prst="roundRect">
            <a:avLst>
              <a:gd name="adj" fmla="val 8000"/>
            </a:avLst>
          </a:prstGeom>
          <a:solidFill>
            <a:srgbClr val="151B4D"/>
          </a:solidFill>
          <a:ln/>
          <a:effectLst>
            <a:outerShdw blurRad="101600" dist="38100" dir="5400000" algn="bl" rotWithShape="0">
              <a:srgbClr val="000000">
                <a:alpha val="12000"/>
              </a:srgbClr>
            </a:outerShdw>
          </a:effectLst>
        </p:spPr>
      </p:sp>
      <p:sp>
        <p:nvSpPr>
          <p:cNvPr id="9" name="Text 7"/>
          <p:cNvSpPr/>
          <p:nvPr/>
        </p:nvSpPr>
        <p:spPr>
          <a:xfrm>
            <a:off x="777240" y="5193792"/>
            <a:ext cx="5029200" cy="585216"/>
          </a:xfrm>
          <a:prstGeom prst="rect">
            <a:avLst/>
          </a:prstGeom>
          <a:noFill/>
          <a:ln/>
        </p:spPr>
        <p:txBody>
          <a:bodyPr wrap="square" lIns="0" tIns="0" rIns="0" bIns="0" rtlCol="0" anchor="t"/>
          <a:lstStyle/>
          <a:p>
            <a:pPr marL="0" indent="0" algn="l">
              <a:lnSpc>
                <a:spcPct val="115000"/>
              </a:lnSpc>
              <a:buNone/>
            </a:pPr>
            <a:r>
              <a:rPr lang="en-US" sz="1050" dirty="0">
                <a:solidFill>
                  <a:srgbClr val="CADCFC"/>
                </a:solidFill>
                <a:latin typeface="Courier New" pitchFamily="34" charset="0"/>
                <a:ea typeface="Courier New" pitchFamily="34" charset="-122"/>
                <a:cs typeface="Courier New" pitchFamily="34" charset="-120"/>
              </a:rPr>
              <a:t>function generateId() {</a:t>
            </a:r>
            <a:endParaRPr lang="en-US" sz="1050" dirty="0"/>
          </a:p>
          <a:p>
            <a:pPr marL="0" indent="0" algn="l">
              <a:lnSpc>
                <a:spcPct val="115000"/>
              </a:lnSpc>
              <a:buNone/>
            </a:pPr>
            <a:r>
              <a:rPr lang="en-US" sz="1050" dirty="0">
                <a:solidFill>
                  <a:srgbClr val="CADCFC"/>
                </a:solidFill>
                <a:latin typeface="Courier New" pitchFamily="34" charset="0"/>
                <a:ea typeface="Courier New" pitchFamily="34" charset="-122"/>
                <a:cs typeface="Courier New" pitchFamily="34" charset="-120"/>
              </a:rPr>
              <a:t>  return "custom_"+Date.now()+"_"+Math.floor(Math.random()*1000);</a:t>
            </a:r>
            <a:endParaRPr lang="en-US" sz="1050" dirty="0"/>
          </a:p>
          <a:p>
            <a:pPr marL="0" indent="0" algn="l">
              <a:lnSpc>
                <a:spcPct val="115000"/>
              </a:lnSpc>
              <a:buNone/>
            </a:pPr>
            <a:r>
              <a:rPr lang="en-US" sz="1050" dirty="0">
                <a:solidFill>
                  <a:srgbClr val="CADCFC"/>
                </a:solidFill>
                <a:latin typeface="Courier New" pitchFamily="34" charset="0"/>
                <a:ea typeface="Courier New" pitchFamily="34" charset="-122"/>
                <a:cs typeface="Courier New" pitchFamily="34" charset="-120"/>
              </a:rPr>
              <a:t>}</a:t>
            </a:r>
            <a:endParaRPr lang="en-US" sz="1050" dirty="0"/>
          </a:p>
        </p:txBody>
      </p:sp>
      <p:sp>
        <p:nvSpPr>
          <p:cNvPr id="10" name="Shape 8"/>
          <p:cNvSpPr/>
          <p:nvPr/>
        </p:nvSpPr>
        <p:spPr>
          <a:xfrm>
            <a:off x="6400800" y="1554480"/>
            <a:ext cx="5212080" cy="1417320"/>
          </a:xfrm>
          <a:prstGeom prst="roundRect">
            <a:avLst>
              <a:gd name="adj" fmla="val 6452"/>
            </a:avLst>
          </a:prstGeom>
          <a:solidFill>
            <a:srgbClr val="EAF0FC"/>
          </a:solidFill>
          <a:ln/>
          <a:effectLst>
            <a:outerShdw blurRad="101600" dist="38100" dir="5400000" algn="bl" rotWithShape="0">
              <a:srgbClr val="000000">
                <a:alpha val="12000"/>
              </a:srgbClr>
            </a:outerShdw>
          </a:effectLst>
        </p:spPr>
      </p:sp>
      <p:sp>
        <p:nvSpPr>
          <p:cNvPr id="11" name="Shape 9"/>
          <p:cNvSpPr/>
          <p:nvPr/>
        </p:nvSpPr>
        <p:spPr>
          <a:xfrm>
            <a:off x="6629400" y="1755648"/>
            <a:ext cx="502920" cy="502920"/>
          </a:xfrm>
          <a:prstGeom prst="ellipse">
            <a:avLst/>
          </a:prstGeom>
          <a:solidFill>
            <a:srgbClr val="1E2761"/>
          </a:solidFill>
          <a:ln/>
        </p:spPr>
      </p:sp>
      <p:pic>
        <p:nvPicPr>
          <p:cNvPr id="12" name="Image 0" descr="/home/claude/kasir-ppt/icons/plus_white.png"/>
          <p:cNvPicPr>
            <a:picLocks noChangeAspect="1"/>
          </p:cNvPicPr>
          <p:nvPr/>
        </p:nvPicPr>
        <p:blipFill>
          <a:blip r:embed="rId3"/>
          <a:stretch>
            <a:fillRect/>
          </a:stretch>
        </p:blipFill>
        <p:spPr>
          <a:xfrm>
            <a:off x="6742557" y="1868805"/>
            <a:ext cx="276606" cy="276606"/>
          </a:xfrm>
          <a:prstGeom prst="rect">
            <a:avLst/>
          </a:prstGeom>
        </p:spPr>
      </p:pic>
      <p:sp>
        <p:nvSpPr>
          <p:cNvPr id="13" name="Text 10"/>
          <p:cNvSpPr/>
          <p:nvPr/>
        </p:nvSpPr>
        <p:spPr>
          <a:xfrm>
            <a:off x="7269480" y="1737360"/>
            <a:ext cx="4206240" cy="32004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Create</a:t>
            </a:r>
            <a:endParaRPr lang="en-US" sz="1450" dirty="0"/>
          </a:p>
        </p:txBody>
      </p:sp>
      <p:sp>
        <p:nvSpPr>
          <p:cNvPr id="14" name="Text 11"/>
          <p:cNvSpPr/>
          <p:nvPr/>
        </p:nvSpPr>
        <p:spPr>
          <a:xfrm>
            <a:off x="7269480" y="2084832"/>
            <a:ext cx="4206240" cy="777240"/>
          </a:xfrm>
          <a:prstGeom prst="rect">
            <a:avLst/>
          </a:prstGeom>
          <a:noFill/>
          <a:ln/>
        </p:spPr>
        <p:txBody>
          <a:bodyPr wrap="square" lIns="0" tIns="0" rIns="0" bIns="0" rtlCol="0" anchor="ctr"/>
          <a:lstStyle/>
          <a:p>
            <a:pPr marL="0" indent="0">
              <a:buNone/>
            </a:pPr>
            <a:r>
              <a:rPr lang="en-US" sz="1100" dirty="0">
                <a:solidFill>
                  <a:srgbClr val="1B1F3B"/>
                </a:solidFill>
                <a:latin typeface="Calibri" pitchFamily="34" charset="0"/>
                <a:ea typeface="Calibri" pitchFamily="34" charset="-122"/>
                <a:cs typeface="Calibri" pitchFamily="34" charset="-120"/>
              </a:rPr>
              <a:t>Form tambah produk + preview gambar realtime</a:t>
            </a:r>
            <a:endParaRPr lang="en-US" sz="1100" dirty="0"/>
          </a:p>
        </p:txBody>
      </p:sp>
      <p:sp>
        <p:nvSpPr>
          <p:cNvPr id="15" name="Shape 12"/>
          <p:cNvSpPr/>
          <p:nvPr/>
        </p:nvSpPr>
        <p:spPr>
          <a:xfrm>
            <a:off x="6400800" y="3127248"/>
            <a:ext cx="5212080" cy="1417320"/>
          </a:xfrm>
          <a:prstGeom prst="roundRect">
            <a:avLst>
              <a:gd name="adj" fmla="val 6452"/>
            </a:avLst>
          </a:prstGeom>
          <a:solidFill>
            <a:srgbClr val="EAF0FC"/>
          </a:solidFill>
          <a:ln/>
          <a:effectLst>
            <a:outerShdw blurRad="101600" dist="38100" dir="5400000" algn="bl" rotWithShape="0">
              <a:srgbClr val="000000">
                <a:alpha val="12000"/>
              </a:srgbClr>
            </a:outerShdw>
          </a:effectLst>
        </p:spPr>
      </p:sp>
      <p:sp>
        <p:nvSpPr>
          <p:cNvPr id="16" name="Shape 13"/>
          <p:cNvSpPr/>
          <p:nvPr/>
        </p:nvSpPr>
        <p:spPr>
          <a:xfrm>
            <a:off x="6629400" y="3328416"/>
            <a:ext cx="502920" cy="502920"/>
          </a:xfrm>
          <a:prstGeom prst="ellipse">
            <a:avLst/>
          </a:prstGeom>
          <a:solidFill>
            <a:srgbClr val="1E2761"/>
          </a:solidFill>
          <a:ln/>
        </p:spPr>
      </p:sp>
      <p:pic>
        <p:nvPicPr>
          <p:cNvPr id="17" name="Image 1" descr="/home/claude/kasir-ppt/icons/edit_white.png"/>
          <p:cNvPicPr>
            <a:picLocks noChangeAspect="1"/>
          </p:cNvPicPr>
          <p:nvPr/>
        </p:nvPicPr>
        <p:blipFill>
          <a:blip r:embed="rId4"/>
          <a:stretch>
            <a:fillRect/>
          </a:stretch>
        </p:blipFill>
        <p:spPr>
          <a:xfrm>
            <a:off x="6742557" y="3441573"/>
            <a:ext cx="276606" cy="276606"/>
          </a:xfrm>
          <a:prstGeom prst="rect">
            <a:avLst/>
          </a:prstGeom>
        </p:spPr>
      </p:pic>
      <p:sp>
        <p:nvSpPr>
          <p:cNvPr id="18" name="Text 14"/>
          <p:cNvSpPr/>
          <p:nvPr/>
        </p:nvSpPr>
        <p:spPr>
          <a:xfrm>
            <a:off x="7269480" y="3310128"/>
            <a:ext cx="4206240" cy="32004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Update</a:t>
            </a:r>
            <a:endParaRPr lang="en-US" sz="1450" dirty="0"/>
          </a:p>
        </p:txBody>
      </p:sp>
      <p:sp>
        <p:nvSpPr>
          <p:cNvPr id="19" name="Text 15"/>
          <p:cNvSpPr/>
          <p:nvPr/>
        </p:nvSpPr>
        <p:spPr>
          <a:xfrm>
            <a:off x="7269480" y="3657600"/>
            <a:ext cx="4206240" cy="777240"/>
          </a:xfrm>
          <a:prstGeom prst="rect">
            <a:avLst/>
          </a:prstGeom>
          <a:noFill/>
          <a:ln/>
        </p:spPr>
        <p:txBody>
          <a:bodyPr wrap="square" lIns="0" tIns="0" rIns="0" bIns="0" rtlCol="0" anchor="ctr"/>
          <a:lstStyle/>
          <a:p>
            <a:pPr marL="0" indent="0">
              <a:buNone/>
            </a:pPr>
            <a:r>
              <a:rPr lang="en-US" sz="1100" dirty="0">
                <a:solidFill>
                  <a:srgbClr val="1B1F3B"/>
                </a:solidFill>
                <a:latin typeface="Calibri" pitchFamily="34" charset="0"/>
                <a:ea typeface="Calibri" pitchFamily="34" charset="-122"/>
                <a:cs typeface="Calibri" pitchFamily="34" charset="-120"/>
              </a:rPr>
              <a:t>Modal edit, isi ulang field dari data tersimpan</a:t>
            </a:r>
            <a:endParaRPr lang="en-US" sz="1100" dirty="0"/>
          </a:p>
        </p:txBody>
      </p:sp>
      <p:sp>
        <p:nvSpPr>
          <p:cNvPr id="20" name="Shape 16"/>
          <p:cNvSpPr/>
          <p:nvPr/>
        </p:nvSpPr>
        <p:spPr>
          <a:xfrm>
            <a:off x="6400800" y="4700016"/>
            <a:ext cx="5212080" cy="1417320"/>
          </a:xfrm>
          <a:prstGeom prst="roundRect">
            <a:avLst>
              <a:gd name="adj" fmla="val 6452"/>
            </a:avLst>
          </a:prstGeom>
          <a:solidFill>
            <a:srgbClr val="EAF0FC"/>
          </a:solidFill>
          <a:ln/>
          <a:effectLst>
            <a:outerShdw blurRad="101600" dist="38100" dir="5400000" algn="bl" rotWithShape="0">
              <a:srgbClr val="000000">
                <a:alpha val="12000"/>
              </a:srgbClr>
            </a:outerShdw>
          </a:effectLst>
        </p:spPr>
      </p:sp>
      <p:sp>
        <p:nvSpPr>
          <p:cNvPr id="21" name="Shape 17"/>
          <p:cNvSpPr/>
          <p:nvPr/>
        </p:nvSpPr>
        <p:spPr>
          <a:xfrm>
            <a:off x="6629400" y="4901184"/>
            <a:ext cx="502920" cy="502920"/>
          </a:xfrm>
          <a:prstGeom prst="ellipse">
            <a:avLst/>
          </a:prstGeom>
          <a:solidFill>
            <a:srgbClr val="1E2761"/>
          </a:solidFill>
          <a:ln/>
        </p:spPr>
      </p:sp>
      <p:pic>
        <p:nvPicPr>
          <p:cNvPr id="22" name="Image 2" descr="/home/claude/kasir-ppt/icons/trash_white.png"/>
          <p:cNvPicPr>
            <a:picLocks noChangeAspect="1"/>
          </p:cNvPicPr>
          <p:nvPr/>
        </p:nvPicPr>
        <p:blipFill>
          <a:blip r:embed="rId5"/>
          <a:stretch>
            <a:fillRect/>
          </a:stretch>
        </p:blipFill>
        <p:spPr>
          <a:xfrm>
            <a:off x="6742557" y="5014341"/>
            <a:ext cx="276606" cy="276606"/>
          </a:xfrm>
          <a:prstGeom prst="rect">
            <a:avLst/>
          </a:prstGeom>
        </p:spPr>
      </p:pic>
      <p:sp>
        <p:nvSpPr>
          <p:cNvPr id="23" name="Text 18"/>
          <p:cNvSpPr/>
          <p:nvPr/>
        </p:nvSpPr>
        <p:spPr>
          <a:xfrm>
            <a:off x="7269480" y="4882896"/>
            <a:ext cx="4206240" cy="320040"/>
          </a:xfrm>
          <a:prstGeom prst="rect">
            <a:avLst/>
          </a:prstGeom>
          <a:noFill/>
          <a:ln/>
        </p:spPr>
        <p:txBody>
          <a:bodyPr wrap="square" lIns="0" tIns="0" rIns="0" bIns="0"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Delete</a:t>
            </a:r>
            <a:endParaRPr lang="en-US" sz="1450" dirty="0"/>
          </a:p>
        </p:txBody>
      </p:sp>
      <p:sp>
        <p:nvSpPr>
          <p:cNvPr id="24" name="Text 19"/>
          <p:cNvSpPr/>
          <p:nvPr/>
        </p:nvSpPr>
        <p:spPr>
          <a:xfrm>
            <a:off x="7269480" y="5230368"/>
            <a:ext cx="4206240" cy="777240"/>
          </a:xfrm>
          <a:prstGeom prst="rect">
            <a:avLst/>
          </a:prstGeom>
          <a:noFill/>
          <a:ln/>
        </p:spPr>
        <p:txBody>
          <a:bodyPr wrap="square" lIns="0" tIns="0" rIns="0" bIns="0" rtlCol="0" anchor="ctr"/>
          <a:lstStyle/>
          <a:p>
            <a:pPr marL="0" indent="0">
              <a:buNone/>
            </a:pPr>
            <a:r>
              <a:rPr lang="en-US" sz="1100" dirty="0">
                <a:solidFill>
                  <a:srgbClr val="1B1F3B"/>
                </a:solidFill>
                <a:latin typeface="Calibri" pitchFamily="34" charset="0"/>
                <a:ea typeface="Calibri" pitchFamily="34" charset="-122"/>
                <a:cs typeface="Calibri" pitchFamily="34" charset="-120"/>
              </a:rPr>
              <a:t>Modal konfirmasi sebelum hapus permanen</a:t>
            </a:r>
            <a:endParaRPr lang="en-US" sz="1100" dirty="0"/>
          </a:p>
        </p:txBody>
      </p:sp>
      <p:sp>
        <p:nvSpPr>
          <p:cNvPr id="25" name="Text 20"/>
          <p:cNvSpPr/>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5B6688"/>
                </a:solidFill>
                <a:latin typeface="Calibri" pitchFamily="34" charset="0"/>
                <a:ea typeface="Calibri" pitchFamily="34" charset="-122"/>
                <a:cs typeface="Calibri" pitchFamily="34" charset="-120"/>
              </a:rPr>
              <a:t>Kasir Web Apps  |  Kelompok 5</a:t>
            </a:r>
            <a:endParaRPr lang="en-US" sz="900" dirty="0"/>
          </a:p>
        </p:txBody>
      </p:sp>
      <p:sp>
        <p:nvSpPr>
          <p:cNvPr id="26" name="Text 21"/>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B668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300" b="1" kern="0" spc="200" dirty="0">
                <a:solidFill>
                  <a:srgbClr val="F2A900"/>
                </a:solidFill>
                <a:latin typeface="Calibri" pitchFamily="34" charset="0"/>
                <a:ea typeface="Calibri" pitchFamily="34" charset="-122"/>
                <a:cs typeface="Calibri" pitchFamily="34" charset="-120"/>
              </a:rPr>
              <a:t>OUTPUT PROGRAM (Demo Aplikasi)</a:t>
            </a:r>
            <a:endParaRPr lang="en-US" sz="1300" dirty="0"/>
          </a:p>
        </p:txBody>
      </p:sp>
      <p:sp>
        <p:nvSpPr>
          <p:cNvPr id="3" name="Text 1"/>
          <p:cNvSpPr/>
          <p:nvPr/>
        </p:nvSpPr>
        <p:spPr>
          <a:xfrm>
            <a:off x="548640" y="658368"/>
            <a:ext cx="109728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Tampilan Aplikasi yang Berjalan</a:t>
            </a:r>
            <a:endParaRPr lang="en-US" sz="3000" dirty="0"/>
          </a:p>
        </p:txBody>
      </p:sp>
      <p:sp>
        <p:nvSpPr>
          <p:cNvPr id="4" name="Shape 2"/>
          <p:cNvSpPr/>
          <p:nvPr/>
        </p:nvSpPr>
        <p:spPr>
          <a:xfrm>
            <a:off x="502920" y="1691640"/>
            <a:ext cx="3611880" cy="2240280"/>
          </a:xfrm>
          <a:prstGeom prst="roundRect">
            <a:avLst>
              <a:gd name="adj" fmla="val 4082"/>
            </a:avLst>
          </a:prstGeom>
          <a:solidFill>
            <a:srgbClr val="151B4D"/>
          </a:solidFill>
          <a:ln/>
          <a:effectLst>
            <a:outerShdw blurRad="101600" dist="38100" dir="5400000" algn="bl" rotWithShape="0">
              <a:srgbClr val="000000">
                <a:alpha val="12000"/>
              </a:srgbClr>
            </a:outerShdw>
          </a:effectLst>
        </p:spPr>
      </p:sp>
      <p:sp>
        <p:nvSpPr>
          <p:cNvPr id="5" name="Shape 3"/>
          <p:cNvSpPr/>
          <p:nvPr/>
        </p:nvSpPr>
        <p:spPr>
          <a:xfrm>
            <a:off x="731520" y="1920240"/>
            <a:ext cx="502920" cy="502920"/>
          </a:xfrm>
          <a:prstGeom prst="ellipse">
            <a:avLst/>
          </a:prstGeom>
          <a:solidFill>
            <a:srgbClr val="F2A900"/>
          </a:solidFill>
          <a:ln/>
        </p:spPr>
      </p:sp>
      <p:pic>
        <p:nvPicPr>
          <p:cNvPr id="6" name="Image 0" descr="/home/claude/kasir-ppt/icons/lock_white.png"/>
          <p:cNvPicPr>
            <a:picLocks noChangeAspect="1"/>
          </p:cNvPicPr>
          <p:nvPr/>
        </p:nvPicPr>
        <p:blipFill>
          <a:blip r:embed="rId3"/>
          <a:stretch>
            <a:fillRect/>
          </a:stretch>
        </p:blipFill>
        <p:spPr>
          <a:xfrm>
            <a:off x="844677" y="2033397"/>
            <a:ext cx="276606" cy="276606"/>
          </a:xfrm>
          <a:prstGeom prst="rect">
            <a:avLst/>
          </a:prstGeom>
        </p:spPr>
      </p:pic>
      <p:sp>
        <p:nvSpPr>
          <p:cNvPr id="7" name="Text 4"/>
          <p:cNvSpPr/>
          <p:nvPr/>
        </p:nvSpPr>
        <p:spPr>
          <a:xfrm>
            <a:off x="731520" y="2560320"/>
            <a:ext cx="3154680" cy="54864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Halaman Login</a:t>
            </a:r>
            <a:endParaRPr lang="en-US" sz="1350" dirty="0"/>
          </a:p>
        </p:txBody>
      </p:sp>
      <p:sp>
        <p:nvSpPr>
          <p:cNvPr id="8" name="Text 5"/>
          <p:cNvSpPr/>
          <p:nvPr/>
        </p:nvSpPr>
        <p:spPr>
          <a:xfrm>
            <a:off x="731520" y="3063240"/>
            <a:ext cx="3154680" cy="77724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Form login dengan validasi &amp; animasi panel signup</a:t>
            </a:r>
            <a:endParaRPr lang="en-US" sz="1050" dirty="0"/>
          </a:p>
        </p:txBody>
      </p:sp>
      <p:sp>
        <p:nvSpPr>
          <p:cNvPr id="9" name="Shape 6"/>
          <p:cNvSpPr/>
          <p:nvPr/>
        </p:nvSpPr>
        <p:spPr>
          <a:xfrm>
            <a:off x="4297680" y="1691640"/>
            <a:ext cx="3611880" cy="2240280"/>
          </a:xfrm>
          <a:prstGeom prst="roundRect">
            <a:avLst>
              <a:gd name="adj" fmla="val 4082"/>
            </a:avLst>
          </a:prstGeom>
          <a:solidFill>
            <a:srgbClr val="151B4D"/>
          </a:solidFill>
          <a:ln/>
          <a:effectLst>
            <a:outerShdw blurRad="101600" dist="38100" dir="5400000" algn="bl" rotWithShape="0">
              <a:srgbClr val="000000">
                <a:alpha val="12000"/>
              </a:srgbClr>
            </a:outerShdw>
          </a:effectLst>
        </p:spPr>
      </p:sp>
      <p:sp>
        <p:nvSpPr>
          <p:cNvPr id="10" name="Shape 7"/>
          <p:cNvSpPr/>
          <p:nvPr/>
        </p:nvSpPr>
        <p:spPr>
          <a:xfrm>
            <a:off x="4526280" y="1920240"/>
            <a:ext cx="502920" cy="502920"/>
          </a:xfrm>
          <a:prstGeom prst="ellipse">
            <a:avLst/>
          </a:prstGeom>
          <a:solidFill>
            <a:srgbClr val="F2A900"/>
          </a:solidFill>
          <a:ln/>
        </p:spPr>
      </p:sp>
      <p:pic>
        <p:nvPicPr>
          <p:cNvPr id="11" name="Image 1" descr="/home/claude/kasir-ppt/icons/cashier_white.png"/>
          <p:cNvPicPr>
            <a:picLocks noChangeAspect="1"/>
          </p:cNvPicPr>
          <p:nvPr/>
        </p:nvPicPr>
        <p:blipFill>
          <a:blip r:embed="rId4"/>
          <a:stretch>
            <a:fillRect/>
          </a:stretch>
        </p:blipFill>
        <p:spPr>
          <a:xfrm>
            <a:off x="4639437" y="2033397"/>
            <a:ext cx="276606" cy="276606"/>
          </a:xfrm>
          <a:prstGeom prst="rect">
            <a:avLst/>
          </a:prstGeom>
        </p:spPr>
      </p:pic>
      <p:sp>
        <p:nvSpPr>
          <p:cNvPr id="12" name="Text 8"/>
          <p:cNvSpPr/>
          <p:nvPr/>
        </p:nvSpPr>
        <p:spPr>
          <a:xfrm>
            <a:off x="4526280" y="2560320"/>
            <a:ext cx="3154680" cy="54864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Halaman Menu (index.html)</a:t>
            </a:r>
            <a:endParaRPr lang="en-US" sz="1350" dirty="0"/>
          </a:p>
        </p:txBody>
      </p:sp>
      <p:sp>
        <p:nvSpPr>
          <p:cNvPr id="13" name="Text 9"/>
          <p:cNvSpPr/>
          <p:nvPr/>
        </p:nvSpPr>
        <p:spPr>
          <a:xfrm>
            <a:off x="4526280" y="3063240"/>
            <a:ext cx="3154680" cy="77724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Daftar menu per kategori + tombol Add to Cart</a:t>
            </a:r>
            <a:endParaRPr lang="en-US" sz="1050" dirty="0"/>
          </a:p>
        </p:txBody>
      </p:sp>
      <p:sp>
        <p:nvSpPr>
          <p:cNvPr id="14" name="Shape 10"/>
          <p:cNvSpPr/>
          <p:nvPr/>
        </p:nvSpPr>
        <p:spPr>
          <a:xfrm>
            <a:off x="8092440" y="1691640"/>
            <a:ext cx="3611880" cy="2240280"/>
          </a:xfrm>
          <a:prstGeom prst="roundRect">
            <a:avLst>
              <a:gd name="adj" fmla="val 4082"/>
            </a:avLst>
          </a:prstGeom>
          <a:solidFill>
            <a:srgbClr val="151B4D"/>
          </a:solidFill>
          <a:ln/>
          <a:effectLst>
            <a:outerShdw blurRad="101600" dist="38100" dir="5400000" algn="bl" rotWithShape="0">
              <a:srgbClr val="000000">
                <a:alpha val="12000"/>
              </a:srgbClr>
            </a:outerShdw>
          </a:effectLst>
        </p:spPr>
      </p:sp>
      <p:sp>
        <p:nvSpPr>
          <p:cNvPr id="15" name="Shape 11"/>
          <p:cNvSpPr/>
          <p:nvPr/>
        </p:nvSpPr>
        <p:spPr>
          <a:xfrm>
            <a:off x="8321040" y="1920240"/>
            <a:ext cx="502920" cy="502920"/>
          </a:xfrm>
          <a:prstGeom prst="ellipse">
            <a:avLst/>
          </a:prstGeom>
          <a:solidFill>
            <a:srgbClr val="F2A900"/>
          </a:solidFill>
          <a:ln/>
        </p:spPr>
      </p:sp>
      <p:pic>
        <p:nvPicPr>
          <p:cNvPr id="16" name="Image 2" descr="/home/claude/kasir-ppt/icons/cart_white.png"/>
          <p:cNvPicPr>
            <a:picLocks noChangeAspect="1"/>
          </p:cNvPicPr>
          <p:nvPr/>
        </p:nvPicPr>
        <p:blipFill>
          <a:blip r:embed="rId5"/>
          <a:stretch>
            <a:fillRect/>
          </a:stretch>
        </p:blipFill>
        <p:spPr>
          <a:xfrm>
            <a:off x="8434197" y="2033397"/>
            <a:ext cx="276606" cy="276606"/>
          </a:xfrm>
          <a:prstGeom prst="rect">
            <a:avLst/>
          </a:prstGeom>
        </p:spPr>
      </p:pic>
      <p:sp>
        <p:nvSpPr>
          <p:cNvPr id="17" name="Text 12"/>
          <p:cNvSpPr/>
          <p:nvPr/>
        </p:nvSpPr>
        <p:spPr>
          <a:xfrm>
            <a:off x="8321040" y="2560320"/>
            <a:ext cx="3154680" cy="54864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Offcanvas Keranjang</a:t>
            </a:r>
            <a:endParaRPr lang="en-US" sz="1350" dirty="0"/>
          </a:p>
        </p:txBody>
      </p:sp>
      <p:sp>
        <p:nvSpPr>
          <p:cNvPr id="18" name="Text 13"/>
          <p:cNvSpPr/>
          <p:nvPr/>
        </p:nvSpPr>
        <p:spPr>
          <a:xfrm>
            <a:off x="8321040" y="3063240"/>
            <a:ext cx="3154680" cy="77724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Cart, form pembeli, rincian diskon/PPN/total</a:t>
            </a:r>
            <a:endParaRPr lang="en-US" sz="1050" dirty="0"/>
          </a:p>
        </p:txBody>
      </p:sp>
      <p:sp>
        <p:nvSpPr>
          <p:cNvPr id="19" name="Shape 14"/>
          <p:cNvSpPr/>
          <p:nvPr/>
        </p:nvSpPr>
        <p:spPr>
          <a:xfrm>
            <a:off x="502920" y="4114800"/>
            <a:ext cx="3611880" cy="2240280"/>
          </a:xfrm>
          <a:prstGeom prst="roundRect">
            <a:avLst>
              <a:gd name="adj" fmla="val 4082"/>
            </a:avLst>
          </a:prstGeom>
          <a:solidFill>
            <a:srgbClr val="151B4D"/>
          </a:solidFill>
          <a:ln/>
          <a:effectLst>
            <a:outerShdw blurRad="101600" dist="38100" dir="5400000" algn="bl" rotWithShape="0">
              <a:srgbClr val="000000">
                <a:alpha val="12000"/>
              </a:srgbClr>
            </a:outerShdw>
          </a:effectLst>
        </p:spPr>
      </p:sp>
      <p:sp>
        <p:nvSpPr>
          <p:cNvPr id="20" name="Shape 15"/>
          <p:cNvSpPr/>
          <p:nvPr/>
        </p:nvSpPr>
        <p:spPr>
          <a:xfrm>
            <a:off x="731520" y="4343400"/>
            <a:ext cx="502920" cy="502920"/>
          </a:xfrm>
          <a:prstGeom prst="ellipse">
            <a:avLst/>
          </a:prstGeom>
          <a:solidFill>
            <a:srgbClr val="F2A900"/>
          </a:solidFill>
          <a:ln/>
        </p:spPr>
      </p:sp>
      <p:pic>
        <p:nvPicPr>
          <p:cNvPr id="21" name="Image 3" descr="/home/claude/kasir-ppt/icons/invoice_white.png"/>
          <p:cNvPicPr>
            <a:picLocks noChangeAspect="1"/>
          </p:cNvPicPr>
          <p:nvPr/>
        </p:nvPicPr>
        <p:blipFill>
          <a:blip r:embed="rId6"/>
          <a:stretch>
            <a:fillRect/>
          </a:stretch>
        </p:blipFill>
        <p:spPr>
          <a:xfrm>
            <a:off x="844677" y="4456557"/>
            <a:ext cx="276606" cy="276606"/>
          </a:xfrm>
          <a:prstGeom prst="rect">
            <a:avLst/>
          </a:prstGeom>
        </p:spPr>
      </p:pic>
      <p:sp>
        <p:nvSpPr>
          <p:cNvPr id="22" name="Text 16"/>
          <p:cNvSpPr/>
          <p:nvPr/>
        </p:nvSpPr>
        <p:spPr>
          <a:xfrm>
            <a:off x="731520" y="4983480"/>
            <a:ext cx="3154680" cy="54864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Struk PDF (jsPDF)</a:t>
            </a:r>
            <a:endParaRPr lang="en-US" sz="1350" dirty="0"/>
          </a:p>
        </p:txBody>
      </p:sp>
      <p:sp>
        <p:nvSpPr>
          <p:cNvPr id="23" name="Text 17"/>
          <p:cNvSpPr/>
          <p:nvPr/>
        </p:nvSpPr>
        <p:spPr>
          <a:xfrm>
            <a:off x="731520" y="5486400"/>
            <a:ext cx="3154680" cy="77724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Struk thermal 90mm otomatis terunduh</a:t>
            </a:r>
            <a:endParaRPr lang="en-US" sz="1050" dirty="0"/>
          </a:p>
        </p:txBody>
      </p:sp>
      <p:sp>
        <p:nvSpPr>
          <p:cNvPr id="24" name="Shape 18"/>
          <p:cNvSpPr/>
          <p:nvPr/>
        </p:nvSpPr>
        <p:spPr>
          <a:xfrm>
            <a:off x="4297680" y="4114800"/>
            <a:ext cx="3611880" cy="2240280"/>
          </a:xfrm>
          <a:prstGeom prst="roundRect">
            <a:avLst>
              <a:gd name="adj" fmla="val 4082"/>
            </a:avLst>
          </a:prstGeom>
          <a:solidFill>
            <a:srgbClr val="151B4D"/>
          </a:solidFill>
          <a:ln/>
          <a:effectLst>
            <a:outerShdw blurRad="101600" dist="38100" dir="5400000" algn="bl" rotWithShape="0">
              <a:srgbClr val="000000">
                <a:alpha val="12000"/>
              </a:srgbClr>
            </a:outerShdw>
          </a:effectLst>
        </p:spPr>
      </p:sp>
      <p:sp>
        <p:nvSpPr>
          <p:cNvPr id="25" name="Shape 19"/>
          <p:cNvSpPr/>
          <p:nvPr/>
        </p:nvSpPr>
        <p:spPr>
          <a:xfrm>
            <a:off x="4526280" y="4343400"/>
            <a:ext cx="502920" cy="502920"/>
          </a:xfrm>
          <a:prstGeom prst="ellipse">
            <a:avLst/>
          </a:prstGeom>
          <a:solidFill>
            <a:srgbClr val="F2A900"/>
          </a:solidFill>
          <a:ln/>
        </p:spPr>
      </p:sp>
      <p:pic>
        <p:nvPicPr>
          <p:cNvPr id="26" name="Image 4" descr="/home/claude/kasir-ppt/icons/plus_white.png"/>
          <p:cNvPicPr>
            <a:picLocks noChangeAspect="1"/>
          </p:cNvPicPr>
          <p:nvPr/>
        </p:nvPicPr>
        <p:blipFill>
          <a:blip r:embed="rId7"/>
          <a:stretch>
            <a:fillRect/>
          </a:stretch>
        </p:blipFill>
        <p:spPr>
          <a:xfrm>
            <a:off x="4639437" y="4456557"/>
            <a:ext cx="276606" cy="276606"/>
          </a:xfrm>
          <a:prstGeom prst="rect">
            <a:avLst/>
          </a:prstGeom>
        </p:spPr>
      </p:pic>
      <p:sp>
        <p:nvSpPr>
          <p:cNvPr id="27" name="Text 20"/>
          <p:cNvSpPr/>
          <p:nvPr/>
        </p:nvSpPr>
        <p:spPr>
          <a:xfrm>
            <a:off x="4526280" y="4983480"/>
            <a:ext cx="3154680" cy="54864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Admin: Tambah Produk</a:t>
            </a:r>
            <a:endParaRPr lang="en-US" sz="1350" dirty="0"/>
          </a:p>
        </p:txBody>
      </p:sp>
      <p:sp>
        <p:nvSpPr>
          <p:cNvPr id="28" name="Text 21"/>
          <p:cNvSpPr/>
          <p:nvPr/>
        </p:nvSpPr>
        <p:spPr>
          <a:xfrm>
            <a:off x="4526280" y="5486400"/>
            <a:ext cx="3154680" cy="77724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Form produk custom + preview gambar</a:t>
            </a:r>
            <a:endParaRPr lang="en-US" sz="1050" dirty="0"/>
          </a:p>
        </p:txBody>
      </p:sp>
      <p:sp>
        <p:nvSpPr>
          <p:cNvPr id="29" name="Shape 22"/>
          <p:cNvSpPr/>
          <p:nvPr/>
        </p:nvSpPr>
        <p:spPr>
          <a:xfrm>
            <a:off x="8092440" y="4114800"/>
            <a:ext cx="3611880" cy="2240280"/>
          </a:xfrm>
          <a:prstGeom prst="roundRect">
            <a:avLst>
              <a:gd name="adj" fmla="val 4082"/>
            </a:avLst>
          </a:prstGeom>
          <a:solidFill>
            <a:srgbClr val="151B4D"/>
          </a:solidFill>
          <a:ln/>
          <a:effectLst>
            <a:outerShdw blurRad="101600" dist="38100" dir="5400000" algn="bl" rotWithShape="0">
              <a:srgbClr val="000000">
                <a:alpha val="12000"/>
              </a:srgbClr>
            </a:outerShdw>
          </a:effectLst>
        </p:spPr>
      </p:sp>
      <p:sp>
        <p:nvSpPr>
          <p:cNvPr id="30" name="Shape 23"/>
          <p:cNvSpPr/>
          <p:nvPr/>
        </p:nvSpPr>
        <p:spPr>
          <a:xfrm>
            <a:off x="8321040" y="4343400"/>
            <a:ext cx="502920" cy="502920"/>
          </a:xfrm>
          <a:prstGeom prst="ellipse">
            <a:avLst/>
          </a:prstGeom>
          <a:solidFill>
            <a:srgbClr val="F2A900"/>
          </a:solidFill>
          <a:ln/>
        </p:spPr>
      </p:sp>
      <p:pic>
        <p:nvPicPr>
          <p:cNvPr id="31" name="Image 5" descr="/home/claude/kasir-ppt/icons/edit_white.png"/>
          <p:cNvPicPr>
            <a:picLocks noChangeAspect="1"/>
          </p:cNvPicPr>
          <p:nvPr/>
        </p:nvPicPr>
        <p:blipFill>
          <a:blip r:embed="rId8"/>
          <a:stretch>
            <a:fillRect/>
          </a:stretch>
        </p:blipFill>
        <p:spPr>
          <a:xfrm>
            <a:off x="8434197" y="4456557"/>
            <a:ext cx="276606" cy="276606"/>
          </a:xfrm>
          <a:prstGeom prst="rect">
            <a:avLst/>
          </a:prstGeom>
        </p:spPr>
      </p:pic>
      <p:sp>
        <p:nvSpPr>
          <p:cNvPr id="32" name="Text 24"/>
          <p:cNvSpPr/>
          <p:nvPr/>
        </p:nvSpPr>
        <p:spPr>
          <a:xfrm>
            <a:off x="8321040" y="4983480"/>
            <a:ext cx="3154680" cy="54864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Admin: Tabel Produk</a:t>
            </a:r>
            <a:endParaRPr lang="en-US" sz="1350" dirty="0"/>
          </a:p>
        </p:txBody>
      </p:sp>
      <p:sp>
        <p:nvSpPr>
          <p:cNvPr id="33" name="Text 25"/>
          <p:cNvSpPr/>
          <p:nvPr/>
        </p:nvSpPr>
        <p:spPr>
          <a:xfrm>
            <a:off x="8321040" y="5486400"/>
            <a:ext cx="3154680" cy="77724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Daftar produk custom dengan Edit &amp; Delete</a:t>
            </a:r>
            <a:endParaRPr lang="en-US" sz="1050" dirty="0"/>
          </a:p>
        </p:txBody>
      </p:sp>
      <p:sp>
        <p:nvSpPr>
          <p:cNvPr id="34" name="Text 26"/>
          <p:cNvSpPr/>
          <p:nvPr/>
        </p:nvSpPr>
        <p:spPr>
          <a:xfrm>
            <a:off x="457200" y="6510528"/>
            <a:ext cx="5486400" cy="274320"/>
          </a:xfrm>
          <a:prstGeom prst="rect">
            <a:avLst/>
          </a:prstGeom>
          <a:noFill/>
          <a:ln/>
        </p:spPr>
        <p:txBody>
          <a:bodyPr wrap="square" lIns="0" tIns="0" rIns="0" bIns="0" rtlCol="0" anchor="ctr"/>
          <a:lstStyle/>
          <a:p>
            <a:pPr marL="0" indent="0" algn="l">
              <a:buNone/>
            </a:pPr>
            <a:r>
              <a:rPr lang="en-US" sz="900" dirty="0">
                <a:solidFill>
                  <a:srgbClr val="5B6688"/>
                </a:solidFill>
                <a:latin typeface="Calibri" pitchFamily="34" charset="0"/>
                <a:ea typeface="Calibri" pitchFamily="34" charset="-122"/>
                <a:cs typeface="Calibri" pitchFamily="34" charset="-120"/>
              </a:rPr>
              <a:t>Kasir Web Apps  |  Kelompok 5</a:t>
            </a:r>
            <a:endParaRPr lang="en-US" sz="900" dirty="0"/>
          </a:p>
        </p:txBody>
      </p:sp>
      <p:sp>
        <p:nvSpPr>
          <p:cNvPr id="35" name="Text 27"/>
          <p:cNvSpPr/>
          <p:nvPr/>
        </p:nvSpPr>
        <p:spPr>
          <a:xfrm>
            <a:off x="11430000" y="6510528"/>
            <a:ext cx="457200" cy="274320"/>
          </a:xfrm>
          <a:prstGeom prst="rect">
            <a:avLst/>
          </a:prstGeom>
          <a:noFill/>
          <a:ln/>
        </p:spPr>
        <p:txBody>
          <a:bodyPr wrap="square" lIns="0" tIns="0" rIns="0" bIns="0" rtlCol="0" anchor="ctr"/>
          <a:lstStyle/>
          <a:p>
            <a:pPr marL="0" indent="0" algn="r">
              <a:buNone/>
            </a:pPr>
            <a:r>
              <a:rPr lang="en-US" sz="900" dirty="0">
                <a:solidFill>
                  <a:srgbClr val="5B668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151B4D"/>
          </a:solidFill>
          <a:ln/>
        </p:spPr>
      </p:sp>
      <p:sp>
        <p:nvSpPr>
          <p:cNvPr id="3" name="Shape 1"/>
          <p:cNvSpPr/>
          <p:nvPr/>
        </p:nvSpPr>
        <p:spPr>
          <a:xfrm>
            <a:off x="9875520" y="4572000"/>
            <a:ext cx="3657600" cy="3657600"/>
          </a:xfrm>
          <a:prstGeom prst="ellipse">
            <a:avLst/>
          </a:prstGeom>
          <a:solidFill>
            <a:srgbClr val="151B4D"/>
          </a:solidFill>
          <a:ln/>
        </p:spPr>
      </p:sp>
      <p:sp>
        <p:nvSpPr>
          <p:cNvPr id="4" name="Text 2"/>
          <p:cNvSpPr/>
          <p:nvPr/>
        </p:nvSpPr>
        <p:spPr>
          <a:xfrm>
            <a:off x="640080" y="594360"/>
            <a:ext cx="5486400" cy="365760"/>
          </a:xfrm>
          <a:prstGeom prst="rect">
            <a:avLst/>
          </a:prstGeom>
          <a:noFill/>
          <a:ln/>
        </p:spPr>
        <p:txBody>
          <a:bodyPr wrap="square" lIns="0" tIns="0" rIns="0" bIns="0" rtlCol="0" anchor="ctr"/>
          <a:lstStyle/>
          <a:p>
            <a:pPr marL="0" indent="0">
              <a:buNone/>
            </a:pPr>
            <a:r>
              <a:rPr lang="en-US" sz="1400" b="1" kern="0" spc="300" dirty="0">
                <a:solidFill>
                  <a:srgbClr val="F2A900"/>
                </a:solidFill>
                <a:latin typeface="Calibri" pitchFamily="34" charset="0"/>
                <a:ea typeface="Calibri" pitchFamily="34" charset="-122"/>
                <a:cs typeface="Calibri" pitchFamily="34" charset="-120"/>
              </a:rPr>
              <a:t>KESIMPULAN</a:t>
            </a:r>
            <a:endParaRPr lang="en-US" sz="1400" dirty="0"/>
          </a:p>
        </p:txBody>
      </p:sp>
      <p:sp>
        <p:nvSpPr>
          <p:cNvPr id="5" name="Text 3"/>
          <p:cNvSpPr/>
          <p:nvPr/>
        </p:nvSpPr>
        <p:spPr>
          <a:xfrm>
            <a:off x="594360" y="960120"/>
            <a:ext cx="1051560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Kasir Web Apps: Ringan, Mandiri, Siap Demo</a:t>
            </a:r>
            <a:endParaRPr lang="en-US" sz="3000" dirty="0"/>
          </a:p>
        </p:txBody>
      </p:sp>
      <p:sp>
        <p:nvSpPr>
          <p:cNvPr id="6" name="Shape 4"/>
          <p:cNvSpPr/>
          <p:nvPr/>
        </p:nvSpPr>
        <p:spPr>
          <a:xfrm>
            <a:off x="640080" y="1965960"/>
            <a:ext cx="502920" cy="502920"/>
          </a:xfrm>
          <a:prstGeom prst="ellipse">
            <a:avLst/>
          </a:prstGeom>
          <a:solidFill>
            <a:srgbClr val="F2A900"/>
          </a:solidFill>
          <a:ln/>
        </p:spPr>
      </p:sp>
      <p:pic>
        <p:nvPicPr>
          <p:cNvPr id="7" name="Image 0" descr="/home/claude/kasir-ppt/icons/check_white.png"/>
          <p:cNvPicPr>
            <a:picLocks noChangeAspect="1"/>
          </p:cNvPicPr>
          <p:nvPr/>
        </p:nvPicPr>
        <p:blipFill>
          <a:blip r:embed="rId3"/>
          <a:stretch>
            <a:fillRect/>
          </a:stretch>
        </p:blipFill>
        <p:spPr>
          <a:xfrm>
            <a:off x="753237" y="2079117"/>
            <a:ext cx="276606" cy="276606"/>
          </a:xfrm>
          <a:prstGeom prst="rect">
            <a:avLst/>
          </a:prstGeom>
        </p:spPr>
      </p:pic>
      <p:sp>
        <p:nvSpPr>
          <p:cNvPr id="8" name="Text 5"/>
          <p:cNvSpPr/>
          <p:nvPr/>
        </p:nvSpPr>
        <p:spPr>
          <a:xfrm>
            <a:off x="1371600" y="1938528"/>
            <a:ext cx="9875520" cy="32004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Tanpa backend, tetap fungsional</a:t>
            </a:r>
            <a:endParaRPr lang="en-US" sz="1550" dirty="0"/>
          </a:p>
        </p:txBody>
      </p:sp>
      <p:sp>
        <p:nvSpPr>
          <p:cNvPr id="9" name="Text 6"/>
          <p:cNvSpPr/>
          <p:nvPr/>
        </p:nvSpPr>
        <p:spPr>
          <a:xfrm>
            <a:off x="1371600" y="2258568"/>
            <a:ext cx="9875520" cy="36576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Semua logika transaksi &amp; auth berjalan penuh di sisi client.</a:t>
            </a:r>
            <a:endParaRPr lang="en-US" sz="1200" dirty="0"/>
          </a:p>
        </p:txBody>
      </p:sp>
      <p:sp>
        <p:nvSpPr>
          <p:cNvPr id="10" name="Shape 7"/>
          <p:cNvSpPr/>
          <p:nvPr/>
        </p:nvSpPr>
        <p:spPr>
          <a:xfrm>
            <a:off x="640080" y="2926080"/>
            <a:ext cx="502920" cy="502920"/>
          </a:xfrm>
          <a:prstGeom prst="ellipse">
            <a:avLst/>
          </a:prstGeom>
          <a:solidFill>
            <a:srgbClr val="F2A900"/>
          </a:solidFill>
          <a:ln/>
        </p:spPr>
      </p:sp>
      <p:pic>
        <p:nvPicPr>
          <p:cNvPr id="11" name="Image 1" descr="/home/claude/kasir-ppt/icons/sync_white.png"/>
          <p:cNvPicPr>
            <a:picLocks noChangeAspect="1"/>
          </p:cNvPicPr>
          <p:nvPr/>
        </p:nvPicPr>
        <p:blipFill>
          <a:blip r:embed="rId4"/>
          <a:stretch>
            <a:fillRect/>
          </a:stretch>
        </p:blipFill>
        <p:spPr>
          <a:xfrm>
            <a:off x="753237" y="3039237"/>
            <a:ext cx="276606" cy="276606"/>
          </a:xfrm>
          <a:prstGeom prst="rect">
            <a:avLst/>
          </a:prstGeom>
        </p:spPr>
      </p:pic>
      <p:sp>
        <p:nvSpPr>
          <p:cNvPr id="12" name="Text 8"/>
          <p:cNvSpPr/>
          <p:nvPr/>
        </p:nvSpPr>
        <p:spPr>
          <a:xfrm>
            <a:off x="1371600" y="2898648"/>
            <a:ext cx="9875520" cy="32004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Data persisten via localStorage</a:t>
            </a:r>
            <a:endParaRPr lang="en-US" sz="1550" dirty="0"/>
          </a:p>
        </p:txBody>
      </p:sp>
      <p:sp>
        <p:nvSpPr>
          <p:cNvPr id="13" name="Text 9"/>
          <p:cNvSpPr/>
          <p:nvPr/>
        </p:nvSpPr>
        <p:spPr>
          <a:xfrm>
            <a:off x="1371600" y="3218688"/>
            <a:ext cx="9875520" cy="36576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Cart, login, dan produk custom tetap ada selama browser tidak di-clear.</a:t>
            </a:r>
            <a:endParaRPr lang="en-US" sz="1200" dirty="0"/>
          </a:p>
        </p:txBody>
      </p:sp>
      <p:sp>
        <p:nvSpPr>
          <p:cNvPr id="14" name="Shape 10"/>
          <p:cNvSpPr/>
          <p:nvPr/>
        </p:nvSpPr>
        <p:spPr>
          <a:xfrm>
            <a:off x="640080" y="3886200"/>
            <a:ext cx="502920" cy="502920"/>
          </a:xfrm>
          <a:prstGeom prst="ellipse">
            <a:avLst/>
          </a:prstGeom>
          <a:solidFill>
            <a:srgbClr val="F2A900"/>
          </a:solidFill>
          <a:ln/>
        </p:spPr>
      </p:sp>
      <p:pic>
        <p:nvPicPr>
          <p:cNvPr id="15" name="Image 2" descr="/home/claude/kasir-ppt/icons/shield_white.png"/>
          <p:cNvPicPr>
            <a:picLocks noChangeAspect="1"/>
          </p:cNvPicPr>
          <p:nvPr/>
        </p:nvPicPr>
        <p:blipFill>
          <a:blip r:embed="rId5"/>
          <a:stretch>
            <a:fillRect/>
          </a:stretch>
        </p:blipFill>
        <p:spPr>
          <a:xfrm>
            <a:off x="753237" y="3999357"/>
            <a:ext cx="276606" cy="276606"/>
          </a:xfrm>
          <a:prstGeom prst="rect">
            <a:avLst/>
          </a:prstGeom>
        </p:spPr>
      </p:pic>
      <p:sp>
        <p:nvSpPr>
          <p:cNvPr id="16" name="Text 11"/>
          <p:cNvSpPr/>
          <p:nvPr/>
        </p:nvSpPr>
        <p:spPr>
          <a:xfrm>
            <a:off x="1371600" y="3858768"/>
            <a:ext cx="9875520" cy="32004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Auth guard konsisten</a:t>
            </a:r>
            <a:endParaRPr lang="en-US" sz="1550" dirty="0"/>
          </a:p>
        </p:txBody>
      </p:sp>
      <p:sp>
        <p:nvSpPr>
          <p:cNvPr id="17" name="Text 12"/>
          <p:cNvSpPr/>
          <p:nvPr/>
        </p:nvSpPr>
        <p:spPr>
          <a:xfrm>
            <a:off x="1371600" y="4178808"/>
            <a:ext cx="9875520" cy="36576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Pengecekan ganda localStorage + cookie di setiap halaman terlindungi.</a:t>
            </a:r>
            <a:endParaRPr lang="en-US" sz="1200" dirty="0"/>
          </a:p>
        </p:txBody>
      </p:sp>
      <p:sp>
        <p:nvSpPr>
          <p:cNvPr id="18" name="Shape 13"/>
          <p:cNvSpPr/>
          <p:nvPr/>
        </p:nvSpPr>
        <p:spPr>
          <a:xfrm>
            <a:off x="640080" y="4846320"/>
            <a:ext cx="502920" cy="502920"/>
          </a:xfrm>
          <a:prstGeom prst="ellipse">
            <a:avLst/>
          </a:prstGeom>
          <a:solidFill>
            <a:srgbClr val="F2A900"/>
          </a:solidFill>
          <a:ln/>
        </p:spPr>
      </p:sp>
      <p:pic>
        <p:nvPicPr>
          <p:cNvPr id="19" name="Image 3" descr="/home/claude/kasir-ppt/icons/invoice_white.png"/>
          <p:cNvPicPr>
            <a:picLocks noChangeAspect="1"/>
          </p:cNvPicPr>
          <p:nvPr/>
        </p:nvPicPr>
        <p:blipFill>
          <a:blip r:embed="rId6"/>
          <a:stretch>
            <a:fillRect/>
          </a:stretch>
        </p:blipFill>
        <p:spPr>
          <a:xfrm>
            <a:off x="753237" y="4959477"/>
            <a:ext cx="276606" cy="276606"/>
          </a:xfrm>
          <a:prstGeom prst="rect">
            <a:avLst/>
          </a:prstGeom>
        </p:spPr>
      </p:pic>
      <p:sp>
        <p:nvSpPr>
          <p:cNvPr id="20" name="Text 14"/>
          <p:cNvSpPr/>
          <p:nvPr/>
        </p:nvSpPr>
        <p:spPr>
          <a:xfrm>
            <a:off x="1371600" y="4818888"/>
            <a:ext cx="9875520" cy="32004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Struk PDF native di browser</a:t>
            </a:r>
            <a:endParaRPr lang="en-US" sz="1550" dirty="0"/>
          </a:p>
        </p:txBody>
      </p:sp>
      <p:sp>
        <p:nvSpPr>
          <p:cNvPr id="21" name="Text 15"/>
          <p:cNvSpPr/>
          <p:nvPr/>
        </p:nvSpPr>
        <p:spPr>
          <a:xfrm>
            <a:off x="1371600" y="5138928"/>
            <a:ext cx="9875520" cy="36576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jsPDF menggantikan reportlab tanpa kehilangan fitur cetak.</a:t>
            </a:r>
            <a:endParaRPr lang="en-US" sz="1200" dirty="0"/>
          </a:p>
        </p:txBody>
      </p:sp>
      <p:sp>
        <p:nvSpPr>
          <p:cNvPr id="22" name="Shape 16"/>
          <p:cNvSpPr/>
          <p:nvPr/>
        </p:nvSpPr>
        <p:spPr>
          <a:xfrm>
            <a:off x="640080" y="5943600"/>
            <a:ext cx="10881360" cy="0"/>
          </a:xfrm>
          <a:prstGeom prst="line">
            <a:avLst/>
          </a:prstGeom>
          <a:noFill/>
          <a:ln w="9525">
            <a:solidFill>
              <a:srgbClr val="3A4485"/>
            </a:solidFill>
            <a:prstDash val="solid"/>
          </a:ln>
        </p:spPr>
      </p:sp>
      <p:sp>
        <p:nvSpPr>
          <p:cNvPr id="23" name="Text 17"/>
          <p:cNvSpPr/>
          <p:nvPr/>
        </p:nvSpPr>
        <p:spPr>
          <a:xfrm>
            <a:off x="640080" y="6080760"/>
            <a:ext cx="6400800" cy="41148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Terima Kasih — Kelompok 5</a:t>
            </a:r>
            <a:endParaRPr lang="en-US" sz="1600" dirty="0"/>
          </a:p>
        </p:txBody>
      </p:sp>
      <p:sp>
        <p:nvSpPr>
          <p:cNvPr id="24" name="Text 18"/>
          <p:cNvSpPr/>
          <p:nvPr/>
        </p:nvSpPr>
        <p:spPr>
          <a:xfrm>
            <a:off x="8686800" y="6080760"/>
            <a:ext cx="2834640" cy="411480"/>
          </a:xfrm>
          <a:prstGeom prst="rect">
            <a:avLst/>
          </a:prstGeom>
          <a:noFill/>
          <a:ln/>
        </p:spPr>
        <p:txBody>
          <a:bodyPr wrap="square" lIns="0" tIns="0" rIns="0" bIns="0" rtlCol="0" anchor="ctr"/>
          <a:lstStyle/>
          <a:p>
            <a:pPr marL="0" indent="0" algn="r">
              <a:buNone/>
            </a:pPr>
            <a:r>
              <a:rPr lang="en-US" sz="1400" i="1" dirty="0">
                <a:solidFill>
                  <a:srgbClr val="F2A900"/>
                </a:solidFill>
                <a:latin typeface="Calibri" pitchFamily="34" charset="0"/>
                <a:ea typeface="Calibri" pitchFamily="34" charset="-122"/>
                <a:cs typeface="Calibri" pitchFamily="34" charset="-120"/>
              </a:rPr>
              <a:t>Sesi Tanya Jawab</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2276</Words>
  <Application>Microsoft Office PowerPoint</Application>
  <PresentationFormat>Widescreen</PresentationFormat>
  <Paragraphs>268</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Kasir Web Apps - Static HTML/JS</dc:title>
  <dc:subject>PptxGenJS Presentation</dc:subject>
  <dc:creator>Kelompok 5</dc:creator>
  <cp:lastModifiedBy>R. Mahendra</cp:lastModifiedBy>
  <cp:revision>9</cp:revision>
  <dcterms:created xsi:type="dcterms:W3CDTF">2026-06-29T07:14:31Z</dcterms:created>
  <dcterms:modified xsi:type="dcterms:W3CDTF">2026-06-30T00:35:54Z</dcterms:modified>
</cp:coreProperties>
</file>